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p:sldIdLst>
    <p:sldId id="256" r:id="rId1"/>
    <p:sldId id="257" r:id="rId2"/>
    <p:sldId id="258" r:id="rId3"/>
    <p:sldId id="259" r:id="rId4"/>
    <p:sldId id="260" r:id="rId5"/>
    <p:sldId id="261" r:id="rId6"/>
    <p:sldId id="262" r:id="rId7"/>
    <p:sldId id="263" r:id="rId8"/>
    <p:sldId id="264" r:id="rId9"/>
  </p:sldIdLst>
  <p:sldSz cx="13333333" cy="7500000" type="wide"/>
  <p:notesSz cx="6858000" cy="9144000"/>
</p:presentation>
</file>

<file path=ppt/_rels/presentation.xml.rels><?xml version="1.0" encoding="UTF-8" standalone="yes"?>
<Relationships xmlns="http://schemas.openxmlformats.org/package/2006/relationships"><Relationship Id="rId1" Type="http://schemas.openxmlformats.org/officeDocument/2006/relationships/slide" Target="slides/slide1.xml"/>
<Relationship Id="rId2" Type="http://schemas.openxmlformats.org/officeDocument/2006/relationships/slide" Target="slides/slide2.xml"/>
<Relationship Id="rId3" Type="http://schemas.openxmlformats.org/officeDocument/2006/relationships/slide" Target="slides/slide3.xml"/>
<Relationship Id="rId4" Type="http://schemas.openxmlformats.org/officeDocument/2006/relationships/slide" Target="slides/slide4.xml"/>
<Relationship Id="rId5" Type="http://schemas.openxmlformats.org/officeDocument/2006/relationships/slide" Target="slides/slide5.xml"/>
<Relationship Id="rId6" Type="http://schemas.openxmlformats.org/officeDocument/2006/relationships/slide" Target="slides/slide6.xml"/>
<Relationship Id="rId7" Type="http://schemas.openxmlformats.org/officeDocument/2006/relationships/slide" Target="slides/slide7.xml"/>
<Relationship Id="rId8" Type="http://schemas.openxmlformats.org/officeDocument/2006/relationships/slide" Target="slides/slide8.xml"/>
<Relationship Id="rId9" Type="http://schemas.openxmlformats.org/officeDocument/2006/relationships/slide" Target="slides/slide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0" name=""/>
        <p:cNvGrpSpPr/>
        <p:nvPr/>
      </p:nvGrpSpPr>
      <p:grpSpPr>
        <a:xfrm>
          <a:off x="0" y="0"/>
          <a:ext cx="0" cy="0"/>
          <a:chOff x="0" y="0"/>
          <a:chExt cx="0" cy="0"/>
        </a:xfrm>
      </p:grpSpPr>
      <p:sp>
        <p:nvSpPr>
          <p:cNvPr id="1" name="shape"/>
          <p:cNvSpPr/>
          <p:nvPr/>
        </p:nvSpPr>
        <p:spPr>
          <a:xfrm>
            <a:off x="0" y="0"/>
            <a:ext cx="12191695" cy="6858000"/>
          </a:xfrm>
          <a:prstGeom prst="rect">
            <a:avLst/>
          </a:prstGeom>
          <a:solidFill>
            <a:srgbClr val="183331"/>
          </a:solidFill>
          <a:ln>
            <a:noFill/>
          </a:ln>
        </p:spPr>
        <p:txBody>
          <a:bodyPr/>
          <a:lstStyle/>
          <a:p/>
        </p:txBody>
      </p:sp>
      <p:sp>
        <p:nvSpPr>
          <p:cNvPr id="2" name="text"/>
          <p:cNvSpPr txBox="1"/>
          <p:nvPr/>
        </p:nvSpPr>
        <p:spPr>
          <a:xfrm>
            <a:off x="566928" y="566928"/>
            <a:ext cx="8046720" cy="749808"/>
          </a:xfrm>
          <a:prstGeom prst="rect">
            <a:avLst/>
          </a:prstGeom>
          <a:noFill/>
          <a:ln>
            <a:noFill/>
          </a:ln>
        </p:spPr>
        <p:txBody>
          <a:bodyPr wrap="square" lIns="0" tIns="0" rIns="0" bIns="0"/>
          <a:lstStyle/>
          <a:p>
            <a:pPr algn="l">
              <a:buNone/>
            </a:pPr>
            <a:r>
              <a:rPr lang="en-US" sz="3400" b="1">
                <a:solidFill>
                  <a:srgbClr val="FFFFFF"/>
                </a:solidFill>
              </a:rPr>
              <a:t>Transcript Intelligence</a:t>
            </a:r>
            <a:endParaRPr lang="en-US" sz="3400"/>
          </a:p>
        </p:txBody>
      </p:sp>
      <p:sp>
        <p:nvSpPr>
          <p:cNvPr id="2" name="text"/>
          <p:cNvSpPr txBox="1"/>
          <p:nvPr/>
        </p:nvSpPr>
        <p:spPr>
          <a:xfrm>
            <a:off x="594360" y="1417320"/>
            <a:ext cx="8046720" cy="640080"/>
          </a:xfrm>
          <a:prstGeom prst="rect">
            <a:avLst/>
          </a:prstGeom>
          <a:noFill/>
          <a:ln>
            <a:noFill/>
          </a:ln>
        </p:spPr>
        <p:txBody>
          <a:bodyPr wrap="square" lIns="0" tIns="0" rIns="0" bIns="0"/>
          <a:lstStyle/>
          <a:p>
            <a:pPr algn="l">
              <a:buNone/>
            </a:pPr>
            <a:r>
              <a:rPr lang="en-US" sz="2000">
                <a:solidFill>
                  <a:srgbClr val="DCE9E5"/>
                </a:solidFill>
              </a:rPr>
              <a:t>Turning 100 enterprise call transcripts into theme, sentiment, product-risk, and action signals for leadership.</a:t>
            </a:r>
            <a:endParaRPr lang="en-US" sz="2000"/>
          </a:p>
        </p:txBody>
      </p:sp>
      <p:sp>
        <p:nvSpPr>
          <p:cNvPr id="1" name="shape"/>
          <p:cNvSpPr/>
          <p:nvPr/>
        </p:nvSpPr>
        <p:spPr>
          <a:xfrm>
            <a:off x="594360" y="2331720"/>
            <a:ext cx="2240280" cy="384048"/>
          </a:xfrm>
          <a:prstGeom prst="roundRect">
            <a:avLst/>
          </a:prstGeom>
          <a:solidFill>
            <a:srgbClr val="2F6F73"/>
          </a:solidFill>
          <a:ln>
            <a:noFill/>
          </a:ln>
        </p:spPr>
        <p:txBody>
          <a:bodyPr/>
          <a:lstStyle/>
          <a:p/>
        </p:txBody>
      </p:sp>
      <p:sp>
        <p:nvSpPr>
          <p:cNvPr id="2" name="text"/>
          <p:cNvSpPr txBox="1"/>
          <p:nvPr/>
        </p:nvSpPr>
        <p:spPr>
          <a:xfrm>
            <a:off x="704088" y="2432303"/>
            <a:ext cx="2020824" cy="201168"/>
          </a:xfrm>
          <a:prstGeom prst="rect">
            <a:avLst/>
          </a:prstGeom>
          <a:noFill/>
          <a:ln>
            <a:noFill/>
          </a:ln>
        </p:spPr>
        <p:txBody>
          <a:bodyPr wrap="square" lIns="0" tIns="0" rIns="0" bIns="0"/>
          <a:lstStyle/>
          <a:p>
            <a:pPr algn="ctr">
              <a:buNone/>
            </a:pPr>
            <a:r>
              <a:rPr lang="en-US" sz="1000" b="1">
                <a:solidFill>
                  <a:srgbClr val="FFFFFF"/>
                </a:solidFill>
              </a:rPr>
              <a:t>Hybrid explainable pipeline</a:t>
            </a:r>
            <a:endParaRPr lang="en-US" sz="1000"/>
          </a:p>
        </p:txBody>
      </p:sp>
      <p:sp>
        <p:nvSpPr>
          <p:cNvPr id="1" name="shape"/>
          <p:cNvSpPr/>
          <p:nvPr/>
        </p:nvSpPr>
        <p:spPr>
          <a:xfrm>
            <a:off x="2999232" y="2331720"/>
            <a:ext cx="2148840" cy="384048"/>
          </a:xfrm>
          <a:prstGeom prst="roundRect">
            <a:avLst/>
          </a:prstGeom>
          <a:solidFill>
            <a:srgbClr val="C48A2C"/>
          </a:solidFill>
          <a:ln>
            <a:noFill/>
          </a:ln>
        </p:spPr>
        <p:txBody>
          <a:bodyPr/>
          <a:lstStyle/>
          <a:p/>
        </p:txBody>
      </p:sp>
      <p:sp>
        <p:nvSpPr>
          <p:cNvPr id="2" name="text"/>
          <p:cNvSpPr txBox="1"/>
          <p:nvPr/>
        </p:nvSpPr>
        <p:spPr>
          <a:xfrm>
            <a:off x="3108960" y="2432303"/>
            <a:ext cx="1929384" cy="201168"/>
          </a:xfrm>
          <a:prstGeom prst="rect">
            <a:avLst/>
          </a:prstGeom>
          <a:noFill/>
          <a:ln>
            <a:noFill/>
          </a:ln>
        </p:spPr>
        <p:txBody>
          <a:bodyPr wrap="square" lIns="0" tIns="0" rIns="0" bIns="0"/>
          <a:lstStyle/>
          <a:p>
            <a:pPr algn="ctr">
              <a:buNone/>
            </a:pPr>
            <a:r>
              <a:rPr lang="en-US" sz="1000" b="1">
                <a:solidFill>
                  <a:srgbClr val="FFFFFF"/>
                </a:solidFill>
              </a:rPr>
              <a:t>Leadership-ready insights</a:t>
            </a:r>
            <a:endParaRPr lang="en-US" sz="1000"/>
          </a:p>
        </p:txBody>
      </p:sp>
      <p:sp>
        <p:nvSpPr>
          <p:cNvPr id="1" name="shape"/>
          <p:cNvSpPr/>
          <p:nvPr/>
        </p:nvSpPr>
        <p:spPr>
          <a:xfrm>
            <a:off x="5303520" y="2331720"/>
            <a:ext cx="1691640" cy="384048"/>
          </a:xfrm>
          <a:prstGeom prst="roundRect">
            <a:avLst/>
          </a:prstGeom>
          <a:solidFill>
            <a:srgbClr val="4F7B58"/>
          </a:solidFill>
          <a:ln>
            <a:noFill/>
          </a:ln>
        </p:spPr>
        <p:txBody>
          <a:bodyPr/>
          <a:lstStyle/>
          <a:p/>
        </p:txBody>
      </p:sp>
      <p:sp>
        <p:nvSpPr>
          <p:cNvPr id="2" name="text"/>
          <p:cNvSpPr txBox="1"/>
          <p:nvPr/>
        </p:nvSpPr>
        <p:spPr>
          <a:xfrm>
            <a:off x="5413248" y="2432303"/>
            <a:ext cx="1472184" cy="201168"/>
          </a:xfrm>
          <a:prstGeom prst="rect">
            <a:avLst/>
          </a:prstGeom>
          <a:noFill/>
          <a:ln>
            <a:noFill/>
          </a:ln>
        </p:spPr>
        <p:txBody>
          <a:bodyPr wrap="square" lIns="0" tIns="0" rIns="0" bIns="0"/>
          <a:lstStyle/>
          <a:p>
            <a:pPr algn="ctr">
              <a:buNone/>
            </a:pPr>
            <a:r>
              <a:rPr lang="en-US" sz="1000" b="1">
                <a:solidFill>
                  <a:srgbClr val="FFFFFF"/>
                </a:solidFill>
              </a:rPr>
              <a:t>Reproducible repo</a:t>
            </a:r>
            <a:endParaRPr lang="en-US" sz="1000"/>
          </a:p>
        </p:txBody>
      </p:sp>
      <p:sp>
        <p:nvSpPr>
          <p:cNvPr id="1" name="shape"/>
          <p:cNvSpPr/>
          <p:nvPr/>
        </p:nvSpPr>
        <p:spPr>
          <a:xfrm>
            <a:off x="594360" y="3977639"/>
            <a:ext cx="3337560" cy="1097280"/>
          </a:xfrm>
          <a:prstGeom prst="roundRect">
            <a:avLst/>
          </a:prstGeom>
          <a:solidFill>
            <a:srgbClr val="FFFFFF"/>
          </a:solidFill>
          <a:ln>
            <a:solidFill>
              <a:srgbClr val="D8D1C3"/>
            </a:solidFill>
          </a:ln>
        </p:spPr>
        <p:txBody>
          <a:bodyPr/>
          <a:lstStyle/>
          <a:p/>
        </p:txBody>
      </p:sp>
      <p:sp>
        <p:nvSpPr>
          <p:cNvPr id="2" name="text"/>
          <p:cNvSpPr txBox="1"/>
          <p:nvPr/>
        </p:nvSpPr>
        <p:spPr>
          <a:xfrm>
            <a:off x="795528" y="4160520"/>
            <a:ext cx="1097280" cy="365760"/>
          </a:xfrm>
          <a:prstGeom prst="rect">
            <a:avLst/>
          </a:prstGeom>
          <a:noFill/>
          <a:ln>
            <a:noFill/>
          </a:ln>
        </p:spPr>
        <p:txBody>
          <a:bodyPr wrap="square" lIns="0" tIns="0" rIns="0" bIns="0"/>
          <a:lstStyle/>
          <a:p>
            <a:pPr algn="l">
              <a:buNone/>
            </a:pPr>
            <a:r>
              <a:rPr lang="en-US" sz="2400" b="1">
                <a:solidFill>
                  <a:srgbClr val="FFFFFF"/>
                </a:solidFill>
              </a:rPr>
              <a:t>100</a:t>
            </a:r>
            <a:endParaRPr lang="en-US" sz="2400"/>
          </a:p>
        </p:txBody>
      </p:sp>
      <p:sp>
        <p:nvSpPr>
          <p:cNvPr id="2" name="text"/>
          <p:cNvSpPr txBox="1"/>
          <p:nvPr/>
        </p:nvSpPr>
        <p:spPr>
          <a:xfrm>
            <a:off x="1828800" y="4160520"/>
            <a:ext cx="1828800" cy="219456"/>
          </a:xfrm>
          <a:prstGeom prst="rect">
            <a:avLst/>
          </a:prstGeom>
          <a:noFill/>
          <a:ln>
            <a:noFill/>
          </a:ln>
        </p:spPr>
        <p:txBody>
          <a:bodyPr wrap="square" lIns="0" tIns="0" rIns="0" bIns="0"/>
          <a:lstStyle/>
          <a:p>
            <a:pPr algn="l">
              <a:buNone/>
            </a:pPr>
            <a:r>
              <a:rPr lang="en-US" sz="1000" b="1">
                <a:solidFill>
                  <a:srgbClr val="66716A"/>
                </a:solidFill>
              </a:rPr>
              <a:t>meetings</a:t>
            </a:r>
            <a:endParaRPr lang="en-US" sz="1000"/>
          </a:p>
        </p:txBody>
      </p:sp>
      <p:sp>
        <p:nvSpPr>
          <p:cNvPr id="2" name="text"/>
          <p:cNvSpPr txBox="1"/>
          <p:nvPr/>
        </p:nvSpPr>
        <p:spPr>
          <a:xfrm>
            <a:off x="1828800" y="4434840"/>
            <a:ext cx="1828800" cy="384048"/>
          </a:xfrm>
          <a:prstGeom prst="rect">
            <a:avLst/>
          </a:prstGeom>
          <a:noFill/>
          <a:ln>
            <a:noFill/>
          </a:ln>
        </p:spPr>
        <p:txBody>
          <a:bodyPr wrap="square" lIns="0" tIns="0" rIns="0" bIns="0"/>
          <a:lstStyle/>
          <a:p>
            <a:pPr algn="l">
              <a:buNone/>
            </a:pPr>
            <a:r>
              <a:rPr lang="en-US" sz="1100">
                <a:solidFill>
                  <a:srgbClr val="172322"/>
                </a:solidFill>
              </a:rPr>
              <a:t>Support, external customer, and internal conversations.</a:t>
            </a:r>
            <a:endParaRPr lang="en-US" sz="1100"/>
          </a:p>
        </p:txBody>
      </p:sp>
      <p:sp>
        <p:nvSpPr>
          <p:cNvPr id="1" name="shape"/>
          <p:cNvSpPr/>
          <p:nvPr/>
        </p:nvSpPr>
        <p:spPr>
          <a:xfrm>
            <a:off x="4251960" y="3977639"/>
            <a:ext cx="3337560" cy="1097280"/>
          </a:xfrm>
          <a:prstGeom prst="roundRect">
            <a:avLst/>
          </a:prstGeom>
          <a:solidFill>
            <a:srgbClr val="FFFFFF"/>
          </a:solidFill>
          <a:ln>
            <a:solidFill>
              <a:srgbClr val="D8D1C3"/>
            </a:solidFill>
          </a:ln>
        </p:spPr>
        <p:txBody>
          <a:bodyPr/>
          <a:lstStyle/>
          <a:p/>
        </p:txBody>
      </p:sp>
      <p:sp>
        <p:nvSpPr>
          <p:cNvPr id="2" name="text"/>
          <p:cNvSpPr txBox="1"/>
          <p:nvPr/>
        </p:nvSpPr>
        <p:spPr>
          <a:xfrm>
            <a:off x="4453128" y="4160520"/>
            <a:ext cx="1097280" cy="365760"/>
          </a:xfrm>
          <a:prstGeom prst="rect">
            <a:avLst/>
          </a:prstGeom>
          <a:noFill/>
          <a:ln>
            <a:noFill/>
          </a:ln>
        </p:spPr>
        <p:txBody>
          <a:bodyPr wrap="square" lIns="0" tIns="0" rIns="0" bIns="0"/>
          <a:lstStyle/>
          <a:p>
            <a:pPr algn="l">
              <a:buNone/>
            </a:pPr>
            <a:r>
              <a:rPr lang="en-US" sz="2400" b="1">
                <a:solidFill>
                  <a:srgbClr val="FFFFFF"/>
                </a:solidFill>
              </a:rPr>
              <a:t>7</a:t>
            </a:r>
            <a:endParaRPr lang="en-US" sz="2400"/>
          </a:p>
        </p:txBody>
      </p:sp>
      <p:sp>
        <p:nvSpPr>
          <p:cNvPr id="2" name="text"/>
          <p:cNvSpPr txBox="1"/>
          <p:nvPr/>
        </p:nvSpPr>
        <p:spPr>
          <a:xfrm>
            <a:off x="5486400" y="4160520"/>
            <a:ext cx="1828800" cy="219456"/>
          </a:xfrm>
          <a:prstGeom prst="rect">
            <a:avLst/>
          </a:prstGeom>
          <a:noFill/>
          <a:ln>
            <a:noFill/>
          </a:ln>
        </p:spPr>
        <p:txBody>
          <a:bodyPr wrap="square" lIns="0" tIns="0" rIns="0" bIns="0"/>
          <a:lstStyle/>
          <a:p>
            <a:pPr algn="l">
              <a:buNone/>
            </a:pPr>
            <a:r>
              <a:rPr lang="en-US" sz="1000" b="1">
                <a:solidFill>
                  <a:srgbClr val="66716A"/>
                </a:solidFill>
              </a:rPr>
              <a:t>themes</a:t>
            </a:r>
            <a:endParaRPr lang="en-US" sz="1000"/>
          </a:p>
        </p:txBody>
      </p:sp>
      <p:sp>
        <p:nvSpPr>
          <p:cNvPr id="2" name="text"/>
          <p:cNvSpPr txBox="1"/>
          <p:nvPr/>
        </p:nvSpPr>
        <p:spPr>
          <a:xfrm>
            <a:off x="5486400" y="4434840"/>
            <a:ext cx="1828800" cy="384048"/>
          </a:xfrm>
          <a:prstGeom prst="rect">
            <a:avLst/>
          </a:prstGeom>
          <a:noFill/>
          <a:ln>
            <a:noFill/>
          </a:ln>
        </p:spPr>
        <p:txBody>
          <a:bodyPr wrap="square" lIns="0" tIns="0" rIns="0" bIns="0"/>
          <a:lstStyle/>
          <a:p>
            <a:pPr algn="l">
              <a:buNone/>
            </a:pPr>
            <a:r>
              <a:rPr lang="en-US" sz="1100">
                <a:solidFill>
                  <a:srgbClr val="172322"/>
                </a:solidFill>
              </a:rPr>
              <a:t>Business-oriented categories for routing and prioritization.</a:t>
            </a:r>
            <a:endParaRPr lang="en-US" sz="1100"/>
          </a:p>
        </p:txBody>
      </p:sp>
      <p:sp>
        <p:nvSpPr>
          <p:cNvPr id="1" name="shape"/>
          <p:cNvSpPr/>
          <p:nvPr/>
        </p:nvSpPr>
        <p:spPr>
          <a:xfrm>
            <a:off x="7909560" y="3977639"/>
            <a:ext cx="3337560" cy="1097280"/>
          </a:xfrm>
          <a:prstGeom prst="roundRect">
            <a:avLst/>
          </a:prstGeom>
          <a:solidFill>
            <a:srgbClr val="FFFFFF"/>
          </a:solidFill>
          <a:ln>
            <a:solidFill>
              <a:srgbClr val="D8D1C3"/>
            </a:solidFill>
          </a:ln>
        </p:spPr>
        <p:txBody>
          <a:bodyPr/>
          <a:lstStyle/>
          <a:p/>
        </p:txBody>
      </p:sp>
      <p:sp>
        <p:nvSpPr>
          <p:cNvPr id="2" name="text"/>
          <p:cNvSpPr txBox="1"/>
          <p:nvPr/>
        </p:nvSpPr>
        <p:spPr>
          <a:xfrm>
            <a:off x="8110728" y="4160520"/>
            <a:ext cx="1097280" cy="365760"/>
          </a:xfrm>
          <a:prstGeom prst="rect">
            <a:avLst/>
          </a:prstGeom>
          <a:noFill/>
          <a:ln>
            <a:noFill/>
          </a:ln>
        </p:spPr>
        <p:txBody>
          <a:bodyPr wrap="square" lIns="0" tIns="0" rIns="0" bIns="0"/>
          <a:lstStyle/>
          <a:p>
            <a:pPr algn="l">
              <a:buNone/>
            </a:pPr>
            <a:r>
              <a:rPr lang="en-US" sz="2400" b="1">
                <a:solidFill>
                  <a:srgbClr val="FFFFFF"/>
                </a:solidFill>
              </a:rPr>
              <a:t>10/10</a:t>
            </a:r>
            <a:endParaRPr lang="en-US" sz="2400"/>
          </a:p>
        </p:txBody>
      </p:sp>
      <p:sp>
        <p:nvSpPr>
          <p:cNvPr id="2" name="text"/>
          <p:cNvSpPr txBox="1"/>
          <p:nvPr/>
        </p:nvSpPr>
        <p:spPr>
          <a:xfrm>
            <a:off x="9144000" y="4160520"/>
            <a:ext cx="1828800" cy="219456"/>
          </a:xfrm>
          <a:prstGeom prst="rect">
            <a:avLst/>
          </a:prstGeom>
          <a:noFill/>
          <a:ln>
            <a:noFill/>
          </a:ln>
        </p:spPr>
        <p:txBody>
          <a:bodyPr wrap="square" lIns="0" tIns="0" rIns="0" bIns="0"/>
          <a:lstStyle/>
          <a:p>
            <a:pPr algn="l">
              <a:buNone/>
            </a:pPr>
            <a:r>
              <a:rPr lang="en-US" sz="1000" b="1">
                <a:solidFill>
                  <a:srgbClr val="66716A"/>
                </a:solidFill>
              </a:rPr>
              <a:t>highest risk</a:t>
            </a:r>
            <a:endParaRPr lang="en-US" sz="1000"/>
          </a:p>
        </p:txBody>
      </p:sp>
      <p:sp>
        <p:nvSpPr>
          <p:cNvPr id="2" name="text"/>
          <p:cNvSpPr txBox="1"/>
          <p:nvPr/>
        </p:nvSpPr>
        <p:spPr>
          <a:xfrm>
            <a:off x="9144000" y="4434840"/>
            <a:ext cx="1828800" cy="384048"/>
          </a:xfrm>
          <a:prstGeom prst="rect">
            <a:avLst/>
          </a:prstGeom>
          <a:noFill/>
          <a:ln>
            <a:noFill/>
          </a:ln>
        </p:spPr>
        <p:txBody>
          <a:bodyPr wrap="square" lIns="0" tIns="0" rIns="0" bIns="0"/>
          <a:lstStyle/>
          <a:p>
            <a:pPr algn="l">
              <a:buNone/>
            </a:pPr>
            <a:r>
              <a:rPr lang="en-US" sz="1100">
                <a:solidFill>
                  <a:srgbClr val="172322"/>
                </a:solidFill>
              </a:rPr>
              <a:t>Reliability and competitive calls repeatedly hit the top risk band.</a:t>
            </a:r>
            <a:endParaRPr lang="en-US" sz="11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0" name=""/>
        <p:cNvGrpSpPr/>
        <p:nvPr/>
      </p:nvGrpSpPr>
      <p:grpSpPr>
        <a:xfrm>
          <a:off x="0" y="0"/>
          <a:ext cx="0" cy="0"/>
          <a:chOff x="0" y="0"/>
          <a:chExt cx="0" cy="0"/>
        </a:xfrm>
      </p:grpSpPr>
      <p:sp>
        <p:nvSpPr>
          <p:cNvPr id="2" name="text"/>
          <p:cNvSpPr txBox="1"/>
          <p:nvPr/>
        </p:nvSpPr>
        <p:spPr>
          <a:xfrm>
            <a:off x="502920" y="310896"/>
            <a:ext cx="4114800" cy="256032"/>
          </a:xfrm>
          <a:prstGeom prst="rect">
            <a:avLst/>
          </a:prstGeom>
          <a:noFill/>
          <a:ln>
            <a:noFill/>
          </a:ln>
        </p:spPr>
        <p:txBody>
          <a:bodyPr wrap="square" lIns="0" tIns="0" rIns="0" bIns="0"/>
          <a:lstStyle/>
          <a:p>
            <a:pPr algn="l">
              <a:buNone/>
            </a:pPr>
            <a:r>
              <a:rPr lang="en-US" sz="1000" b="1">
                <a:solidFill>
                  <a:srgbClr val="2F6F73"/>
                </a:solidFill>
              </a:rPr>
              <a:t>TRANSCRIPT INTELLIGENCE</a:t>
            </a:r>
            <a:endParaRPr lang="en-US" sz="1000"/>
          </a:p>
        </p:txBody>
      </p:sp>
      <p:sp>
        <p:nvSpPr>
          <p:cNvPr id="2" name="text"/>
          <p:cNvSpPr txBox="1"/>
          <p:nvPr/>
        </p:nvSpPr>
        <p:spPr>
          <a:xfrm>
            <a:off x="502920" y="658368"/>
            <a:ext cx="10698480" cy="685800"/>
          </a:xfrm>
          <a:prstGeom prst="rect">
            <a:avLst/>
          </a:prstGeom>
          <a:noFill/>
          <a:ln>
            <a:noFill/>
          </a:ln>
        </p:spPr>
        <p:txBody>
          <a:bodyPr wrap="square" lIns="0" tIns="0" rIns="0" bIns="0"/>
          <a:lstStyle/>
          <a:p>
            <a:pPr algn="l">
              <a:buNone/>
            </a:pPr>
            <a:r>
              <a:rPr lang="en-US" sz="2800" b="1">
                <a:solidFill>
                  <a:srgbClr val="172322"/>
                </a:solidFill>
              </a:rPr>
              <a:t>The transcript corpus is an operating signal, not just meeting notes</a:t>
            </a:r>
            <a:endParaRPr lang="en-US" sz="2800"/>
          </a:p>
        </p:txBody>
      </p:sp>
      <p:sp>
        <p:nvSpPr>
          <p:cNvPr id="2" name="text"/>
          <p:cNvSpPr txBox="1"/>
          <p:nvPr/>
        </p:nvSpPr>
        <p:spPr>
          <a:xfrm>
            <a:off x="731520" y="1645920"/>
            <a:ext cx="5669280" cy="1828800"/>
          </a:xfrm>
          <a:prstGeom prst="rect">
            <a:avLst/>
          </a:prstGeom>
          <a:noFill/>
          <a:ln>
            <a:noFill/>
          </a:ln>
        </p:spPr>
        <p:txBody>
          <a:bodyPr wrap="square" lIns="0" tIns="0" rIns="0" bIns="0"/>
          <a:lstStyle/>
          <a:p>
            <a:pPr algn="l" marL="285750" indent="-171450">
              <a:buChar char="•"/>
            </a:pPr>
            <a:r>
              <a:rPr lang="en-US" sz="1800">
                <a:solidFill>
                  <a:srgbClr val="172322"/>
                </a:solidFill>
              </a:rPr>
              <a:t>Support calls reveal acute pain: outages, latency, connector bugs, billing disputes.</a:t>
            </a:r>
            <a:endParaRPr lang="en-US" sz="1800"/>
          </a:p>
          <a:p>
            <a:pPr algn="l" marL="285750" indent="-171450">
              <a:buChar char="•"/>
            </a:pPr>
            <a:r>
              <a:rPr lang="en-US" sz="1800">
                <a:solidFill>
                  <a:srgbClr val="172322"/>
                </a:solidFill>
              </a:rPr>
              <a:t>External customer calls reveal commercial risk: renewals, trust, competitive evaluations, roadmap confidence.</a:t>
            </a:r>
            <a:endParaRPr lang="en-US" sz="1800"/>
          </a:p>
          <a:p>
            <a:pPr algn="l" marL="285750" indent="-171450">
              <a:buChar char="•"/>
            </a:pPr>
            <a:r>
              <a:rPr lang="en-US" sz="1800">
                <a:solidFill>
                  <a:srgbClr val="172322"/>
                </a:solidFill>
              </a:rPr>
              <a:t>Internal calls reveal whether the organization is closing the loop on customer pain.</a:t>
            </a:r>
            <a:endParaRPr lang="en-US" sz="1800"/>
          </a:p>
        </p:txBody>
      </p:sp>
      <p:sp>
        <p:nvSpPr>
          <p:cNvPr id="1" name="shape"/>
          <p:cNvSpPr/>
          <p:nvPr/>
        </p:nvSpPr>
        <p:spPr>
          <a:xfrm>
            <a:off x="6766560" y="1554480"/>
            <a:ext cx="3337560" cy="1097280"/>
          </a:xfrm>
          <a:prstGeom prst="roundRect">
            <a:avLst/>
          </a:prstGeom>
          <a:solidFill>
            <a:srgbClr val="FFFFFF"/>
          </a:solidFill>
          <a:ln>
            <a:solidFill>
              <a:srgbClr val="D8D1C3"/>
            </a:solidFill>
          </a:ln>
        </p:spPr>
        <p:txBody>
          <a:bodyPr/>
          <a:lstStyle/>
          <a:p/>
        </p:txBody>
      </p:sp>
      <p:sp>
        <p:nvSpPr>
          <p:cNvPr id="2" name="text"/>
          <p:cNvSpPr txBox="1"/>
          <p:nvPr/>
        </p:nvSpPr>
        <p:spPr>
          <a:xfrm>
            <a:off x="6967728" y="1737360"/>
            <a:ext cx="1097280" cy="365760"/>
          </a:xfrm>
          <a:prstGeom prst="rect">
            <a:avLst/>
          </a:prstGeom>
          <a:noFill/>
          <a:ln>
            <a:noFill/>
          </a:ln>
        </p:spPr>
        <p:txBody>
          <a:bodyPr wrap="square" lIns="0" tIns="0" rIns="0" bIns="0"/>
          <a:lstStyle/>
          <a:p>
            <a:pPr algn="l">
              <a:buNone/>
            </a:pPr>
            <a:r>
              <a:rPr lang="en-US" sz="2400" b="1">
                <a:solidFill>
                  <a:srgbClr val="9B4D45"/>
                </a:solidFill>
              </a:rPr>
              <a:t>31</a:t>
            </a:r>
            <a:endParaRPr lang="en-US" sz="2400"/>
          </a:p>
        </p:txBody>
      </p:sp>
      <p:sp>
        <p:nvSpPr>
          <p:cNvPr id="2" name="text"/>
          <p:cNvSpPr txBox="1"/>
          <p:nvPr/>
        </p:nvSpPr>
        <p:spPr>
          <a:xfrm>
            <a:off x="8001000" y="1737360"/>
            <a:ext cx="1828800" cy="219456"/>
          </a:xfrm>
          <a:prstGeom prst="rect">
            <a:avLst/>
          </a:prstGeom>
          <a:noFill/>
          <a:ln>
            <a:noFill/>
          </a:ln>
        </p:spPr>
        <p:txBody>
          <a:bodyPr wrap="square" lIns="0" tIns="0" rIns="0" bIns="0"/>
          <a:lstStyle/>
          <a:p>
            <a:pPr algn="l">
              <a:buNone/>
            </a:pPr>
            <a:r>
              <a:rPr lang="en-US" sz="1000" b="1">
                <a:solidFill>
                  <a:srgbClr val="66716A"/>
                </a:solidFill>
              </a:rPr>
              <a:t>Customer support</a:t>
            </a:r>
            <a:endParaRPr lang="en-US" sz="1000"/>
          </a:p>
        </p:txBody>
      </p:sp>
      <p:sp>
        <p:nvSpPr>
          <p:cNvPr id="2" name="text"/>
          <p:cNvSpPr txBox="1"/>
          <p:nvPr/>
        </p:nvSpPr>
        <p:spPr>
          <a:xfrm>
            <a:off x="8001000" y="2011680"/>
            <a:ext cx="1828800" cy="384048"/>
          </a:xfrm>
          <a:prstGeom prst="rect">
            <a:avLst/>
          </a:prstGeom>
          <a:noFill/>
          <a:ln>
            <a:noFill/>
          </a:ln>
        </p:spPr>
        <p:txBody>
          <a:bodyPr wrap="square" lIns="0" tIns="0" rIns="0" bIns="0"/>
          <a:lstStyle/>
          <a:p>
            <a:pPr algn="l">
              <a:buNone/>
            </a:pPr>
            <a:r>
              <a:rPr lang="en-US" sz="1100">
                <a:solidFill>
                  <a:srgbClr val="172322"/>
                </a:solidFill>
              </a:rPr>
              <a:t>Highest negative utterance share.</a:t>
            </a:r>
            <a:endParaRPr lang="en-US" sz="1100"/>
          </a:p>
        </p:txBody>
      </p:sp>
      <p:sp>
        <p:nvSpPr>
          <p:cNvPr id="1" name="shape"/>
          <p:cNvSpPr/>
          <p:nvPr/>
        </p:nvSpPr>
        <p:spPr>
          <a:xfrm>
            <a:off x="6766560" y="2788920"/>
            <a:ext cx="3337560" cy="1097280"/>
          </a:xfrm>
          <a:prstGeom prst="roundRect">
            <a:avLst/>
          </a:prstGeom>
          <a:solidFill>
            <a:srgbClr val="FFFFFF"/>
          </a:solidFill>
          <a:ln>
            <a:solidFill>
              <a:srgbClr val="D8D1C3"/>
            </a:solidFill>
          </a:ln>
        </p:spPr>
        <p:txBody>
          <a:bodyPr/>
          <a:lstStyle/>
          <a:p/>
        </p:txBody>
      </p:sp>
      <p:sp>
        <p:nvSpPr>
          <p:cNvPr id="2" name="text"/>
          <p:cNvSpPr txBox="1"/>
          <p:nvPr/>
        </p:nvSpPr>
        <p:spPr>
          <a:xfrm>
            <a:off x="6967728" y="2971800"/>
            <a:ext cx="1097280" cy="365760"/>
          </a:xfrm>
          <a:prstGeom prst="rect">
            <a:avLst/>
          </a:prstGeom>
          <a:noFill/>
          <a:ln>
            <a:noFill/>
          </a:ln>
        </p:spPr>
        <p:txBody>
          <a:bodyPr wrap="square" lIns="0" tIns="0" rIns="0" bIns="0"/>
          <a:lstStyle/>
          <a:p>
            <a:pPr algn="l">
              <a:buNone/>
            </a:pPr>
            <a:r>
              <a:rPr lang="en-US" sz="2400" b="1">
                <a:solidFill>
                  <a:srgbClr val="2F6F73"/>
                </a:solidFill>
              </a:rPr>
              <a:t>39</a:t>
            </a:r>
            <a:endParaRPr lang="en-US" sz="2400"/>
          </a:p>
        </p:txBody>
      </p:sp>
      <p:sp>
        <p:nvSpPr>
          <p:cNvPr id="2" name="text"/>
          <p:cNvSpPr txBox="1"/>
          <p:nvPr/>
        </p:nvSpPr>
        <p:spPr>
          <a:xfrm>
            <a:off x="8001000" y="2971800"/>
            <a:ext cx="1828800" cy="219456"/>
          </a:xfrm>
          <a:prstGeom prst="rect">
            <a:avLst/>
          </a:prstGeom>
          <a:noFill/>
          <a:ln>
            <a:noFill/>
          </a:ln>
        </p:spPr>
        <p:txBody>
          <a:bodyPr wrap="square" lIns="0" tIns="0" rIns="0" bIns="0"/>
          <a:lstStyle/>
          <a:p>
            <a:pPr algn="l">
              <a:buNone/>
            </a:pPr>
            <a:r>
              <a:rPr lang="en-US" sz="1000" b="1">
                <a:solidFill>
                  <a:srgbClr val="66716A"/>
                </a:solidFill>
              </a:rPr>
              <a:t>External customer</a:t>
            </a:r>
            <a:endParaRPr lang="en-US" sz="1000"/>
          </a:p>
        </p:txBody>
      </p:sp>
      <p:sp>
        <p:nvSpPr>
          <p:cNvPr id="2" name="text"/>
          <p:cNvSpPr txBox="1"/>
          <p:nvPr/>
        </p:nvSpPr>
        <p:spPr>
          <a:xfrm>
            <a:off x="8001000" y="3246120"/>
            <a:ext cx="1828800" cy="384048"/>
          </a:xfrm>
          <a:prstGeom prst="rect">
            <a:avLst/>
          </a:prstGeom>
          <a:noFill/>
          <a:ln>
            <a:noFill/>
          </a:ln>
        </p:spPr>
        <p:txBody>
          <a:bodyPr wrap="square" lIns="0" tIns="0" rIns="0" bIns="0"/>
          <a:lstStyle/>
          <a:p>
            <a:pPr algn="l">
              <a:buNone/>
            </a:pPr>
            <a:r>
              <a:rPr lang="en-US" sz="1100">
                <a:solidFill>
                  <a:srgbClr val="172322"/>
                </a:solidFill>
              </a:rPr>
              <a:t>Lower sentiment risk, higher revenue context.</a:t>
            </a:r>
            <a:endParaRPr lang="en-US" sz="1100"/>
          </a:p>
        </p:txBody>
      </p:sp>
      <p:sp>
        <p:nvSpPr>
          <p:cNvPr id="1" name="shape"/>
          <p:cNvSpPr/>
          <p:nvPr/>
        </p:nvSpPr>
        <p:spPr>
          <a:xfrm>
            <a:off x="6766560" y="4023360"/>
            <a:ext cx="3337560" cy="1097280"/>
          </a:xfrm>
          <a:prstGeom prst="roundRect">
            <a:avLst/>
          </a:prstGeom>
          <a:solidFill>
            <a:srgbClr val="FFFFFF"/>
          </a:solidFill>
          <a:ln>
            <a:solidFill>
              <a:srgbClr val="D8D1C3"/>
            </a:solidFill>
          </a:ln>
        </p:spPr>
        <p:txBody>
          <a:bodyPr/>
          <a:lstStyle/>
          <a:p/>
        </p:txBody>
      </p:sp>
      <p:sp>
        <p:nvSpPr>
          <p:cNvPr id="2" name="text"/>
          <p:cNvSpPr txBox="1"/>
          <p:nvPr/>
        </p:nvSpPr>
        <p:spPr>
          <a:xfrm>
            <a:off x="6967728" y="4206240"/>
            <a:ext cx="1097280" cy="365760"/>
          </a:xfrm>
          <a:prstGeom prst="rect">
            <a:avLst/>
          </a:prstGeom>
          <a:noFill/>
          <a:ln>
            <a:noFill/>
          </a:ln>
        </p:spPr>
        <p:txBody>
          <a:bodyPr wrap="square" lIns="0" tIns="0" rIns="0" bIns="0"/>
          <a:lstStyle/>
          <a:p>
            <a:pPr algn="l">
              <a:buNone/>
            </a:pPr>
            <a:r>
              <a:rPr lang="en-US" sz="2400" b="1">
                <a:solidFill>
                  <a:srgbClr val="C48A2C"/>
                </a:solidFill>
              </a:rPr>
              <a:t>30</a:t>
            </a:r>
            <a:endParaRPr lang="en-US" sz="2400"/>
          </a:p>
        </p:txBody>
      </p:sp>
      <p:sp>
        <p:nvSpPr>
          <p:cNvPr id="2" name="text"/>
          <p:cNvSpPr txBox="1"/>
          <p:nvPr/>
        </p:nvSpPr>
        <p:spPr>
          <a:xfrm>
            <a:off x="8001000" y="4206240"/>
            <a:ext cx="1828800" cy="219456"/>
          </a:xfrm>
          <a:prstGeom prst="rect">
            <a:avLst/>
          </a:prstGeom>
          <a:noFill/>
          <a:ln>
            <a:noFill/>
          </a:ln>
        </p:spPr>
        <p:txBody>
          <a:bodyPr wrap="square" lIns="0" tIns="0" rIns="0" bIns="0"/>
          <a:lstStyle/>
          <a:p>
            <a:pPr algn="l">
              <a:buNone/>
            </a:pPr>
            <a:r>
              <a:rPr lang="en-US" sz="1000" b="1">
                <a:solidFill>
                  <a:srgbClr val="66716A"/>
                </a:solidFill>
              </a:rPr>
              <a:t>Internal</a:t>
            </a:r>
            <a:endParaRPr lang="en-US" sz="1000"/>
          </a:p>
        </p:txBody>
      </p:sp>
      <p:sp>
        <p:nvSpPr>
          <p:cNvPr id="2" name="text"/>
          <p:cNvSpPr txBox="1"/>
          <p:nvPr/>
        </p:nvSpPr>
        <p:spPr>
          <a:xfrm>
            <a:off x="8001000" y="4480560"/>
            <a:ext cx="1828800" cy="384048"/>
          </a:xfrm>
          <a:prstGeom prst="rect">
            <a:avLst/>
          </a:prstGeom>
          <a:noFill/>
          <a:ln>
            <a:noFill/>
          </a:ln>
        </p:spPr>
        <p:txBody>
          <a:bodyPr wrap="square" lIns="0" tIns="0" rIns="0" bIns="0"/>
          <a:lstStyle/>
          <a:p>
            <a:pPr algn="l">
              <a:buNone/>
            </a:pPr>
            <a:r>
              <a:rPr lang="en-US" sz="1100">
                <a:solidFill>
                  <a:srgbClr val="172322"/>
                </a:solidFill>
              </a:rPr>
              <a:t>Prioritization and execution signal.</a:t>
            </a:r>
            <a:endParaRPr lang="en-US" sz="1100"/>
          </a:p>
        </p:txBody>
      </p:sp>
      <p:sp>
        <p:nvSpPr>
          <p:cNvPr id="2" name="text"/>
          <p:cNvSpPr txBox="1"/>
          <p:nvPr/>
        </p:nvSpPr>
        <p:spPr>
          <a:xfrm>
            <a:off x="502920" y="6473952"/>
            <a:ext cx="8229600" cy="201168"/>
          </a:xfrm>
          <a:prstGeom prst="rect">
            <a:avLst/>
          </a:prstGeom>
          <a:noFill/>
          <a:ln>
            <a:noFill/>
          </a:ln>
        </p:spPr>
        <p:txBody>
          <a:bodyPr wrap="square" lIns="0" tIns="0" rIns="0" bIns="0"/>
          <a:lstStyle/>
          <a:p>
            <a:pPr algn="l">
              <a:buNone/>
            </a:pPr>
            <a:r>
              <a:rPr lang="en-US" sz="800">
                <a:solidFill>
                  <a:srgbClr val="66716A"/>
                </a:solidFill>
              </a:rPr>
              <a:t>Source: 100 provided transcript folders; generated by src/analyze_transcripts.py</a:t>
            </a:r>
            <a:endParaRPr lang="en-US" sz="8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0" name=""/>
        <p:cNvGrpSpPr/>
        <p:nvPr/>
      </p:nvGrpSpPr>
      <p:grpSpPr>
        <a:xfrm>
          <a:off x="0" y="0"/>
          <a:ext cx="0" cy="0"/>
          <a:chOff x="0" y="0"/>
          <a:chExt cx="0" cy="0"/>
        </a:xfrm>
      </p:grpSpPr>
      <p:sp>
        <p:nvSpPr>
          <p:cNvPr id="2" name="text"/>
          <p:cNvSpPr txBox="1"/>
          <p:nvPr/>
        </p:nvSpPr>
        <p:spPr>
          <a:xfrm>
            <a:off x="502920" y="310896"/>
            <a:ext cx="4114800" cy="256032"/>
          </a:xfrm>
          <a:prstGeom prst="rect">
            <a:avLst/>
          </a:prstGeom>
          <a:noFill/>
          <a:ln>
            <a:noFill/>
          </a:ln>
        </p:spPr>
        <p:txBody>
          <a:bodyPr wrap="square" lIns="0" tIns="0" rIns="0" bIns="0"/>
          <a:lstStyle/>
          <a:p>
            <a:pPr algn="l">
              <a:buNone/>
            </a:pPr>
            <a:r>
              <a:rPr lang="en-US" sz="1000" b="1">
                <a:solidFill>
                  <a:srgbClr val="2F6F73"/>
                </a:solidFill>
              </a:rPr>
              <a:t>TRANSCRIPT INTELLIGENCE</a:t>
            </a:r>
            <a:endParaRPr lang="en-US" sz="1000"/>
          </a:p>
        </p:txBody>
      </p:sp>
      <p:sp>
        <p:nvSpPr>
          <p:cNvPr id="2" name="text"/>
          <p:cNvSpPr txBox="1"/>
          <p:nvPr/>
        </p:nvSpPr>
        <p:spPr>
          <a:xfrm>
            <a:off x="502920" y="658368"/>
            <a:ext cx="10698480" cy="685800"/>
          </a:xfrm>
          <a:prstGeom prst="rect">
            <a:avLst/>
          </a:prstGeom>
          <a:noFill/>
          <a:ln>
            <a:noFill/>
          </a:ln>
        </p:spPr>
        <p:txBody>
          <a:bodyPr wrap="square" lIns="0" tIns="0" rIns="0" bIns="0"/>
          <a:lstStyle/>
          <a:p>
            <a:pPr algn="l">
              <a:buNone/>
            </a:pPr>
            <a:r>
              <a:rPr lang="en-US" sz="2800" b="1">
                <a:solidFill>
                  <a:srgbClr val="172322"/>
                </a:solidFill>
              </a:rPr>
              <a:t>A transparent hybrid classifier is the right first system</a:t>
            </a:r>
            <a:endParaRPr lang="en-US" sz="2800"/>
          </a:p>
        </p:txBody>
      </p:sp>
      <p:sp>
        <p:nvSpPr>
          <p:cNvPr id="2" name="text"/>
          <p:cNvSpPr txBox="1"/>
          <p:nvPr/>
        </p:nvSpPr>
        <p:spPr>
          <a:xfrm>
            <a:off x="640080" y="1536192"/>
            <a:ext cx="1920240" cy="320040"/>
          </a:xfrm>
          <a:prstGeom prst="rect">
            <a:avLst/>
          </a:prstGeom>
          <a:noFill/>
          <a:ln>
            <a:noFill/>
          </a:ln>
        </p:spPr>
        <p:txBody>
          <a:bodyPr wrap="square" lIns="0" tIns="0" rIns="0" bIns="0"/>
          <a:lstStyle/>
          <a:p>
            <a:pPr algn="l">
              <a:buNone/>
            </a:pPr>
            <a:r>
              <a:rPr lang="en-US" sz="1600" b="1">
                <a:solidFill>
                  <a:srgbClr val="2F6F73"/>
                </a:solidFill>
              </a:rPr>
              <a:t>Pipeline</a:t>
            </a:r>
            <a:endParaRPr lang="en-US" sz="1600"/>
          </a:p>
        </p:txBody>
      </p:sp>
      <p:sp>
        <p:nvSpPr>
          <p:cNvPr id="2" name="text"/>
          <p:cNvSpPr txBox="1"/>
          <p:nvPr/>
        </p:nvSpPr>
        <p:spPr>
          <a:xfrm>
            <a:off x="640080" y="1920240"/>
            <a:ext cx="4937760" cy="1005840"/>
          </a:xfrm>
          <a:prstGeom prst="rect">
            <a:avLst/>
          </a:prstGeom>
          <a:noFill/>
          <a:ln>
            <a:noFill/>
          </a:ln>
        </p:spPr>
        <p:txBody>
          <a:bodyPr wrap="square" lIns="0" tIns="0" rIns="0" bIns="0"/>
          <a:lstStyle/>
          <a:p>
            <a:pPr algn="l">
              <a:buNone/>
            </a:pPr>
            <a:r>
              <a:rPr lang="en-US" sz="1800">
                <a:solidFill>
                  <a:srgbClr val="172322"/>
                </a:solidFill>
              </a:rPr>
              <a:t>Raw JSON folders -&gt; summaries/topics/key moments -&gt; rule-scored call type, theme, product surface, sentiment, risk -&gt; CSV/JSON/HTML/deck outputs</a:t>
            </a:r>
            <a:endParaRPr lang="en-US" sz="1800"/>
          </a:p>
        </p:txBody>
      </p:sp>
      <p:sp>
        <p:nvSpPr>
          <p:cNvPr id="2" name="text"/>
          <p:cNvSpPr txBox="1"/>
          <p:nvPr/>
        </p:nvSpPr>
        <p:spPr>
          <a:xfrm>
            <a:off x="640080" y="3364992"/>
            <a:ext cx="2560320" cy="320040"/>
          </a:xfrm>
          <a:prstGeom prst="rect">
            <a:avLst/>
          </a:prstGeom>
          <a:noFill/>
          <a:ln>
            <a:noFill/>
          </a:ln>
        </p:spPr>
        <p:txBody>
          <a:bodyPr wrap="square" lIns="0" tIns="0" rIns="0" bIns="0"/>
          <a:lstStyle/>
          <a:p>
            <a:pPr algn="l">
              <a:buNone/>
            </a:pPr>
            <a:r>
              <a:rPr lang="en-US" sz="1600" b="1">
                <a:solidFill>
                  <a:srgbClr val="2F6F73"/>
                </a:solidFill>
              </a:rPr>
              <a:t>Why this approach</a:t>
            </a:r>
            <a:endParaRPr lang="en-US" sz="1600"/>
          </a:p>
        </p:txBody>
      </p:sp>
      <p:sp>
        <p:nvSpPr>
          <p:cNvPr id="2" name="text"/>
          <p:cNvSpPr txBox="1"/>
          <p:nvPr/>
        </p:nvSpPr>
        <p:spPr>
          <a:xfrm>
            <a:off x="640080" y="3730752"/>
            <a:ext cx="5303520" cy="1645920"/>
          </a:xfrm>
          <a:prstGeom prst="rect">
            <a:avLst/>
          </a:prstGeom>
          <a:noFill/>
          <a:ln>
            <a:noFill/>
          </a:ln>
        </p:spPr>
        <p:txBody>
          <a:bodyPr wrap="square" lIns="0" tIns="0" rIns="0" bIns="0"/>
          <a:lstStyle/>
          <a:p>
            <a:pPr algn="l" marL="285750" indent="-171450">
              <a:buChar char="•"/>
            </a:pPr>
            <a:r>
              <a:rPr lang="en-US" sz="1600">
                <a:solidFill>
                  <a:srgbClr val="172322"/>
                </a:solidFill>
              </a:rPr>
              <a:t>Explainable enough for product and engineering Q&amp;A.</a:t>
            </a:r>
            <a:endParaRPr lang="en-US" sz="1600"/>
          </a:p>
          <a:p>
            <a:pPr algn="l" marL="285750" indent="-171450">
              <a:buChar char="•"/>
            </a:pPr>
            <a:r>
              <a:rPr lang="en-US" sz="1600">
                <a:solidFill>
                  <a:srgbClr val="172322"/>
                </a:solidFill>
              </a:rPr>
              <a:t>Repeatable with no external services or API keys.</a:t>
            </a:r>
            <a:endParaRPr lang="en-US" sz="1600"/>
          </a:p>
          <a:p>
            <a:pPr algn="l" marL="285750" indent="-171450">
              <a:buChar char="•"/>
            </a:pPr>
            <a:r>
              <a:rPr lang="en-US" sz="1600">
                <a:solidFill>
                  <a:srgbClr val="172322"/>
                </a:solidFill>
              </a:rPr>
              <a:t>Easy to replace theme rules with embeddings or LLM labels later while keeping audit guardrails.</a:t>
            </a:r>
            <a:endParaRPr lang="en-US" sz="1600"/>
          </a:p>
        </p:txBody>
      </p:sp>
      <p:sp>
        <p:nvSpPr>
          <p:cNvPr id="1" name="shape"/>
          <p:cNvSpPr/>
          <p:nvPr/>
        </p:nvSpPr>
        <p:spPr>
          <a:xfrm>
            <a:off x="6400800" y="1572768"/>
            <a:ext cx="4297680" cy="3383280"/>
          </a:xfrm>
          <a:prstGeom prst="roundRect">
            <a:avLst/>
          </a:prstGeom>
          <a:solidFill>
            <a:srgbClr val="FFFFFF"/>
          </a:solidFill>
          <a:ln>
            <a:solidFill>
              <a:srgbClr val="D8D1C3"/>
            </a:solidFill>
          </a:ln>
        </p:spPr>
        <p:txBody>
          <a:bodyPr/>
          <a:lstStyle/>
          <a:p/>
        </p:txBody>
      </p:sp>
      <p:sp>
        <p:nvSpPr>
          <p:cNvPr id="2" name="text"/>
          <p:cNvSpPr txBox="1"/>
          <p:nvPr/>
        </p:nvSpPr>
        <p:spPr>
          <a:xfrm>
            <a:off x="6720840" y="1847088"/>
            <a:ext cx="2194560" cy="292608"/>
          </a:xfrm>
          <a:prstGeom prst="rect">
            <a:avLst/>
          </a:prstGeom>
          <a:noFill/>
          <a:ln>
            <a:noFill/>
          </a:ln>
        </p:spPr>
        <p:txBody>
          <a:bodyPr wrap="square" lIns="0" tIns="0" rIns="0" bIns="0"/>
          <a:lstStyle/>
          <a:p>
            <a:pPr algn="l">
              <a:buNone/>
            </a:pPr>
            <a:r>
              <a:rPr lang="en-US" sz="1800" b="1">
                <a:solidFill>
                  <a:srgbClr val="172322"/>
                </a:solidFill>
              </a:rPr>
              <a:t>Core outputs</a:t>
            </a:r>
            <a:endParaRPr lang="en-US" sz="1800"/>
          </a:p>
        </p:txBody>
      </p:sp>
      <p:sp>
        <p:nvSpPr>
          <p:cNvPr id="2" name="text"/>
          <p:cNvSpPr txBox="1"/>
          <p:nvPr/>
        </p:nvSpPr>
        <p:spPr>
          <a:xfrm>
            <a:off x="6720840" y="2331720"/>
            <a:ext cx="3566160" cy="1645920"/>
          </a:xfrm>
          <a:prstGeom prst="rect">
            <a:avLst/>
          </a:prstGeom>
          <a:noFill/>
          <a:ln>
            <a:noFill/>
          </a:ln>
        </p:spPr>
        <p:txBody>
          <a:bodyPr wrap="square" lIns="0" tIns="0" rIns="0" bIns="0"/>
          <a:lstStyle/>
          <a:p>
            <a:pPr algn="l">
              <a:buNone/>
            </a:pPr>
            <a:r>
              <a:rPr lang="en-US" sz="1600">
                <a:solidFill>
                  <a:srgbClr val="172322"/>
                </a:solidFill>
              </a:rPr>
              <a:t>meeting_analysis.csv</a:t>
            </a:r>
            <a:endParaRPr lang="en-US" sz="1600"/>
          </a:p>
          <a:p>
            <a:pPr algn="l">
              <a:buNone/>
            </a:pPr>
            <a:r>
              <a:rPr lang="en-US" sz="1600">
                <a:solidFill>
                  <a:srgbClr val="172322"/>
                </a:solidFill>
              </a:rPr>
              <a:t>summary_metrics.json</a:t>
            </a:r>
            <a:endParaRPr lang="en-US" sz="1600"/>
          </a:p>
          <a:p>
            <a:pPr algn="l">
              <a:buNone/>
            </a:pPr>
            <a:r>
              <a:rPr lang="en-US" sz="1600">
                <a:solidFill>
                  <a:srgbClr val="172322"/>
                </a:solidFill>
              </a:rPr>
              <a:t>analysis_report.md</a:t>
            </a:r>
            <a:endParaRPr lang="en-US" sz="1600"/>
          </a:p>
          <a:p>
            <a:pPr algn="l">
              <a:buNone/>
            </a:pPr>
            <a:r>
              <a:rPr lang="en-US" sz="1600">
                <a:solidFill>
                  <a:srgbClr val="172322"/>
                </a:solidFill>
              </a:rPr>
              <a:t>dashboard.html</a:t>
            </a:r>
            <a:endParaRPr lang="en-US" sz="1600"/>
          </a:p>
          <a:p>
            <a:pPr algn="l">
              <a:buNone/>
            </a:pPr>
            <a:r>
              <a:rPr lang="en-US" sz="1600">
                <a:solidFill>
                  <a:srgbClr val="172322"/>
                </a:solidFill>
              </a:rPr>
              <a:t>Transcript_Intelligence_Leadership_Deck.pptx</a:t>
            </a:r>
            <a:endParaRPr lang="en-US" sz="1600"/>
          </a:p>
        </p:txBody>
      </p:sp>
      <p:sp>
        <p:nvSpPr>
          <p:cNvPr id="2" name="text"/>
          <p:cNvSpPr txBox="1"/>
          <p:nvPr/>
        </p:nvSpPr>
        <p:spPr>
          <a:xfrm>
            <a:off x="502920" y="6473952"/>
            <a:ext cx="8229600" cy="201168"/>
          </a:xfrm>
          <a:prstGeom prst="rect">
            <a:avLst/>
          </a:prstGeom>
          <a:noFill/>
          <a:ln>
            <a:noFill/>
          </a:ln>
        </p:spPr>
        <p:txBody>
          <a:bodyPr wrap="square" lIns="0" tIns="0" rIns="0" bIns="0"/>
          <a:lstStyle/>
          <a:p>
            <a:pPr algn="l">
              <a:buNone/>
            </a:pPr>
            <a:r>
              <a:rPr lang="en-US" sz="800">
                <a:solidFill>
                  <a:srgbClr val="66716A"/>
                </a:solidFill>
              </a:rPr>
              <a:t>Source: 100 provided transcript folders; generated by src/analyze_transcripts.py</a:t>
            </a:r>
            <a:endParaRPr lang="en-US" sz="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0" name=""/>
        <p:cNvGrpSpPr/>
        <p:nvPr/>
      </p:nvGrpSpPr>
      <p:grpSpPr>
        <a:xfrm>
          <a:off x="0" y="0"/>
          <a:ext cx="0" cy="0"/>
          <a:chOff x="0" y="0"/>
          <a:chExt cx="0" cy="0"/>
        </a:xfrm>
      </p:grpSpPr>
      <p:sp>
        <p:nvSpPr>
          <p:cNvPr id="2" name="text"/>
          <p:cNvSpPr txBox="1"/>
          <p:nvPr/>
        </p:nvSpPr>
        <p:spPr>
          <a:xfrm>
            <a:off x="502920" y="310896"/>
            <a:ext cx="4114800" cy="256032"/>
          </a:xfrm>
          <a:prstGeom prst="rect">
            <a:avLst/>
          </a:prstGeom>
          <a:noFill/>
          <a:ln>
            <a:noFill/>
          </a:ln>
        </p:spPr>
        <p:txBody>
          <a:bodyPr wrap="square" lIns="0" tIns="0" rIns="0" bIns="0"/>
          <a:lstStyle/>
          <a:p>
            <a:pPr algn="l">
              <a:buNone/>
            </a:pPr>
            <a:r>
              <a:rPr lang="en-US" sz="1000" b="1">
                <a:solidFill>
                  <a:srgbClr val="2F6F73"/>
                </a:solidFill>
              </a:rPr>
              <a:t>TRANSCRIPT INTELLIGENCE</a:t>
            </a:r>
            <a:endParaRPr lang="en-US" sz="1000"/>
          </a:p>
        </p:txBody>
      </p:sp>
      <p:sp>
        <p:nvSpPr>
          <p:cNvPr id="2" name="text"/>
          <p:cNvSpPr txBox="1"/>
          <p:nvPr/>
        </p:nvSpPr>
        <p:spPr>
          <a:xfrm>
            <a:off x="502920" y="658368"/>
            <a:ext cx="10698480" cy="685800"/>
          </a:xfrm>
          <a:prstGeom prst="rect">
            <a:avLst/>
          </a:prstGeom>
          <a:noFill/>
          <a:ln>
            <a:noFill/>
          </a:ln>
        </p:spPr>
        <p:txBody>
          <a:bodyPr wrap="square" lIns="0" tIns="0" rIns="0" bIns="0"/>
          <a:lstStyle/>
          <a:p>
            <a:pPr algn="l">
              <a:buNone/>
            </a:pPr>
            <a:r>
              <a:rPr lang="en-US" sz="2800" b="1">
                <a:solidFill>
                  <a:srgbClr val="172322"/>
                </a:solidFill>
              </a:rPr>
              <a:t>Reliability is the largest and riskiest theme; compliance is broad but healthier</a:t>
            </a:r>
            <a:endParaRPr lang="en-US" sz="2800"/>
          </a:p>
        </p:txBody>
      </p:sp>
      <p:sp>
        <p:nvSpPr>
          <p:cNvPr id="2" name="text"/>
          <p:cNvSpPr txBox="1"/>
          <p:nvPr/>
        </p:nvSpPr>
        <p:spPr>
          <a:xfrm>
            <a:off x="658368" y="1563624"/>
            <a:ext cx="2240280" cy="256032"/>
          </a:xfrm>
          <a:prstGeom prst="rect">
            <a:avLst/>
          </a:prstGeom>
          <a:noFill/>
          <a:ln>
            <a:noFill/>
          </a:ln>
        </p:spPr>
        <p:txBody>
          <a:bodyPr wrap="square" lIns="0" tIns="0" rIns="0" bIns="0"/>
          <a:lstStyle/>
          <a:p>
            <a:pPr algn="l">
              <a:buNone/>
            </a:pPr>
            <a:r>
              <a:rPr lang="en-US" sz="1000">
                <a:solidFill>
                  <a:srgbClr val="172322"/>
                </a:solidFill>
              </a:rPr>
              <a:t>Incident &amp; Reliability</a:t>
            </a:r>
            <a:endParaRPr lang="en-US" sz="1000"/>
          </a:p>
        </p:txBody>
      </p:sp>
      <p:sp>
        <p:nvSpPr>
          <p:cNvPr id="1" name="shape"/>
          <p:cNvSpPr/>
          <p:nvPr/>
        </p:nvSpPr>
        <p:spPr>
          <a:xfrm>
            <a:off x="2990087" y="1554480"/>
            <a:ext cx="4160520" cy="256032"/>
          </a:xfrm>
          <a:prstGeom prst="roundRect">
            <a:avLst/>
          </a:prstGeom>
          <a:solidFill>
            <a:srgbClr val="2F6F73"/>
          </a:solidFill>
          <a:ln>
            <a:noFill/>
          </a:ln>
        </p:spPr>
        <p:txBody>
          <a:bodyPr/>
          <a:lstStyle/>
          <a:p/>
        </p:txBody>
      </p:sp>
      <p:sp>
        <p:nvSpPr>
          <p:cNvPr id="2" name="text"/>
          <p:cNvSpPr txBox="1"/>
          <p:nvPr/>
        </p:nvSpPr>
        <p:spPr>
          <a:xfrm>
            <a:off x="7242048" y="1591056"/>
            <a:ext cx="731520" cy="182880"/>
          </a:xfrm>
          <a:prstGeom prst="rect">
            <a:avLst/>
          </a:prstGeom>
          <a:noFill/>
          <a:ln>
            <a:noFill/>
          </a:ln>
        </p:spPr>
        <p:txBody>
          <a:bodyPr wrap="square" lIns="0" tIns="0" rIns="0" bIns="0"/>
          <a:lstStyle/>
          <a:p>
            <a:pPr algn="l">
              <a:buNone/>
            </a:pPr>
            <a:r>
              <a:rPr lang="en-US" sz="900" b="1">
                <a:solidFill>
                  <a:srgbClr val="172322"/>
                </a:solidFill>
              </a:rPr>
              <a:t>28</a:t>
            </a:r>
            <a:endParaRPr lang="en-US" sz="900"/>
          </a:p>
        </p:txBody>
      </p:sp>
      <p:sp>
        <p:nvSpPr>
          <p:cNvPr id="2" name="text"/>
          <p:cNvSpPr txBox="1"/>
          <p:nvPr/>
        </p:nvSpPr>
        <p:spPr>
          <a:xfrm>
            <a:off x="658368" y="2177578"/>
            <a:ext cx="2240280" cy="256032"/>
          </a:xfrm>
          <a:prstGeom prst="rect">
            <a:avLst/>
          </a:prstGeom>
          <a:noFill/>
          <a:ln>
            <a:noFill/>
          </a:ln>
        </p:spPr>
        <p:txBody>
          <a:bodyPr wrap="square" lIns="0" tIns="0" rIns="0" bIns="0"/>
          <a:lstStyle/>
          <a:p>
            <a:pPr algn="l">
              <a:buNone/>
            </a:pPr>
            <a:r>
              <a:rPr lang="en-US" sz="1000">
                <a:solidFill>
                  <a:srgbClr val="172322"/>
                </a:solidFill>
              </a:rPr>
              <a:t>Compliance &amp; Audit</a:t>
            </a:r>
            <a:endParaRPr lang="en-US" sz="1000"/>
          </a:p>
        </p:txBody>
      </p:sp>
      <p:sp>
        <p:nvSpPr>
          <p:cNvPr id="1" name="shape"/>
          <p:cNvSpPr/>
          <p:nvPr/>
        </p:nvSpPr>
        <p:spPr>
          <a:xfrm>
            <a:off x="2990087" y="2168434"/>
            <a:ext cx="3268980" cy="256032"/>
          </a:xfrm>
          <a:prstGeom prst="roundRect">
            <a:avLst/>
          </a:prstGeom>
          <a:solidFill>
            <a:srgbClr val="2F6F73"/>
          </a:solidFill>
          <a:ln>
            <a:noFill/>
          </a:ln>
        </p:spPr>
        <p:txBody>
          <a:bodyPr/>
          <a:lstStyle/>
          <a:p/>
        </p:txBody>
      </p:sp>
      <p:sp>
        <p:nvSpPr>
          <p:cNvPr id="2" name="text"/>
          <p:cNvSpPr txBox="1"/>
          <p:nvPr/>
        </p:nvSpPr>
        <p:spPr>
          <a:xfrm>
            <a:off x="6350508" y="2205010"/>
            <a:ext cx="731520" cy="182880"/>
          </a:xfrm>
          <a:prstGeom prst="rect">
            <a:avLst/>
          </a:prstGeom>
          <a:noFill/>
          <a:ln>
            <a:noFill/>
          </a:ln>
        </p:spPr>
        <p:txBody>
          <a:bodyPr wrap="square" lIns="0" tIns="0" rIns="0" bIns="0"/>
          <a:lstStyle/>
          <a:p>
            <a:pPr algn="l">
              <a:buNone/>
            </a:pPr>
            <a:r>
              <a:rPr lang="en-US" sz="900" b="1">
                <a:solidFill>
                  <a:srgbClr val="172322"/>
                </a:solidFill>
              </a:rPr>
              <a:t>22</a:t>
            </a:r>
            <a:endParaRPr lang="en-US" sz="900"/>
          </a:p>
        </p:txBody>
      </p:sp>
      <p:sp>
        <p:nvSpPr>
          <p:cNvPr id="2" name="text"/>
          <p:cNvSpPr txBox="1"/>
          <p:nvPr/>
        </p:nvSpPr>
        <p:spPr>
          <a:xfrm>
            <a:off x="658368" y="2791532"/>
            <a:ext cx="2240280" cy="256032"/>
          </a:xfrm>
          <a:prstGeom prst="rect">
            <a:avLst/>
          </a:prstGeom>
          <a:noFill/>
          <a:ln>
            <a:noFill/>
          </a:ln>
        </p:spPr>
        <p:txBody>
          <a:bodyPr wrap="square" lIns="0" tIns="0" rIns="0" bIns="0"/>
          <a:lstStyle/>
          <a:p>
            <a:pPr algn="l">
              <a:buNone/>
            </a:pPr>
            <a:r>
              <a:rPr lang="en-US" sz="1000">
                <a:solidFill>
                  <a:srgbClr val="172322"/>
                </a:solidFill>
              </a:rPr>
              <a:t>Renewal &amp; Commercial Risk</a:t>
            </a:r>
            <a:endParaRPr lang="en-US" sz="1000"/>
          </a:p>
        </p:txBody>
      </p:sp>
      <p:sp>
        <p:nvSpPr>
          <p:cNvPr id="1" name="shape"/>
          <p:cNvSpPr/>
          <p:nvPr/>
        </p:nvSpPr>
        <p:spPr>
          <a:xfrm>
            <a:off x="2990087" y="2782388"/>
            <a:ext cx="2526030" cy="256032"/>
          </a:xfrm>
          <a:prstGeom prst="roundRect">
            <a:avLst/>
          </a:prstGeom>
          <a:solidFill>
            <a:srgbClr val="2F6F73"/>
          </a:solidFill>
          <a:ln>
            <a:noFill/>
          </a:ln>
        </p:spPr>
        <p:txBody>
          <a:bodyPr/>
          <a:lstStyle/>
          <a:p/>
        </p:txBody>
      </p:sp>
      <p:sp>
        <p:nvSpPr>
          <p:cNvPr id="2" name="text"/>
          <p:cNvSpPr txBox="1"/>
          <p:nvPr/>
        </p:nvSpPr>
        <p:spPr>
          <a:xfrm>
            <a:off x="5607558" y="2818964"/>
            <a:ext cx="731520" cy="182880"/>
          </a:xfrm>
          <a:prstGeom prst="rect">
            <a:avLst/>
          </a:prstGeom>
          <a:noFill/>
          <a:ln>
            <a:noFill/>
          </a:ln>
        </p:spPr>
        <p:txBody>
          <a:bodyPr wrap="square" lIns="0" tIns="0" rIns="0" bIns="0"/>
          <a:lstStyle/>
          <a:p>
            <a:pPr algn="l">
              <a:buNone/>
            </a:pPr>
            <a:r>
              <a:rPr lang="en-US" sz="900" b="1">
                <a:solidFill>
                  <a:srgbClr val="172322"/>
                </a:solidFill>
              </a:rPr>
              <a:t>17</a:t>
            </a:r>
            <a:endParaRPr lang="en-US" sz="900"/>
          </a:p>
        </p:txBody>
      </p:sp>
      <p:sp>
        <p:nvSpPr>
          <p:cNvPr id="2" name="text"/>
          <p:cNvSpPr txBox="1"/>
          <p:nvPr/>
        </p:nvSpPr>
        <p:spPr>
          <a:xfrm>
            <a:off x="658368" y="3405486"/>
            <a:ext cx="2240280" cy="256032"/>
          </a:xfrm>
          <a:prstGeom prst="rect">
            <a:avLst/>
          </a:prstGeom>
          <a:noFill/>
          <a:ln>
            <a:noFill/>
          </a:ln>
        </p:spPr>
        <p:txBody>
          <a:bodyPr wrap="square" lIns="0" tIns="0" rIns="0" bIns="0"/>
          <a:lstStyle/>
          <a:p>
            <a:pPr algn="l">
              <a:buNone/>
            </a:pPr>
            <a:r>
              <a:rPr lang="en-US" sz="1000">
                <a:solidFill>
                  <a:srgbClr val="172322"/>
                </a:solidFill>
              </a:rPr>
              <a:t>Product Feedback &amp; Roadmap</a:t>
            </a:r>
            <a:endParaRPr lang="en-US" sz="1000"/>
          </a:p>
        </p:txBody>
      </p:sp>
      <p:sp>
        <p:nvSpPr>
          <p:cNvPr id="1" name="shape"/>
          <p:cNvSpPr/>
          <p:nvPr/>
        </p:nvSpPr>
        <p:spPr>
          <a:xfrm>
            <a:off x="2990087" y="3396342"/>
            <a:ext cx="1634490" cy="256032"/>
          </a:xfrm>
          <a:prstGeom prst="roundRect">
            <a:avLst/>
          </a:prstGeom>
          <a:solidFill>
            <a:srgbClr val="2F6F73"/>
          </a:solidFill>
          <a:ln>
            <a:noFill/>
          </a:ln>
        </p:spPr>
        <p:txBody>
          <a:bodyPr/>
          <a:lstStyle/>
          <a:p/>
        </p:txBody>
      </p:sp>
      <p:sp>
        <p:nvSpPr>
          <p:cNvPr id="2" name="text"/>
          <p:cNvSpPr txBox="1"/>
          <p:nvPr/>
        </p:nvSpPr>
        <p:spPr>
          <a:xfrm>
            <a:off x="4716018" y="3432918"/>
            <a:ext cx="731520" cy="182880"/>
          </a:xfrm>
          <a:prstGeom prst="rect">
            <a:avLst/>
          </a:prstGeom>
          <a:noFill/>
          <a:ln>
            <a:noFill/>
          </a:ln>
        </p:spPr>
        <p:txBody>
          <a:bodyPr wrap="square" lIns="0" tIns="0" rIns="0" bIns="0"/>
          <a:lstStyle/>
          <a:p>
            <a:pPr algn="l">
              <a:buNone/>
            </a:pPr>
            <a:r>
              <a:rPr lang="en-US" sz="900" b="1">
                <a:solidFill>
                  <a:srgbClr val="172322"/>
                </a:solidFill>
              </a:rPr>
              <a:t>11</a:t>
            </a:r>
            <a:endParaRPr lang="en-US" sz="900"/>
          </a:p>
        </p:txBody>
      </p:sp>
      <p:sp>
        <p:nvSpPr>
          <p:cNvPr id="2" name="text"/>
          <p:cNvSpPr txBox="1"/>
          <p:nvPr/>
        </p:nvSpPr>
        <p:spPr>
          <a:xfrm>
            <a:off x="658368" y="4019441"/>
            <a:ext cx="2240280" cy="256032"/>
          </a:xfrm>
          <a:prstGeom prst="rect">
            <a:avLst/>
          </a:prstGeom>
          <a:noFill/>
          <a:ln>
            <a:noFill/>
          </a:ln>
        </p:spPr>
        <p:txBody>
          <a:bodyPr wrap="square" lIns="0" tIns="0" rIns="0" bIns="0"/>
          <a:lstStyle/>
          <a:p>
            <a:pPr algn="l">
              <a:buNone/>
            </a:pPr>
            <a:r>
              <a:rPr lang="en-US" sz="1000">
                <a:solidFill>
                  <a:srgbClr val="172322"/>
                </a:solidFill>
              </a:rPr>
              <a:t>Backup &amp; Recovery</a:t>
            </a:r>
            <a:endParaRPr lang="en-US" sz="1000"/>
          </a:p>
        </p:txBody>
      </p:sp>
      <p:sp>
        <p:nvSpPr>
          <p:cNvPr id="1" name="shape"/>
          <p:cNvSpPr/>
          <p:nvPr/>
        </p:nvSpPr>
        <p:spPr>
          <a:xfrm>
            <a:off x="2990087" y="4010297"/>
            <a:ext cx="1188720" cy="256032"/>
          </a:xfrm>
          <a:prstGeom prst="roundRect">
            <a:avLst/>
          </a:prstGeom>
          <a:solidFill>
            <a:srgbClr val="2F6F73"/>
          </a:solidFill>
          <a:ln>
            <a:noFill/>
          </a:ln>
        </p:spPr>
        <p:txBody>
          <a:bodyPr/>
          <a:lstStyle/>
          <a:p/>
        </p:txBody>
      </p:sp>
      <p:sp>
        <p:nvSpPr>
          <p:cNvPr id="2" name="text"/>
          <p:cNvSpPr txBox="1"/>
          <p:nvPr/>
        </p:nvSpPr>
        <p:spPr>
          <a:xfrm>
            <a:off x="4270248" y="4046873"/>
            <a:ext cx="731520" cy="182880"/>
          </a:xfrm>
          <a:prstGeom prst="rect">
            <a:avLst/>
          </a:prstGeom>
          <a:noFill/>
          <a:ln>
            <a:noFill/>
          </a:ln>
        </p:spPr>
        <p:txBody>
          <a:bodyPr wrap="square" lIns="0" tIns="0" rIns="0" bIns="0"/>
          <a:lstStyle/>
          <a:p>
            <a:pPr algn="l">
              <a:buNone/>
            </a:pPr>
            <a:r>
              <a:rPr lang="en-US" sz="900" b="1">
                <a:solidFill>
                  <a:srgbClr val="172322"/>
                </a:solidFill>
              </a:rPr>
              <a:t>8</a:t>
            </a:r>
            <a:endParaRPr lang="en-US" sz="900"/>
          </a:p>
        </p:txBody>
      </p:sp>
      <p:sp>
        <p:nvSpPr>
          <p:cNvPr id="2" name="text"/>
          <p:cNvSpPr txBox="1"/>
          <p:nvPr/>
        </p:nvSpPr>
        <p:spPr>
          <a:xfrm>
            <a:off x="658368" y="4633395"/>
            <a:ext cx="2240280" cy="256032"/>
          </a:xfrm>
          <a:prstGeom prst="rect">
            <a:avLst/>
          </a:prstGeom>
          <a:noFill/>
          <a:ln>
            <a:noFill/>
          </a:ln>
        </p:spPr>
        <p:txBody>
          <a:bodyPr wrap="square" lIns="0" tIns="0" rIns="0" bIns="0"/>
          <a:lstStyle/>
          <a:p>
            <a:pPr algn="l">
              <a:buNone/>
            </a:pPr>
            <a:r>
              <a:rPr lang="en-US" sz="1000">
                <a:solidFill>
                  <a:srgbClr val="172322"/>
                </a:solidFill>
              </a:rPr>
              <a:t>Identity &amp; Access</a:t>
            </a:r>
            <a:endParaRPr lang="en-US" sz="1000"/>
          </a:p>
        </p:txBody>
      </p:sp>
      <p:sp>
        <p:nvSpPr>
          <p:cNvPr id="1" name="shape"/>
          <p:cNvSpPr/>
          <p:nvPr/>
        </p:nvSpPr>
        <p:spPr>
          <a:xfrm>
            <a:off x="2990087" y="4624251"/>
            <a:ext cx="1188720" cy="256032"/>
          </a:xfrm>
          <a:prstGeom prst="roundRect">
            <a:avLst/>
          </a:prstGeom>
          <a:solidFill>
            <a:srgbClr val="2F6F73"/>
          </a:solidFill>
          <a:ln>
            <a:noFill/>
          </a:ln>
        </p:spPr>
        <p:txBody>
          <a:bodyPr/>
          <a:lstStyle/>
          <a:p/>
        </p:txBody>
      </p:sp>
      <p:sp>
        <p:nvSpPr>
          <p:cNvPr id="2" name="text"/>
          <p:cNvSpPr txBox="1"/>
          <p:nvPr/>
        </p:nvSpPr>
        <p:spPr>
          <a:xfrm>
            <a:off x="4270248" y="4660827"/>
            <a:ext cx="731520" cy="182880"/>
          </a:xfrm>
          <a:prstGeom prst="rect">
            <a:avLst/>
          </a:prstGeom>
          <a:noFill/>
          <a:ln>
            <a:noFill/>
          </a:ln>
        </p:spPr>
        <p:txBody>
          <a:bodyPr wrap="square" lIns="0" tIns="0" rIns="0" bIns="0"/>
          <a:lstStyle/>
          <a:p>
            <a:pPr algn="l">
              <a:buNone/>
            </a:pPr>
            <a:r>
              <a:rPr lang="en-US" sz="900" b="1">
                <a:solidFill>
                  <a:srgbClr val="172322"/>
                </a:solidFill>
              </a:rPr>
              <a:t>8</a:t>
            </a:r>
            <a:endParaRPr lang="en-US" sz="900"/>
          </a:p>
        </p:txBody>
      </p:sp>
      <p:sp>
        <p:nvSpPr>
          <p:cNvPr id="2" name="text"/>
          <p:cNvSpPr txBox="1"/>
          <p:nvPr/>
        </p:nvSpPr>
        <p:spPr>
          <a:xfrm>
            <a:off x="658368" y="5247349"/>
            <a:ext cx="2240280" cy="256032"/>
          </a:xfrm>
          <a:prstGeom prst="rect">
            <a:avLst/>
          </a:prstGeom>
          <a:noFill/>
          <a:ln>
            <a:noFill/>
          </a:ln>
        </p:spPr>
        <p:txBody>
          <a:bodyPr wrap="square" lIns="0" tIns="0" rIns="0" bIns="0"/>
          <a:lstStyle/>
          <a:p>
            <a:pPr algn="l">
              <a:buNone/>
            </a:pPr>
            <a:r>
              <a:rPr lang="en-US" sz="1000">
                <a:solidFill>
                  <a:srgbClr val="172322"/>
                </a:solidFill>
              </a:rPr>
              <a:t>Competitive &amp; Market</a:t>
            </a:r>
            <a:endParaRPr lang="en-US" sz="1000"/>
          </a:p>
        </p:txBody>
      </p:sp>
      <p:sp>
        <p:nvSpPr>
          <p:cNvPr id="1" name="shape"/>
          <p:cNvSpPr/>
          <p:nvPr/>
        </p:nvSpPr>
        <p:spPr>
          <a:xfrm>
            <a:off x="2990087" y="5238205"/>
            <a:ext cx="891540" cy="256032"/>
          </a:xfrm>
          <a:prstGeom prst="roundRect">
            <a:avLst/>
          </a:prstGeom>
          <a:solidFill>
            <a:srgbClr val="2F6F73"/>
          </a:solidFill>
          <a:ln>
            <a:noFill/>
          </a:ln>
        </p:spPr>
        <p:txBody>
          <a:bodyPr/>
          <a:lstStyle/>
          <a:p/>
        </p:txBody>
      </p:sp>
      <p:sp>
        <p:nvSpPr>
          <p:cNvPr id="2" name="text"/>
          <p:cNvSpPr txBox="1"/>
          <p:nvPr/>
        </p:nvSpPr>
        <p:spPr>
          <a:xfrm>
            <a:off x="3973068" y="5274781"/>
            <a:ext cx="731520" cy="182880"/>
          </a:xfrm>
          <a:prstGeom prst="rect">
            <a:avLst/>
          </a:prstGeom>
          <a:noFill/>
          <a:ln>
            <a:noFill/>
          </a:ln>
        </p:spPr>
        <p:txBody>
          <a:bodyPr wrap="square" lIns="0" tIns="0" rIns="0" bIns="0"/>
          <a:lstStyle/>
          <a:p>
            <a:pPr algn="l">
              <a:buNone/>
            </a:pPr>
            <a:r>
              <a:rPr lang="en-US" sz="900" b="1">
                <a:solidFill>
                  <a:srgbClr val="172322"/>
                </a:solidFill>
              </a:rPr>
              <a:t>6</a:t>
            </a:r>
            <a:endParaRPr lang="en-US" sz="900"/>
          </a:p>
        </p:txBody>
      </p:sp>
      <p:sp>
        <p:nvSpPr>
          <p:cNvPr id="2" name="text"/>
          <p:cNvSpPr txBox="1"/>
          <p:nvPr/>
        </p:nvSpPr>
        <p:spPr>
          <a:xfrm>
            <a:off x="7635240" y="1645920"/>
            <a:ext cx="3108960" cy="320040"/>
          </a:xfrm>
          <a:prstGeom prst="rect">
            <a:avLst/>
          </a:prstGeom>
          <a:noFill/>
          <a:ln>
            <a:noFill/>
          </a:ln>
        </p:spPr>
        <p:txBody>
          <a:bodyPr wrap="square" lIns="0" tIns="0" rIns="0" bIns="0"/>
          <a:lstStyle/>
          <a:p>
            <a:pPr algn="l">
              <a:buNone/>
            </a:pPr>
            <a:r>
              <a:rPr lang="en-US" sz="1600" b="1">
                <a:solidFill>
                  <a:srgbClr val="2F6F73"/>
                </a:solidFill>
              </a:rPr>
              <a:t>Interpretation</a:t>
            </a:r>
            <a:endParaRPr lang="en-US" sz="1600"/>
          </a:p>
        </p:txBody>
      </p:sp>
      <p:sp>
        <p:nvSpPr>
          <p:cNvPr id="2" name="text"/>
          <p:cNvSpPr txBox="1"/>
          <p:nvPr/>
        </p:nvSpPr>
        <p:spPr>
          <a:xfrm>
            <a:off x="7635240" y="2057400"/>
            <a:ext cx="3383280" cy="1828800"/>
          </a:xfrm>
          <a:prstGeom prst="rect">
            <a:avLst/>
          </a:prstGeom>
          <a:noFill/>
          <a:ln>
            <a:noFill/>
          </a:ln>
        </p:spPr>
        <p:txBody>
          <a:bodyPr wrap="square" lIns="0" tIns="0" rIns="0" bIns="0"/>
          <a:lstStyle/>
          <a:p>
            <a:pPr algn="l">
              <a:buNone/>
            </a:pPr>
            <a:r>
              <a:rPr lang="en-US" sz="1700">
                <a:solidFill>
                  <a:srgbClr val="172322"/>
                </a:solidFill>
              </a:rPr>
              <a:t>Incident &amp; Reliability has fewer meetings than compliance but reaches the risk ceiling because it combines urgent language, customer impact, and technical follow-up. Compliance is frequent, but many conversations are planned reviews or launch/adoption work.</a:t>
            </a:r>
            <a:endParaRPr lang="en-US" sz="1700"/>
          </a:p>
        </p:txBody>
      </p:sp>
      <p:sp>
        <p:nvSpPr>
          <p:cNvPr id="2" name="text"/>
          <p:cNvSpPr txBox="1"/>
          <p:nvPr/>
        </p:nvSpPr>
        <p:spPr>
          <a:xfrm>
            <a:off x="502920" y="6473952"/>
            <a:ext cx="8229600" cy="201168"/>
          </a:xfrm>
          <a:prstGeom prst="rect">
            <a:avLst/>
          </a:prstGeom>
          <a:noFill/>
          <a:ln>
            <a:noFill/>
          </a:ln>
        </p:spPr>
        <p:txBody>
          <a:bodyPr wrap="square" lIns="0" tIns="0" rIns="0" bIns="0"/>
          <a:lstStyle/>
          <a:p>
            <a:pPr algn="l">
              <a:buNone/>
            </a:pPr>
            <a:r>
              <a:rPr lang="en-US" sz="800">
                <a:solidFill>
                  <a:srgbClr val="66716A"/>
                </a:solidFill>
              </a:rPr>
              <a:t>Source: 100 provided transcript folders; generated by src/analyze_transcripts.py</a:t>
            </a:r>
            <a:endParaRPr lang="en-US" sz="8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0" name=""/>
        <p:cNvGrpSpPr/>
        <p:nvPr/>
      </p:nvGrpSpPr>
      <p:grpSpPr>
        <a:xfrm>
          <a:off x="0" y="0"/>
          <a:ext cx="0" cy="0"/>
          <a:chOff x="0" y="0"/>
          <a:chExt cx="0" cy="0"/>
        </a:xfrm>
      </p:grpSpPr>
      <p:sp>
        <p:nvSpPr>
          <p:cNvPr id="2" name="text"/>
          <p:cNvSpPr txBox="1"/>
          <p:nvPr/>
        </p:nvSpPr>
        <p:spPr>
          <a:xfrm>
            <a:off x="502920" y="310896"/>
            <a:ext cx="4114800" cy="256032"/>
          </a:xfrm>
          <a:prstGeom prst="rect">
            <a:avLst/>
          </a:prstGeom>
          <a:noFill/>
          <a:ln>
            <a:noFill/>
          </a:ln>
        </p:spPr>
        <p:txBody>
          <a:bodyPr wrap="square" lIns="0" tIns="0" rIns="0" bIns="0"/>
          <a:lstStyle/>
          <a:p>
            <a:pPr algn="l">
              <a:buNone/>
            </a:pPr>
            <a:r>
              <a:rPr lang="en-US" sz="1000" b="1">
                <a:solidFill>
                  <a:srgbClr val="2F6F73"/>
                </a:solidFill>
              </a:rPr>
              <a:t>TRANSCRIPT INTELLIGENCE</a:t>
            </a:r>
            <a:endParaRPr lang="en-US" sz="1000"/>
          </a:p>
        </p:txBody>
      </p:sp>
      <p:sp>
        <p:nvSpPr>
          <p:cNvPr id="2" name="text"/>
          <p:cNvSpPr txBox="1"/>
          <p:nvPr/>
        </p:nvSpPr>
        <p:spPr>
          <a:xfrm>
            <a:off x="502920" y="658368"/>
            <a:ext cx="10698480" cy="685800"/>
          </a:xfrm>
          <a:prstGeom prst="rect">
            <a:avLst/>
          </a:prstGeom>
          <a:noFill/>
          <a:ln>
            <a:noFill/>
          </a:ln>
        </p:spPr>
        <p:txBody>
          <a:bodyPr wrap="square" lIns="0" tIns="0" rIns="0" bIns="0"/>
          <a:lstStyle/>
          <a:p>
            <a:pPr algn="l">
              <a:buNone/>
            </a:pPr>
            <a:r>
              <a:rPr lang="en-US" sz="2800" b="1">
                <a:solidFill>
                  <a:srgbClr val="172322"/>
                </a:solidFill>
              </a:rPr>
              <a:t>Sentiment trends separate acute support pain from commercial risk</a:t>
            </a:r>
            <a:endParaRPr lang="en-US" sz="2800"/>
          </a:p>
        </p:txBody>
      </p:sp>
      <p:sp>
        <p:nvSpPr>
          <p:cNvPr id="2" name="text"/>
          <p:cNvSpPr txBox="1"/>
          <p:nvPr/>
        </p:nvSpPr>
        <p:spPr>
          <a:xfrm>
            <a:off x="685800" y="1563624"/>
            <a:ext cx="2240280" cy="256032"/>
          </a:xfrm>
          <a:prstGeom prst="rect">
            <a:avLst/>
          </a:prstGeom>
          <a:noFill/>
          <a:ln>
            <a:noFill/>
          </a:ln>
        </p:spPr>
        <p:txBody>
          <a:bodyPr wrap="square" lIns="0" tIns="0" rIns="0" bIns="0"/>
          <a:lstStyle/>
          <a:p>
            <a:pPr algn="l">
              <a:buNone/>
            </a:pPr>
            <a:r>
              <a:rPr lang="en-US" sz="1000">
                <a:solidFill>
                  <a:srgbClr val="172322"/>
                </a:solidFill>
              </a:rPr>
              <a:t>Customer support</a:t>
            </a:r>
            <a:endParaRPr lang="en-US" sz="1000"/>
          </a:p>
        </p:txBody>
      </p:sp>
      <p:sp>
        <p:nvSpPr>
          <p:cNvPr id="1" name="shape"/>
          <p:cNvSpPr/>
          <p:nvPr/>
        </p:nvSpPr>
        <p:spPr>
          <a:xfrm>
            <a:off x="3017520" y="1554480"/>
            <a:ext cx="3794760" cy="256032"/>
          </a:xfrm>
          <a:prstGeom prst="roundRect">
            <a:avLst/>
          </a:prstGeom>
          <a:solidFill>
            <a:srgbClr val="9B4D45"/>
          </a:solidFill>
          <a:ln>
            <a:noFill/>
          </a:ln>
        </p:spPr>
        <p:txBody>
          <a:bodyPr/>
          <a:lstStyle/>
          <a:p/>
        </p:txBody>
      </p:sp>
      <p:sp>
        <p:nvSpPr>
          <p:cNvPr id="2" name="text"/>
          <p:cNvSpPr txBox="1"/>
          <p:nvPr/>
        </p:nvSpPr>
        <p:spPr>
          <a:xfrm>
            <a:off x="6903720" y="1591056"/>
            <a:ext cx="731520" cy="182880"/>
          </a:xfrm>
          <a:prstGeom prst="rect">
            <a:avLst/>
          </a:prstGeom>
          <a:noFill/>
          <a:ln>
            <a:noFill/>
          </a:ln>
        </p:spPr>
        <p:txBody>
          <a:bodyPr wrap="square" lIns="0" tIns="0" rIns="0" bIns="0"/>
          <a:lstStyle/>
          <a:p>
            <a:pPr algn="l">
              <a:buNone/>
            </a:pPr>
            <a:r>
              <a:rPr lang="en-US" sz="900" b="1">
                <a:solidFill>
                  <a:srgbClr val="172322"/>
                </a:solidFill>
              </a:rPr>
              <a:t>27.1%</a:t>
            </a:r>
            <a:endParaRPr lang="en-US" sz="900"/>
          </a:p>
        </p:txBody>
      </p:sp>
      <p:sp>
        <p:nvSpPr>
          <p:cNvPr id="2" name="text"/>
          <p:cNvSpPr txBox="1"/>
          <p:nvPr/>
        </p:nvSpPr>
        <p:spPr>
          <a:xfrm>
            <a:off x="685800" y="2295144"/>
            <a:ext cx="2240280" cy="256032"/>
          </a:xfrm>
          <a:prstGeom prst="rect">
            <a:avLst/>
          </a:prstGeom>
          <a:noFill/>
          <a:ln>
            <a:noFill/>
          </a:ln>
        </p:spPr>
        <p:txBody>
          <a:bodyPr wrap="square" lIns="0" tIns="0" rIns="0" bIns="0"/>
          <a:lstStyle/>
          <a:p>
            <a:pPr algn="l">
              <a:buNone/>
            </a:pPr>
            <a:r>
              <a:rPr lang="en-US" sz="1000">
                <a:solidFill>
                  <a:srgbClr val="172322"/>
                </a:solidFill>
              </a:rPr>
              <a:t>External customer</a:t>
            </a:r>
            <a:endParaRPr lang="en-US" sz="1000"/>
          </a:p>
        </p:txBody>
      </p:sp>
      <p:sp>
        <p:nvSpPr>
          <p:cNvPr id="1" name="shape"/>
          <p:cNvSpPr/>
          <p:nvPr/>
        </p:nvSpPr>
        <p:spPr>
          <a:xfrm>
            <a:off x="3017520" y="2285999"/>
            <a:ext cx="1330266" cy="256032"/>
          </a:xfrm>
          <a:prstGeom prst="roundRect">
            <a:avLst/>
          </a:prstGeom>
          <a:solidFill>
            <a:srgbClr val="9B4D45"/>
          </a:solidFill>
          <a:ln>
            <a:noFill/>
          </a:ln>
        </p:spPr>
        <p:txBody>
          <a:bodyPr/>
          <a:lstStyle/>
          <a:p/>
        </p:txBody>
      </p:sp>
      <p:sp>
        <p:nvSpPr>
          <p:cNvPr id="2" name="text"/>
          <p:cNvSpPr txBox="1"/>
          <p:nvPr/>
        </p:nvSpPr>
        <p:spPr>
          <a:xfrm>
            <a:off x="4439226" y="2322575"/>
            <a:ext cx="731520" cy="182880"/>
          </a:xfrm>
          <a:prstGeom prst="rect">
            <a:avLst/>
          </a:prstGeom>
          <a:noFill/>
          <a:ln>
            <a:noFill/>
          </a:ln>
        </p:spPr>
        <p:txBody>
          <a:bodyPr wrap="square" lIns="0" tIns="0" rIns="0" bIns="0"/>
          <a:lstStyle/>
          <a:p>
            <a:pPr algn="l">
              <a:buNone/>
            </a:pPr>
            <a:r>
              <a:rPr lang="en-US" sz="900" b="1">
                <a:solidFill>
                  <a:srgbClr val="172322"/>
                </a:solidFill>
              </a:rPr>
              <a:t>9.5%</a:t>
            </a:r>
            <a:endParaRPr lang="en-US" sz="900"/>
          </a:p>
        </p:txBody>
      </p:sp>
      <p:sp>
        <p:nvSpPr>
          <p:cNvPr id="2" name="text"/>
          <p:cNvSpPr txBox="1"/>
          <p:nvPr/>
        </p:nvSpPr>
        <p:spPr>
          <a:xfrm>
            <a:off x="685800" y="3026664"/>
            <a:ext cx="2240280" cy="256032"/>
          </a:xfrm>
          <a:prstGeom prst="rect">
            <a:avLst/>
          </a:prstGeom>
          <a:noFill/>
          <a:ln>
            <a:noFill/>
          </a:ln>
        </p:spPr>
        <p:txBody>
          <a:bodyPr wrap="square" lIns="0" tIns="0" rIns="0" bIns="0"/>
          <a:lstStyle/>
          <a:p>
            <a:pPr algn="l">
              <a:buNone/>
            </a:pPr>
            <a:r>
              <a:rPr lang="en-US" sz="1000">
                <a:solidFill>
                  <a:srgbClr val="172322"/>
                </a:solidFill>
              </a:rPr>
              <a:t>Internal</a:t>
            </a:r>
            <a:endParaRPr lang="en-US" sz="1000"/>
          </a:p>
        </p:txBody>
      </p:sp>
      <p:sp>
        <p:nvSpPr>
          <p:cNvPr id="1" name="shape"/>
          <p:cNvSpPr/>
          <p:nvPr/>
        </p:nvSpPr>
        <p:spPr>
          <a:xfrm>
            <a:off x="3017520" y="3017520"/>
            <a:ext cx="2366473" cy="256032"/>
          </a:xfrm>
          <a:prstGeom prst="roundRect">
            <a:avLst/>
          </a:prstGeom>
          <a:solidFill>
            <a:srgbClr val="9B4D45"/>
          </a:solidFill>
          <a:ln>
            <a:noFill/>
          </a:ln>
        </p:spPr>
        <p:txBody>
          <a:bodyPr/>
          <a:lstStyle/>
          <a:p/>
        </p:txBody>
      </p:sp>
      <p:sp>
        <p:nvSpPr>
          <p:cNvPr id="2" name="text"/>
          <p:cNvSpPr txBox="1"/>
          <p:nvPr/>
        </p:nvSpPr>
        <p:spPr>
          <a:xfrm>
            <a:off x="5475433" y="3054096"/>
            <a:ext cx="731520" cy="182880"/>
          </a:xfrm>
          <a:prstGeom prst="rect">
            <a:avLst/>
          </a:prstGeom>
          <a:noFill/>
          <a:ln>
            <a:noFill/>
          </a:ln>
        </p:spPr>
        <p:txBody>
          <a:bodyPr wrap="square" lIns="0" tIns="0" rIns="0" bIns="0"/>
          <a:lstStyle/>
          <a:p>
            <a:pPr algn="l">
              <a:buNone/>
            </a:pPr>
            <a:r>
              <a:rPr lang="en-US" sz="900" b="1">
                <a:solidFill>
                  <a:srgbClr val="172322"/>
                </a:solidFill>
              </a:rPr>
              <a:t>16.9%</a:t>
            </a:r>
            <a:endParaRPr lang="en-US" sz="900"/>
          </a:p>
        </p:txBody>
      </p:sp>
      <p:sp>
        <p:nvSpPr>
          <p:cNvPr id="2" name="text"/>
          <p:cNvSpPr txBox="1"/>
          <p:nvPr/>
        </p:nvSpPr>
        <p:spPr>
          <a:xfrm>
            <a:off x="685800" y="4123944"/>
            <a:ext cx="2240280" cy="256032"/>
          </a:xfrm>
          <a:prstGeom prst="rect">
            <a:avLst/>
          </a:prstGeom>
          <a:noFill/>
          <a:ln>
            <a:noFill/>
          </a:ln>
        </p:spPr>
        <p:txBody>
          <a:bodyPr wrap="square" lIns="0" tIns="0" rIns="0" bIns="0"/>
          <a:lstStyle/>
          <a:p>
            <a:pPr algn="l">
              <a:buNone/>
            </a:pPr>
            <a:r>
              <a:rPr lang="en-US" sz="1000">
                <a:solidFill>
                  <a:srgbClr val="172322"/>
                </a:solidFill>
              </a:rPr>
              <a:t>Customer support</a:t>
            </a:r>
            <a:endParaRPr lang="en-US" sz="1000"/>
          </a:p>
        </p:txBody>
      </p:sp>
      <p:sp>
        <p:nvSpPr>
          <p:cNvPr id="1" name="shape"/>
          <p:cNvSpPr/>
          <p:nvPr/>
        </p:nvSpPr>
        <p:spPr>
          <a:xfrm>
            <a:off x="3017520" y="4114800"/>
            <a:ext cx="2724443" cy="256032"/>
          </a:xfrm>
          <a:prstGeom prst="roundRect">
            <a:avLst/>
          </a:prstGeom>
          <a:solidFill>
            <a:srgbClr val="4F7B58"/>
          </a:solidFill>
          <a:ln>
            <a:noFill/>
          </a:ln>
        </p:spPr>
        <p:txBody>
          <a:bodyPr/>
          <a:lstStyle/>
          <a:p/>
        </p:txBody>
      </p:sp>
      <p:sp>
        <p:nvSpPr>
          <p:cNvPr id="2" name="text"/>
          <p:cNvSpPr txBox="1"/>
          <p:nvPr/>
        </p:nvSpPr>
        <p:spPr>
          <a:xfrm>
            <a:off x="5833403" y="4151376"/>
            <a:ext cx="731520" cy="182880"/>
          </a:xfrm>
          <a:prstGeom prst="rect">
            <a:avLst/>
          </a:prstGeom>
          <a:noFill/>
          <a:ln>
            <a:noFill/>
          </a:ln>
        </p:spPr>
        <p:txBody>
          <a:bodyPr wrap="square" lIns="0" tIns="0" rIns="0" bIns="0"/>
          <a:lstStyle/>
          <a:p>
            <a:pPr algn="l">
              <a:buNone/>
            </a:pPr>
            <a:r>
              <a:rPr lang="en-US" sz="900" b="1">
                <a:solidFill>
                  <a:srgbClr val="172322"/>
                </a:solidFill>
              </a:rPr>
              <a:t>2.8</a:t>
            </a:r>
            <a:endParaRPr lang="en-US" sz="900"/>
          </a:p>
        </p:txBody>
      </p:sp>
      <p:sp>
        <p:nvSpPr>
          <p:cNvPr id="2" name="text"/>
          <p:cNvSpPr txBox="1"/>
          <p:nvPr/>
        </p:nvSpPr>
        <p:spPr>
          <a:xfrm>
            <a:off x="685800" y="4642104"/>
            <a:ext cx="2240280" cy="256032"/>
          </a:xfrm>
          <a:prstGeom prst="rect">
            <a:avLst/>
          </a:prstGeom>
          <a:noFill/>
          <a:ln>
            <a:noFill/>
          </a:ln>
        </p:spPr>
        <p:txBody>
          <a:bodyPr wrap="square" lIns="0" tIns="0" rIns="0" bIns="0"/>
          <a:lstStyle/>
          <a:p>
            <a:pPr algn="l">
              <a:buNone/>
            </a:pPr>
            <a:r>
              <a:rPr lang="en-US" sz="1000">
                <a:solidFill>
                  <a:srgbClr val="172322"/>
                </a:solidFill>
              </a:rPr>
              <a:t>External customer</a:t>
            </a:r>
            <a:endParaRPr lang="en-US" sz="1000"/>
          </a:p>
        </p:txBody>
      </p:sp>
      <p:sp>
        <p:nvSpPr>
          <p:cNvPr id="1" name="shape"/>
          <p:cNvSpPr/>
          <p:nvPr/>
        </p:nvSpPr>
        <p:spPr>
          <a:xfrm>
            <a:off x="3017520" y="4632960"/>
            <a:ext cx="3794760" cy="256032"/>
          </a:xfrm>
          <a:prstGeom prst="roundRect">
            <a:avLst/>
          </a:prstGeom>
          <a:solidFill>
            <a:srgbClr val="4F7B58"/>
          </a:solidFill>
          <a:ln>
            <a:noFill/>
          </a:ln>
        </p:spPr>
        <p:txBody>
          <a:bodyPr/>
          <a:lstStyle/>
          <a:p/>
        </p:txBody>
      </p:sp>
      <p:sp>
        <p:nvSpPr>
          <p:cNvPr id="2" name="text"/>
          <p:cNvSpPr txBox="1"/>
          <p:nvPr/>
        </p:nvSpPr>
        <p:spPr>
          <a:xfrm>
            <a:off x="6903720" y="4669536"/>
            <a:ext cx="731520" cy="182880"/>
          </a:xfrm>
          <a:prstGeom prst="rect">
            <a:avLst/>
          </a:prstGeom>
          <a:noFill/>
          <a:ln>
            <a:noFill/>
          </a:ln>
        </p:spPr>
        <p:txBody>
          <a:bodyPr wrap="square" lIns="0" tIns="0" rIns="0" bIns="0"/>
          <a:lstStyle/>
          <a:p>
            <a:pPr algn="l">
              <a:buNone/>
            </a:pPr>
            <a:r>
              <a:rPr lang="en-US" sz="900" b="1">
                <a:solidFill>
                  <a:srgbClr val="172322"/>
                </a:solidFill>
              </a:rPr>
              <a:t>3.9</a:t>
            </a:r>
            <a:endParaRPr lang="en-US" sz="900"/>
          </a:p>
        </p:txBody>
      </p:sp>
      <p:sp>
        <p:nvSpPr>
          <p:cNvPr id="2" name="text"/>
          <p:cNvSpPr txBox="1"/>
          <p:nvPr/>
        </p:nvSpPr>
        <p:spPr>
          <a:xfrm>
            <a:off x="685800" y="5160264"/>
            <a:ext cx="2240280" cy="256032"/>
          </a:xfrm>
          <a:prstGeom prst="rect">
            <a:avLst/>
          </a:prstGeom>
          <a:noFill/>
          <a:ln>
            <a:noFill/>
          </a:ln>
        </p:spPr>
        <p:txBody>
          <a:bodyPr wrap="square" lIns="0" tIns="0" rIns="0" bIns="0"/>
          <a:lstStyle/>
          <a:p>
            <a:pPr algn="l">
              <a:buNone/>
            </a:pPr>
            <a:r>
              <a:rPr lang="en-US" sz="1000">
                <a:solidFill>
                  <a:srgbClr val="172322"/>
                </a:solidFill>
              </a:rPr>
              <a:t>Internal</a:t>
            </a:r>
            <a:endParaRPr lang="en-US" sz="1000"/>
          </a:p>
        </p:txBody>
      </p:sp>
      <p:sp>
        <p:nvSpPr>
          <p:cNvPr id="1" name="shape"/>
          <p:cNvSpPr/>
          <p:nvPr/>
        </p:nvSpPr>
        <p:spPr>
          <a:xfrm>
            <a:off x="3017520" y="5151120"/>
            <a:ext cx="3327712" cy="256032"/>
          </a:xfrm>
          <a:prstGeom prst="roundRect">
            <a:avLst/>
          </a:prstGeom>
          <a:solidFill>
            <a:srgbClr val="4F7B58"/>
          </a:solidFill>
          <a:ln>
            <a:noFill/>
          </a:ln>
        </p:spPr>
        <p:txBody>
          <a:bodyPr/>
          <a:lstStyle/>
          <a:p/>
        </p:txBody>
      </p:sp>
      <p:sp>
        <p:nvSpPr>
          <p:cNvPr id="2" name="text"/>
          <p:cNvSpPr txBox="1"/>
          <p:nvPr/>
        </p:nvSpPr>
        <p:spPr>
          <a:xfrm>
            <a:off x="6436672" y="5187696"/>
            <a:ext cx="731520" cy="182880"/>
          </a:xfrm>
          <a:prstGeom prst="rect">
            <a:avLst/>
          </a:prstGeom>
          <a:noFill/>
          <a:ln>
            <a:noFill/>
          </a:ln>
        </p:spPr>
        <p:txBody>
          <a:bodyPr wrap="square" lIns="0" tIns="0" rIns="0" bIns="0"/>
          <a:lstStyle/>
          <a:p>
            <a:pPr algn="l">
              <a:buNone/>
            </a:pPr>
            <a:r>
              <a:rPr lang="en-US" sz="900" b="1">
                <a:solidFill>
                  <a:srgbClr val="172322"/>
                </a:solidFill>
              </a:rPr>
              <a:t>3.42</a:t>
            </a:r>
            <a:endParaRPr lang="en-US" sz="900"/>
          </a:p>
        </p:txBody>
      </p:sp>
      <p:sp>
        <p:nvSpPr>
          <p:cNvPr id="2" name="text"/>
          <p:cNvSpPr txBox="1"/>
          <p:nvPr/>
        </p:nvSpPr>
        <p:spPr>
          <a:xfrm>
            <a:off x="7498079" y="1645920"/>
            <a:ext cx="3383280" cy="320040"/>
          </a:xfrm>
          <a:prstGeom prst="rect">
            <a:avLst/>
          </a:prstGeom>
          <a:noFill/>
          <a:ln>
            <a:noFill/>
          </a:ln>
        </p:spPr>
        <p:txBody>
          <a:bodyPr wrap="square" lIns="0" tIns="0" rIns="0" bIns="0"/>
          <a:lstStyle/>
          <a:p>
            <a:pPr algn="l">
              <a:buNone/>
            </a:pPr>
            <a:r>
              <a:rPr lang="en-US" sz="1600" b="1">
                <a:solidFill>
                  <a:srgbClr val="2F6F73"/>
                </a:solidFill>
              </a:rPr>
              <a:t>What it means</a:t>
            </a:r>
            <a:endParaRPr lang="en-US" sz="1600"/>
          </a:p>
        </p:txBody>
      </p:sp>
      <p:sp>
        <p:nvSpPr>
          <p:cNvPr id="2" name="text"/>
          <p:cNvSpPr txBox="1"/>
          <p:nvPr/>
        </p:nvSpPr>
        <p:spPr>
          <a:xfrm>
            <a:off x="7498079" y="2057400"/>
            <a:ext cx="3474720" cy="2103120"/>
          </a:xfrm>
          <a:prstGeom prst="rect">
            <a:avLst/>
          </a:prstGeom>
          <a:noFill/>
          <a:ln>
            <a:noFill/>
          </a:ln>
        </p:spPr>
        <p:txBody>
          <a:bodyPr wrap="square" lIns="0" tIns="0" rIns="0" bIns="0"/>
          <a:lstStyle/>
          <a:p>
            <a:pPr algn="l">
              <a:buNone/>
            </a:pPr>
            <a:r>
              <a:rPr lang="en-US" sz="1700">
                <a:solidFill>
                  <a:srgbClr val="172322"/>
                </a:solidFill>
              </a:rPr>
              <a:t>Support calls are the emotional smoke alarm: 27.1% of utterances are negative. External customer calls sound calmer, but the risk often sits in renewal hesitation, competitive evaluation, and roadmap confidence. Both signals need different owners.</a:t>
            </a:r>
            <a:endParaRPr lang="en-US" sz="1700"/>
          </a:p>
        </p:txBody>
      </p:sp>
      <p:sp>
        <p:nvSpPr>
          <p:cNvPr id="2" name="text"/>
          <p:cNvSpPr txBox="1"/>
          <p:nvPr/>
        </p:nvSpPr>
        <p:spPr>
          <a:xfrm>
            <a:off x="502920" y="6473952"/>
            <a:ext cx="8229600" cy="201168"/>
          </a:xfrm>
          <a:prstGeom prst="rect">
            <a:avLst/>
          </a:prstGeom>
          <a:noFill/>
          <a:ln>
            <a:noFill/>
          </a:ln>
        </p:spPr>
        <p:txBody>
          <a:bodyPr wrap="square" lIns="0" tIns="0" rIns="0" bIns="0"/>
          <a:lstStyle/>
          <a:p>
            <a:pPr algn="l">
              <a:buNone/>
            </a:pPr>
            <a:r>
              <a:rPr lang="en-US" sz="800">
                <a:solidFill>
                  <a:srgbClr val="66716A"/>
                </a:solidFill>
              </a:rPr>
              <a:t>Source: 100 provided transcript folders; generated by src/analyze_transcripts.py</a:t>
            </a:r>
            <a:endParaRPr lang="en-US" sz="8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0" name=""/>
        <p:cNvGrpSpPr/>
        <p:nvPr/>
      </p:nvGrpSpPr>
      <p:grpSpPr>
        <a:xfrm>
          <a:off x="0" y="0"/>
          <a:ext cx="0" cy="0"/>
          <a:chOff x="0" y="0"/>
          <a:chExt cx="0" cy="0"/>
        </a:xfrm>
      </p:grpSpPr>
      <p:sp>
        <p:nvSpPr>
          <p:cNvPr id="2" name="text"/>
          <p:cNvSpPr txBox="1"/>
          <p:nvPr/>
        </p:nvSpPr>
        <p:spPr>
          <a:xfrm>
            <a:off x="502920" y="310896"/>
            <a:ext cx="4114800" cy="256032"/>
          </a:xfrm>
          <a:prstGeom prst="rect">
            <a:avLst/>
          </a:prstGeom>
          <a:noFill/>
          <a:ln>
            <a:noFill/>
          </a:ln>
        </p:spPr>
        <p:txBody>
          <a:bodyPr wrap="square" lIns="0" tIns="0" rIns="0" bIns="0"/>
          <a:lstStyle/>
          <a:p>
            <a:pPr algn="l">
              <a:buNone/>
            </a:pPr>
            <a:r>
              <a:rPr lang="en-US" sz="1000" b="1">
                <a:solidFill>
                  <a:srgbClr val="2F6F73"/>
                </a:solidFill>
              </a:rPr>
              <a:t>TRANSCRIPT INTELLIGENCE</a:t>
            </a:r>
            <a:endParaRPr lang="en-US" sz="1000"/>
          </a:p>
        </p:txBody>
      </p:sp>
      <p:sp>
        <p:nvSpPr>
          <p:cNvPr id="2" name="text"/>
          <p:cNvSpPr txBox="1"/>
          <p:nvPr/>
        </p:nvSpPr>
        <p:spPr>
          <a:xfrm>
            <a:off x="502920" y="658368"/>
            <a:ext cx="10698480" cy="685800"/>
          </a:xfrm>
          <a:prstGeom prst="rect">
            <a:avLst/>
          </a:prstGeom>
          <a:noFill/>
          <a:ln>
            <a:noFill/>
          </a:ln>
        </p:spPr>
        <p:txBody>
          <a:bodyPr wrap="square" lIns="0" tIns="0" rIns="0" bIns="0"/>
          <a:lstStyle/>
          <a:p>
            <a:pPr algn="l">
              <a:buNone/>
            </a:pPr>
            <a:r>
              <a:rPr lang="en-US" sz="2800" b="1">
                <a:solidFill>
                  <a:srgbClr val="172322"/>
                </a:solidFill>
              </a:rPr>
              <a:t>Product risk concentrates around Detect, then Protect and Identity</a:t>
            </a:r>
            <a:endParaRPr lang="en-US" sz="2800"/>
          </a:p>
        </p:txBody>
      </p:sp>
      <p:sp>
        <p:nvSpPr>
          <p:cNvPr id="2" name="text"/>
          <p:cNvSpPr txBox="1"/>
          <p:nvPr/>
        </p:nvSpPr>
        <p:spPr>
          <a:xfrm>
            <a:off x="777240" y="1655064"/>
            <a:ext cx="2240280" cy="256032"/>
          </a:xfrm>
          <a:prstGeom prst="rect">
            <a:avLst/>
          </a:prstGeom>
          <a:noFill/>
          <a:ln>
            <a:noFill/>
          </a:ln>
        </p:spPr>
        <p:txBody>
          <a:bodyPr wrap="square" lIns="0" tIns="0" rIns="0" bIns="0"/>
          <a:lstStyle/>
          <a:p>
            <a:pPr algn="l">
              <a:buNone/>
            </a:pPr>
            <a:r>
              <a:rPr lang="en-US" sz="1000">
                <a:solidFill>
                  <a:srgbClr val="172322"/>
                </a:solidFill>
              </a:rPr>
              <a:t>Comply</a:t>
            </a:r>
            <a:endParaRPr lang="en-US" sz="1000"/>
          </a:p>
        </p:txBody>
      </p:sp>
      <p:sp>
        <p:nvSpPr>
          <p:cNvPr id="1" name="shape"/>
          <p:cNvSpPr/>
          <p:nvPr/>
        </p:nvSpPr>
        <p:spPr>
          <a:xfrm>
            <a:off x="3108960" y="1645920"/>
            <a:ext cx="3311839" cy="256032"/>
          </a:xfrm>
          <a:prstGeom prst="roundRect">
            <a:avLst/>
          </a:prstGeom>
          <a:solidFill>
            <a:srgbClr val="C48A2C"/>
          </a:solidFill>
          <a:ln>
            <a:noFill/>
          </a:ln>
        </p:spPr>
        <p:txBody>
          <a:bodyPr/>
          <a:lstStyle/>
          <a:p/>
        </p:txBody>
      </p:sp>
      <p:sp>
        <p:nvSpPr>
          <p:cNvPr id="2" name="text"/>
          <p:cNvSpPr txBox="1"/>
          <p:nvPr/>
        </p:nvSpPr>
        <p:spPr>
          <a:xfrm>
            <a:off x="6512239" y="1682496"/>
            <a:ext cx="731520" cy="182880"/>
          </a:xfrm>
          <a:prstGeom prst="rect">
            <a:avLst/>
          </a:prstGeom>
          <a:noFill/>
          <a:ln>
            <a:noFill/>
          </a:ln>
        </p:spPr>
        <p:txBody>
          <a:bodyPr wrap="square" lIns="0" tIns="0" rIns="0" bIns="0"/>
          <a:lstStyle/>
          <a:p>
            <a:pPr algn="l">
              <a:buNone/>
            </a:pPr>
            <a:r>
              <a:rPr lang="en-US" sz="900" b="1">
                <a:solidFill>
                  <a:srgbClr val="172322"/>
                </a:solidFill>
              </a:rPr>
              <a:t>8.72</a:t>
            </a:r>
            <a:endParaRPr lang="en-US" sz="900"/>
          </a:p>
        </p:txBody>
      </p:sp>
      <p:sp>
        <p:nvSpPr>
          <p:cNvPr id="2" name="text"/>
          <p:cNvSpPr txBox="1"/>
          <p:nvPr/>
        </p:nvSpPr>
        <p:spPr>
          <a:xfrm>
            <a:off x="777240" y="2363724"/>
            <a:ext cx="2240280" cy="256032"/>
          </a:xfrm>
          <a:prstGeom prst="rect">
            <a:avLst/>
          </a:prstGeom>
          <a:noFill/>
          <a:ln>
            <a:noFill/>
          </a:ln>
        </p:spPr>
        <p:txBody>
          <a:bodyPr wrap="square" lIns="0" tIns="0" rIns="0" bIns="0"/>
          <a:lstStyle/>
          <a:p>
            <a:pPr algn="l">
              <a:buNone/>
            </a:pPr>
            <a:r>
              <a:rPr lang="en-US" sz="1000">
                <a:solidFill>
                  <a:srgbClr val="172322"/>
                </a:solidFill>
              </a:rPr>
              <a:t>Detect</a:t>
            </a:r>
            <a:endParaRPr lang="en-US" sz="1000"/>
          </a:p>
        </p:txBody>
      </p:sp>
      <p:sp>
        <p:nvSpPr>
          <p:cNvPr id="1" name="shape"/>
          <p:cNvSpPr/>
          <p:nvPr/>
        </p:nvSpPr>
        <p:spPr>
          <a:xfrm>
            <a:off x="3108960" y="2354579"/>
            <a:ext cx="3611879" cy="256032"/>
          </a:xfrm>
          <a:prstGeom prst="roundRect">
            <a:avLst/>
          </a:prstGeom>
          <a:solidFill>
            <a:srgbClr val="C48A2C"/>
          </a:solidFill>
          <a:ln>
            <a:noFill/>
          </a:ln>
        </p:spPr>
        <p:txBody>
          <a:bodyPr/>
          <a:lstStyle/>
          <a:p/>
        </p:txBody>
      </p:sp>
      <p:sp>
        <p:nvSpPr>
          <p:cNvPr id="2" name="text"/>
          <p:cNvSpPr txBox="1"/>
          <p:nvPr/>
        </p:nvSpPr>
        <p:spPr>
          <a:xfrm>
            <a:off x="6812279" y="2391156"/>
            <a:ext cx="731520" cy="182880"/>
          </a:xfrm>
          <a:prstGeom prst="rect">
            <a:avLst/>
          </a:prstGeom>
          <a:noFill/>
          <a:ln>
            <a:noFill/>
          </a:ln>
        </p:spPr>
        <p:txBody>
          <a:bodyPr wrap="square" lIns="0" tIns="0" rIns="0" bIns="0"/>
          <a:lstStyle/>
          <a:p>
            <a:pPr algn="l">
              <a:buNone/>
            </a:pPr>
            <a:r>
              <a:rPr lang="en-US" sz="900" b="1">
                <a:solidFill>
                  <a:srgbClr val="172322"/>
                </a:solidFill>
              </a:rPr>
              <a:t>9.51</a:t>
            </a:r>
            <a:endParaRPr lang="en-US" sz="900"/>
          </a:p>
        </p:txBody>
      </p:sp>
      <p:sp>
        <p:nvSpPr>
          <p:cNvPr id="2" name="text"/>
          <p:cNvSpPr txBox="1"/>
          <p:nvPr/>
        </p:nvSpPr>
        <p:spPr>
          <a:xfrm>
            <a:off x="777240" y="3072384"/>
            <a:ext cx="2240280" cy="256032"/>
          </a:xfrm>
          <a:prstGeom prst="rect">
            <a:avLst/>
          </a:prstGeom>
          <a:noFill/>
          <a:ln>
            <a:noFill/>
          </a:ln>
        </p:spPr>
        <p:txBody>
          <a:bodyPr wrap="square" lIns="0" tIns="0" rIns="0" bIns="0"/>
          <a:lstStyle/>
          <a:p>
            <a:pPr algn="l">
              <a:buNone/>
            </a:pPr>
            <a:r>
              <a:rPr lang="en-US" sz="1000">
                <a:solidFill>
                  <a:srgbClr val="172322"/>
                </a:solidFill>
              </a:rPr>
              <a:t>Protect</a:t>
            </a:r>
            <a:endParaRPr lang="en-US" sz="1000"/>
          </a:p>
        </p:txBody>
      </p:sp>
      <p:sp>
        <p:nvSpPr>
          <p:cNvPr id="1" name="shape"/>
          <p:cNvSpPr/>
          <p:nvPr/>
        </p:nvSpPr>
        <p:spPr>
          <a:xfrm>
            <a:off x="3108960" y="3063239"/>
            <a:ext cx="3475152" cy="256032"/>
          </a:xfrm>
          <a:prstGeom prst="roundRect">
            <a:avLst/>
          </a:prstGeom>
          <a:solidFill>
            <a:srgbClr val="C48A2C"/>
          </a:solidFill>
          <a:ln>
            <a:noFill/>
          </a:ln>
        </p:spPr>
        <p:txBody>
          <a:bodyPr/>
          <a:lstStyle/>
          <a:p/>
        </p:txBody>
      </p:sp>
      <p:sp>
        <p:nvSpPr>
          <p:cNvPr id="2" name="text"/>
          <p:cNvSpPr txBox="1"/>
          <p:nvPr/>
        </p:nvSpPr>
        <p:spPr>
          <a:xfrm>
            <a:off x="6675552" y="3099815"/>
            <a:ext cx="731520" cy="182880"/>
          </a:xfrm>
          <a:prstGeom prst="rect">
            <a:avLst/>
          </a:prstGeom>
          <a:noFill/>
          <a:ln>
            <a:noFill/>
          </a:ln>
        </p:spPr>
        <p:txBody>
          <a:bodyPr wrap="square" lIns="0" tIns="0" rIns="0" bIns="0"/>
          <a:lstStyle/>
          <a:p>
            <a:pPr algn="l">
              <a:buNone/>
            </a:pPr>
            <a:r>
              <a:rPr lang="en-US" sz="900" b="1">
                <a:solidFill>
                  <a:srgbClr val="172322"/>
                </a:solidFill>
              </a:rPr>
              <a:t>9.15</a:t>
            </a:r>
            <a:endParaRPr lang="en-US" sz="900"/>
          </a:p>
        </p:txBody>
      </p:sp>
      <p:sp>
        <p:nvSpPr>
          <p:cNvPr id="2" name="text"/>
          <p:cNvSpPr txBox="1"/>
          <p:nvPr/>
        </p:nvSpPr>
        <p:spPr>
          <a:xfrm>
            <a:off x="777240" y="3781044"/>
            <a:ext cx="2240280" cy="256032"/>
          </a:xfrm>
          <a:prstGeom prst="rect">
            <a:avLst/>
          </a:prstGeom>
          <a:noFill/>
          <a:ln>
            <a:noFill/>
          </a:ln>
        </p:spPr>
        <p:txBody>
          <a:bodyPr wrap="square" lIns="0" tIns="0" rIns="0" bIns="0"/>
          <a:lstStyle/>
          <a:p>
            <a:pPr algn="l">
              <a:buNone/>
            </a:pPr>
            <a:r>
              <a:rPr lang="en-US" sz="1000">
                <a:solidFill>
                  <a:srgbClr val="172322"/>
                </a:solidFill>
              </a:rPr>
              <a:t>Identity</a:t>
            </a:r>
            <a:endParaRPr lang="en-US" sz="1000"/>
          </a:p>
        </p:txBody>
      </p:sp>
      <p:sp>
        <p:nvSpPr>
          <p:cNvPr id="1" name="shape"/>
          <p:cNvSpPr/>
          <p:nvPr/>
        </p:nvSpPr>
        <p:spPr>
          <a:xfrm>
            <a:off x="3108960" y="3771900"/>
            <a:ext cx="3448566" cy="256032"/>
          </a:xfrm>
          <a:prstGeom prst="roundRect">
            <a:avLst/>
          </a:prstGeom>
          <a:solidFill>
            <a:srgbClr val="C48A2C"/>
          </a:solidFill>
          <a:ln>
            <a:noFill/>
          </a:ln>
        </p:spPr>
        <p:txBody>
          <a:bodyPr/>
          <a:lstStyle/>
          <a:p/>
        </p:txBody>
      </p:sp>
      <p:sp>
        <p:nvSpPr>
          <p:cNvPr id="2" name="text"/>
          <p:cNvSpPr txBox="1"/>
          <p:nvPr/>
        </p:nvSpPr>
        <p:spPr>
          <a:xfrm>
            <a:off x="6648966" y="3808476"/>
            <a:ext cx="731520" cy="182880"/>
          </a:xfrm>
          <a:prstGeom prst="rect">
            <a:avLst/>
          </a:prstGeom>
          <a:noFill/>
          <a:ln>
            <a:noFill/>
          </a:ln>
        </p:spPr>
        <p:txBody>
          <a:bodyPr wrap="square" lIns="0" tIns="0" rIns="0" bIns="0"/>
          <a:lstStyle/>
          <a:p>
            <a:pPr algn="l">
              <a:buNone/>
            </a:pPr>
            <a:r>
              <a:rPr lang="en-US" sz="900" b="1">
                <a:solidFill>
                  <a:srgbClr val="172322"/>
                </a:solidFill>
              </a:rPr>
              <a:t>9.08</a:t>
            </a:r>
            <a:endParaRPr lang="en-US" sz="900"/>
          </a:p>
        </p:txBody>
      </p:sp>
      <p:sp>
        <p:nvSpPr>
          <p:cNvPr id="2" name="text"/>
          <p:cNvSpPr txBox="1"/>
          <p:nvPr/>
        </p:nvSpPr>
        <p:spPr>
          <a:xfrm>
            <a:off x="7315200" y="1691640"/>
            <a:ext cx="3383280" cy="320040"/>
          </a:xfrm>
          <a:prstGeom prst="rect">
            <a:avLst/>
          </a:prstGeom>
          <a:noFill/>
          <a:ln>
            <a:noFill/>
          </a:ln>
        </p:spPr>
        <p:txBody>
          <a:bodyPr wrap="square" lIns="0" tIns="0" rIns="0" bIns="0"/>
          <a:lstStyle/>
          <a:p>
            <a:pPr algn="l">
              <a:buNone/>
            </a:pPr>
            <a:r>
              <a:rPr lang="en-US" sz="1600" b="1">
                <a:solidFill>
                  <a:srgbClr val="2F6F73"/>
                </a:solidFill>
              </a:rPr>
              <a:t>Recommendation</a:t>
            </a:r>
            <a:endParaRPr lang="en-US" sz="1600"/>
          </a:p>
        </p:txBody>
      </p:sp>
      <p:sp>
        <p:nvSpPr>
          <p:cNvPr id="2" name="text"/>
          <p:cNvSpPr txBox="1"/>
          <p:nvPr/>
        </p:nvSpPr>
        <p:spPr>
          <a:xfrm>
            <a:off x="7315200" y="2103120"/>
            <a:ext cx="3474720" cy="2286000"/>
          </a:xfrm>
          <a:prstGeom prst="rect">
            <a:avLst/>
          </a:prstGeom>
          <a:noFill/>
          <a:ln>
            <a:noFill/>
          </a:ln>
        </p:spPr>
        <p:txBody>
          <a:bodyPr wrap="square" lIns="0" tIns="0" rIns="0" bIns="0"/>
          <a:lstStyle/>
          <a:p>
            <a:pPr algn="l">
              <a:buNone/>
            </a:pPr>
            <a:r>
              <a:rPr lang="en-US" sz="1700">
                <a:solidFill>
                  <a:srgbClr val="172322"/>
                </a:solidFill>
              </a:rPr>
              <a:t>Use transcript intelligence as a product risk router: extract the affected product, evidence quote, account, sentiment, and action owner. Detect should be the first executive dashboard surface because outages, SIEM connectors, alert quality, and competitive gaps recur across call types.</a:t>
            </a:r>
            <a:endParaRPr lang="en-US" sz="1700"/>
          </a:p>
        </p:txBody>
      </p:sp>
      <p:sp>
        <p:nvSpPr>
          <p:cNvPr id="2" name="text"/>
          <p:cNvSpPr txBox="1"/>
          <p:nvPr/>
        </p:nvSpPr>
        <p:spPr>
          <a:xfrm>
            <a:off x="502920" y="6473952"/>
            <a:ext cx="8229600" cy="201168"/>
          </a:xfrm>
          <a:prstGeom prst="rect">
            <a:avLst/>
          </a:prstGeom>
          <a:noFill/>
          <a:ln>
            <a:noFill/>
          </a:ln>
        </p:spPr>
        <p:txBody>
          <a:bodyPr wrap="square" lIns="0" tIns="0" rIns="0" bIns="0"/>
          <a:lstStyle/>
          <a:p>
            <a:pPr algn="l">
              <a:buNone/>
            </a:pPr>
            <a:r>
              <a:rPr lang="en-US" sz="800">
                <a:solidFill>
                  <a:srgbClr val="66716A"/>
                </a:solidFill>
              </a:rPr>
              <a:t>Source: 100 provided transcript folders; generated by src/analyze_transcripts.py</a:t>
            </a:r>
            <a:endParaRPr lang="en-US" sz="8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0" name=""/>
        <p:cNvGrpSpPr/>
        <p:nvPr/>
      </p:nvGrpSpPr>
      <p:grpSpPr>
        <a:xfrm>
          <a:off x="0" y="0"/>
          <a:ext cx="0" cy="0"/>
          <a:chOff x="0" y="0"/>
          <a:chExt cx="0" cy="0"/>
        </a:xfrm>
      </p:grpSpPr>
      <p:sp>
        <p:nvSpPr>
          <p:cNvPr id="2" name="text"/>
          <p:cNvSpPr txBox="1"/>
          <p:nvPr/>
        </p:nvSpPr>
        <p:spPr>
          <a:xfrm>
            <a:off x="502920" y="310896"/>
            <a:ext cx="4114800" cy="256032"/>
          </a:xfrm>
          <a:prstGeom prst="rect">
            <a:avLst/>
          </a:prstGeom>
          <a:noFill/>
          <a:ln>
            <a:noFill/>
          </a:ln>
        </p:spPr>
        <p:txBody>
          <a:bodyPr wrap="square" lIns="0" tIns="0" rIns="0" bIns="0"/>
          <a:lstStyle/>
          <a:p>
            <a:pPr algn="l">
              <a:buNone/>
            </a:pPr>
            <a:r>
              <a:rPr lang="en-US" sz="1000" b="1">
                <a:solidFill>
                  <a:srgbClr val="2F6F73"/>
                </a:solidFill>
              </a:rPr>
              <a:t>TRANSCRIPT INTELLIGENCE</a:t>
            </a:r>
            <a:endParaRPr lang="en-US" sz="1000"/>
          </a:p>
        </p:txBody>
      </p:sp>
      <p:sp>
        <p:nvSpPr>
          <p:cNvPr id="2" name="text"/>
          <p:cNvSpPr txBox="1"/>
          <p:nvPr/>
        </p:nvSpPr>
        <p:spPr>
          <a:xfrm>
            <a:off x="502920" y="658368"/>
            <a:ext cx="10698480" cy="685800"/>
          </a:xfrm>
          <a:prstGeom prst="rect">
            <a:avLst/>
          </a:prstGeom>
          <a:noFill/>
          <a:ln>
            <a:noFill/>
          </a:ln>
        </p:spPr>
        <p:txBody>
          <a:bodyPr wrap="square" lIns="0" tIns="0" rIns="0" bIns="0"/>
          <a:lstStyle/>
          <a:p>
            <a:pPr algn="l">
              <a:buNone/>
            </a:pPr>
            <a:r>
              <a:rPr lang="en-US" sz="2800" b="1">
                <a:solidFill>
                  <a:srgbClr val="172322"/>
                </a:solidFill>
              </a:rPr>
              <a:t>Highest-risk meetings show the decisions leaders should force</a:t>
            </a:r>
            <a:endParaRPr lang="en-US" sz="2800"/>
          </a:p>
        </p:txBody>
      </p:sp>
      <p:sp>
        <p:nvSpPr>
          <p:cNvPr id="2" name="text"/>
          <p:cNvSpPr txBox="1"/>
          <p:nvPr/>
        </p:nvSpPr>
        <p:spPr>
          <a:xfrm>
            <a:off x="658368" y="1481328"/>
            <a:ext cx="4754880" cy="228600"/>
          </a:xfrm>
          <a:prstGeom prst="rect">
            <a:avLst/>
          </a:prstGeom>
          <a:noFill/>
          <a:ln>
            <a:noFill/>
          </a:ln>
        </p:spPr>
        <p:txBody>
          <a:bodyPr wrap="square" lIns="0" tIns="0" rIns="0" bIns="0"/>
          <a:lstStyle/>
          <a:p>
            <a:pPr algn="l">
              <a:buNone/>
            </a:pPr>
            <a:r>
              <a:rPr lang="en-US" sz="1100" b="1">
                <a:solidFill>
                  <a:srgbClr val="66716A"/>
                </a:solidFill>
              </a:rPr>
              <a:t>Meeting</a:t>
            </a:r>
            <a:endParaRPr lang="en-US" sz="1100"/>
          </a:p>
        </p:txBody>
      </p:sp>
      <p:sp>
        <p:nvSpPr>
          <p:cNvPr id="2" name="text"/>
          <p:cNvSpPr txBox="1"/>
          <p:nvPr/>
        </p:nvSpPr>
        <p:spPr>
          <a:xfrm>
            <a:off x="5623560" y="1481328"/>
            <a:ext cx="1828800" cy="228600"/>
          </a:xfrm>
          <a:prstGeom prst="rect">
            <a:avLst/>
          </a:prstGeom>
          <a:noFill/>
          <a:ln>
            <a:noFill/>
          </a:ln>
        </p:spPr>
        <p:txBody>
          <a:bodyPr wrap="square" lIns="0" tIns="0" rIns="0" bIns="0"/>
          <a:lstStyle/>
          <a:p>
            <a:pPr algn="l">
              <a:buNone/>
            </a:pPr>
            <a:r>
              <a:rPr lang="en-US" sz="1100" b="1">
                <a:solidFill>
                  <a:srgbClr val="66716A"/>
                </a:solidFill>
              </a:rPr>
              <a:t>Theme</a:t>
            </a:r>
            <a:endParaRPr lang="en-US" sz="1100"/>
          </a:p>
        </p:txBody>
      </p:sp>
      <p:sp>
        <p:nvSpPr>
          <p:cNvPr id="2" name="text"/>
          <p:cNvSpPr txBox="1"/>
          <p:nvPr/>
        </p:nvSpPr>
        <p:spPr>
          <a:xfrm>
            <a:off x="7635240" y="1481328"/>
            <a:ext cx="731520" cy="228600"/>
          </a:xfrm>
          <a:prstGeom prst="rect">
            <a:avLst/>
          </a:prstGeom>
          <a:noFill/>
          <a:ln>
            <a:noFill/>
          </a:ln>
        </p:spPr>
        <p:txBody>
          <a:bodyPr wrap="square" lIns="0" tIns="0" rIns="0" bIns="0"/>
          <a:lstStyle/>
          <a:p>
            <a:pPr algn="l">
              <a:buNone/>
            </a:pPr>
            <a:r>
              <a:rPr lang="en-US" sz="1100" b="1">
                <a:solidFill>
                  <a:srgbClr val="66716A"/>
                </a:solidFill>
              </a:rPr>
              <a:t>Risk</a:t>
            </a:r>
            <a:endParaRPr lang="en-US" sz="1100"/>
          </a:p>
        </p:txBody>
      </p:sp>
      <p:sp>
        <p:nvSpPr>
          <p:cNvPr id="2" name="text"/>
          <p:cNvSpPr txBox="1"/>
          <p:nvPr/>
        </p:nvSpPr>
        <p:spPr>
          <a:xfrm>
            <a:off x="8549640" y="1481328"/>
            <a:ext cx="2560320" cy="228600"/>
          </a:xfrm>
          <a:prstGeom prst="rect">
            <a:avLst/>
          </a:prstGeom>
          <a:noFill/>
          <a:ln>
            <a:noFill/>
          </a:ln>
        </p:spPr>
        <p:txBody>
          <a:bodyPr wrap="square" lIns="0" tIns="0" rIns="0" bIns="0"/>
          <a:lstStyle/>
          <a:p>
            <a:pPr algn="l">
              <a:buNone/>
            </a:pPr>
            <a:r>
              <a:rPr lang="en-US" sz="1100" b="1">
                <a:solidFill>
                  <a:srgbClr val="66716A"/>
                </a:solidFill>
              </a:rPr>
              <a:t>Leadership question</a:t>
            </a:r>
            <a:endParaRPr lang="en-US" sz="1100"/>
          </a:p>
        </p:txBody>
      </p:sp>
      <p:sp>
        <p:nvSpPr>
          <p:cNvPr id="1" name="shape"/>
          <p:cNvSpPr/>
          <p:nvPr/>
        </p:nvSpPr>
        <p:spPr>
          <a:xfrm>
            <a:off x="594360" y="1783080"/>
            <a:ext cx="10698480" cy="502920"/>
          </a:xfrm>
          <a:prstGeom prst="roundRect">
            <a:avLst/>
          </a:prstGeom>
          <a:solidFill>
            <a:srgbClr val="FFFFFF"/>
          </a:solidFill>
          <a:ln>
            <a:solidFill>
              <a:srgbClr val="D8D1C3"/>
            </a:solidFill>
          </a:ln>
        </p:spPr>
        <p:txBody>
          <a:bodyPr/>
          <a:lstStyle/>
          <a:p/>
        </p:txBody>
      </p:sp>
      <p:sp>
        <p:nvSpPr>
          <p:cNvPr id="2" name="text"/>
          <p:cNvSpPr txBox="1"/>
          <p:nvPr/>
        </p:nvSpPr>
        <p:spPr>
          <a:xfrm>
            <a:off x="749808" y="1920240"/>
            <a:ext cx="4572000" cy="201168"/>
          </a:xfrm>
          <a:prstGeom prst="rect">
            <a:avLst/>
          </a:prstGeom>
          <a:noFill/>
          <a:ln>
            <a:noFill/>
          </a:ln>
        </p:spPr>
        <p:txBody>
          <a:bodyPr wrap="square" lIns="0" tIns="0" rIns="0" bIns="0"/>
          <a:lstStyle/>
          <a:p>
            <a:pPr algn="l">
              <a:buNone/>
            </a:pPr>
            <a:r>
              <a:rPr lang="en-US" sz="1000">
                <a:solidFill>
                  <a:srgbClr val="172322"/>
                </a:solidFill>
              </a:rPr>
              <a:t>Support Case #3266 - Trailhead Marketplace Detect Alerts Not F</a:t>
            </a:r>
            <a:endParaRPr lang="en-US" sz="1000"/>
          </a:p>
        </p:txBody>
      </p:sp>
      <p:sp>
        <p:nvSpPr>
          <p:cNvPr id="2" name="text"/>
          <p:cNvSpPr txBox="1"/>
          <p:nvPr/>
        </p:nvSpPr>
        <p:spPr>
          <a:xfrm>
            <a:off x="5623560" y="1920240"/>
            <a:ext cx="1737360" cy="201168"/>
          </a:xfrm>
          <a:prstGeom prst="rect">
            <a:avLst/>
          </a:prstGeom>
          <a:noFill/>
          <a:ln>
            <a:noFill/>
          </a:ln>
        </p:spPr>
        <p:txBody>
          <a:bodyPr wrap="square" lIns="0" tIns="0" rIns="0" bIns="0"/>
          <a:lstStyle/>
          <a:p>
            <a:pPr algn="l">
              <a:buNone/>
            </a:pPr>
            <a:r>
              <a:rPr lang="en-US" sz="1000">
                <a:solidFill>
                  <a:srgbClr val="172322"/>
                </a:solidFill>
              </a:rPr>
              <a:t>Incident &amp; Reliability</a:t>
            </a:r>
            <a:endParaRPr lang="en-US" sz="1000"/>
          </a:p>
        </p:txBody>
      </p:sp>
      <p:sp>
        <p:nvSpPr>
          <p:cNvPr id="2" name="text"/>
          <p:cNvSpPr txBox="1"/>
          <p:nvPr/>
        </p:nvSpPr>
        <p:spPr>
          <a:xfrm>
            <a:off x="7726679" y="1920240"/>
            <a:ext cx="365760" cy="201168"/>
          </a:xfrm>
          <a:prstGeom prst="rect">
            <a:avLst/>
          </a:prstGeom>
          <a:noFill/>
          <a:ln>
            <a:noFill/>
          </a:ln>
        </p:spPr>
        <p:txBody>
          <a:bodyPr wrap="square" lIns="0" tIns="0" rIns="0" bIns="0"/>
          <a:lstStyle/>
          <a:p>
            <a:pPr algn="l">
              <a:buNone/>
            </a:pPr>
            <a:r>
              <a:rPr lang="en-US" sz="1100" b="1">
                <a:solidFill>
                  <a:srgbClr val="9B4D45"/>
                </a:solidFill>
              </a:rPr>
              <a:t>10</a:t>
            </a:r>
            <a:endParaRPr lang="en-US" sz="1100"/>
          </a:p>
        </p:txBody>
      </p:sp>
      <p:sp>
        <p:nvSpPr>
          <p:cNvPr id="2" name="text"/>
          <p:cNvSpPr txBox="1"/>
          <p:nvPr/>
        </p:nvSpPr>
        <p:spPr>
          <a:xfrm>
            <a:off x="8549640" y="1920240"/>
            <a:ext cx="2468880" cy="201168"/>
          </a:xfrm>
          <a:prstGeom prst="rect">
            <a:avLst/>
          </a:prstGeom>
          <a:noFill/>
          <a:ln>
            <a:noFill/>
          </a:ln>
        </p:spPr>
        <p:txBody>
          <a:bodyPr wrap="square" lIns="0" tIns="0" rIns="0" bIns="0"/>
          <a:lstStyle/>
          <a:p>
            <a:pPr algn="l">
              <a:buNone/>
            </a:pPr>
            <a:r>
              <a:rPr lang="en-US" sz="1000">
                <a:solidFill>
                  <a:srgbClr val="172322"/>
                </a:solidFill>
              </a:rPr>
              <a:t>Owner, tradeoff, customer impact</a:t>
            </a:r>
            <a:endParaRPr lang="en-US" sz="1000"/>
          </a:p>
        </p:txBody>
      </p:sp>
      <p:sp>
        <p:nvSpPr>
          <p:cNvPr id="1" name="shape"/>
          <p:cNvSpPr/>
          <p:nvPr/>
        </p:nvSpPr>
        <p:spPr>
          <a:xfrm>
            <a:off x="594360" y="2441448"/>
            <a:ext cx="10698480" cy="502920"/>
          </a:xfrm>
          <a:prstGeom prst="roundRect">
            <a:avLst/>
          </a:prstGeom>
          <a:solidFill>
            <a:srgbClr val="FFFFFF"/>
          </a:solidFill>
          <a:ln>
            <a:solidFill>
              <a:srgbClr val="D8D1C3"/>
            </a:solidFill>
          </a:ln>
        </p:spPr>
        <p:txBody>
          <a:bodyPr/>
          <a:lstStyle/>
          <a:p/>
        </p:txBody>
      </p:sp>
      <p:sp>
        <p:nvSpPr>
          <p:cNvPr id="2" name="text"/>
          <p:cNvSpPr txBox="1"/>
          <p:nvPr/>
        </p:nvSpPr>
        <p:spPr>
          <a:xfrm>
            <a:off x="749808" y="2578608"/>
            <a:ext cx="4572000" cy="201168"/>
          </a:xfrm>
          <a:prstGeom prst="rect">
            <a:avLst/>
          </a:prstGeom>
          <a:noFill/>
          <a:ln>
            <a:noFill/>
          </a:ln>
        </p:spPr>
        <p:txBody>
          <a:bodyPr wrap="square" lIns="0" tIns="0" rIns="0" bIns="0"/>
          <a:lstStyle/>
          <a:p>
            <a:pPr algn="l">
              <a:buNone/>
            </a:pPr>
            <a:r>
              <a:rPr lang="en-US" sz="1000">
                <a:solidFill>
                  <a:srgbClr val="172322"/>
                </a:solidFill>
              </a:rPr>
              <a:t>URGENT: Blackridge Investments - Complete Loss of Threat Visib</a:t>
            </a:r>
            <a:endParaRPr lang="en-US" sz="1000"/>
          </a:p>
        </p:txBody>
      </p:sp>
      <p:sp>
        <p:nvSpPr>
          <p:cNvPr id="2" name="text"/>
          <p:cNvSpPr txBox="1"/>
          <p:nvPr/>
        </p:nvSpPr>
        <p:spPr>
          <a:xfrm>
            <a:off x="5623560" y="2578608"/>
            <a:ext cx="1737360" cy="201168"/>
          </a:xfrm>
          <a:prstGeom prst="rect">
            <a:avLst/>
          </a:prstGeom>
          <a:noFill/>
          <a:ln>
            <a:noFill/>
          </a:ln>
        </p:spPr>
        <p:txBody>
          <a:bodyPr wrap="square" lIns="0" tIns="0" rIns="0" bIns="0"/>
          <a:lstStyle/>
          <a:p>
            <a:pPr algn="l">
              <a:buNone/>
            </a:pPr>
            <a:r>
              <a:rPr lang="en-US" sz="1000">
                <a:solidFill>
                  <a:srgbClr val="172322"/>
                </a:solidFill>
              </a:rPr>
              <a:t>Incident &amp; Reliability</a:t>
            </a:r>
            <a:endParaRPr lang="en-US" sz="1000"/>
          </a:p>
        </p:txBody>
      </p:sp>
      <p:sp>
        <p:nvSpPr>
          <p:cNvPr id="2" name="text"/>
          <p:cNvSpPr txBox="1"/>
          <p:nvPr/>
        </p:nvSpPr>
        <p:spPr>
          <a:xfrm>
            <a:off x="7726679" y="2578608"/>
            <a:ext cx="365760" cy="201168"/>
          </a:xfrm>
          <a:prstGeom prst="rect">
            <a:avLst/>
          </a:prstGeom>
          <a:noFill/>
          <a:ln>
            <a:noFill/>
          </a:ln>
        </p:spPr>
        <p:txBody>
          <a:bodyPr wrap="square" lIns="0" tIns="0" rIns="0" bIns="0"/>
          <a:lstStyle/>
          <a:p>
            <a:pPr algn="l">
              <a:buNone/>
            </a:pPr>
            <a:r>
              <a:rPr lang="en-US" sz="1100" b="1">
                <a:solidFill>
                  <a:srgbClr val="9B4D45"/>
                </a:solidFill>
              </a:rPr>
              <a:t>10</a:t>
            </a:r>
            <a:endParaRPr lang="en-US" sz="1100"/>
          </a:p>
        </p:txBody>
      </p:sp>
      <p:sp>
        <p:nvSpPr>
          <p:cNvPr id="2" name="text"/>
          <p:cNvSpPr txBox="1"/>
          <p:nvPr/>
        </p:nvSpPr>
        <p:spPr>
          <a:xfrm>
            <a:off x="8549640" y="2578608"/>
            <a:ext cx="2468880" cy="201168"/>
          </a:xfrm>
          <a:prstGeom prst="rect">
            <a:avLst/>
          </a:prstGeom>
          <a:noFill/>
          <a:ln>
            <a:noFill/>
          </a:ln>
        </p:spPr>
        <p:txBody>
          <a:bodyPr wrap="square" lIns="0" tIns="0" rIns="0" bIns="0"/>
          <a:lstStyle/>
          <a:p>
            <a:pPr algn="l">
              <a:buNone/>
            </a:pPr>
            <a:r>
              <a:rPr lang="en-US" sz="1000">
                <a:solidFill>
                  <a:srgbClr val="172322"/>
                </a:solidFill>
              </a:rPr>
              <a:t>Owner, tradeoff, customer impact</a:t>
            </a:r>
            <a:endParaRPr lang="en-US" sz="1000"/>
          </a:p>
        </p:txBody>
      </p:sp>
      <p:sp>
        <p:nvSpPr>
          <p:cNvPr id="1" name="shape"/>
          <p:cNvSpPr/>
          <p:nvPr/>
        </p:nvSpPr>
        <p:spPr>
          <a:xfrm>
            <a:off x="594360" y="3099815"/>
            <a:ext cx="10698480" cy="502920"/>
          </a:xfrm>
          <a:prstGeom prst="roundRect">
            <a:avLst/>
          </a:prstGeom>
          <a:solidFill>
            <a:srgbClr val="FFFFFF"/>
          </a:solidFill>
          <a:ln>
            <a:solidFill>
              <a:srgbClr val="D8D1C3"/>
            </a:solidFill>
          </a:ln>
        </p:spPr>
        <p:txBody>
          <a:bodyPr/>
          <a:lstStyle/>
          <a:p/>
        </p:txBody>
      </p:sp>
      <p:sp>
        <p:nvSpPr>
          <p:cNvPr id="2" name="text"/>
          <p:cNvSpPr txBox="1"/>
          <p:nvPr/>
        </p:nvSpPr>
        <p:spPr>
          <a:xfrm>
            <a:off x="749808" y="3236976"/>
            <a:ext cx="4572000" cy="201168"/>
          </a:xfrm>
          <a:prstGeom prst="rect">
            <a:avLst/>
          </a:prstGeom>
          <a:noFill/>
          <a:ln>
            <a:noFill/>
          </a:ln>
        </p:spPr>
        <p:txBody>
          <a:bodyPr wrap="square" lIns="0" tIns="0" rIns="0" bIns="0"/>
          <a:lstStyle/>
          <a:p>
            <a:pPr algn="l">
              <a:buNone/>
            </a:pPr>
            <a:r>
              <a:rPr lang="en-US" sz="1000">
                <a:solidFill>
                  <a:srgbClr val="172322"/>
                </a:solidFill>
              </a:rPr>
              <a:t>Detect Outage - Customer Impact Assessment</a:t>
            </a:r>
            <a:endParaRPr lang="en-US" sz="1000"/>
          </a:p>
        </p:txBody>
      </p:sp>
      <p:sp>
        <p:nvSpPr>
          <p:cNvPr id="2" name="text"/>
          <p:cNvSpPr txBox="1"/>
          <p:nvPr/>
        </p:nvSpPr>
        <p:spPr>
          <a:xfrm>
            <a:off x="5623560" y="3236976"/>
            <a:ext cx="1737360" cy="201168"/>
          </a:xfrm>
          <a:prstGeom prst="rect">
            <a:avLst/>
          </a:prstGeom>
          <a:noFill/>
          <a:ln>
            <a:noFill/>
          </a:ln>
        </p:spPr>
        <p:txBody>
          <a:bodyPr wrap="square" lIns="0" tIns="0" rIns="0" bIns="0"/>
          <a:lstStyle/>
          <a:p>
            <a:pPr algn="l">
              <a:buNone/>
            </a:pPr>
            <a:r>
              <a:rPr lang="en-US" sz="1000">
                <a:solidFill>
                  <a:srgbClr val="172322"/>
                </a:solidFill>
              </a:rPr>
              <a:t>Incident &amp; Reliability</a:t>
            </a:r>
            <a:endParaRPr lang="en-US" sz="1000"/>
          </a:p>
        </p:txBody>
      </p:sp>
      <p:sp>
        <p:nvSpPr>
          <p:cNvPr id="2" name="text"/>
          <p:cNvSpPr txBox="1"/>
          <p:nvPr/>
        </p:nvSpPr>
        <p:spPr>
          <a:xfrm>
            <a:off x="7726679" y="3236976"/>
            <a:ext cx="365760" cy="201168"/>
          </a:xfrm>
          <a:prstGeom prst="rect">
            <a:avLst/>
          </a:prstGeom>
          <a:noFill/>
          <a:ln>
            <a:noFill/>
          </a:ln>
        </p:spPr>
        <p:txBody>
          <a:bodyPr wrap="square" lIns="0" tIns="0" rIns="0" bIns="0"/>
          <a:lstStyle/>
          <a:p>
            <a:pPr algn="l">
              <a:buNone/>
            </a:pPr>
            <a:r>
              <a:rPr lang="en-US" sz="1100" b="1">
                <a:solidFill>
                  <a:srgbClr val="9B4D45"/>
                </a:solidFill>
              </a:rPr>
              <a:t>10</a:t>
            </a:r>
            <a:endParaRPr lang="en-US" sz="1100"/>
          </a:p>
        </p:txBody>
      </p:sp>
      <p:sp>
        <p:nvSpPr>
          <p:cNvPr id="2" name="text"/>
          <p:cNvSpPr txBox="1"/>
          <p:nvPr/>
        </p:nvSpPr>
        <p:spPr>
          <a:xfrm>
            <a:off x="8549640" y="3236976"/>
            <a:ext cx="2468880" cy="201168"/>
          </a:xfrm>
          <a:prstGeom prst="rect">
            <a:avLst/>
          </a:prstGeom>
          <a:noFill/>
          <a:ln>
            <a:noFill/>
          </a:ln>
        </p:spPr>
        <p:txBody>
          <a:bodyPr wrap="square" lIns="0" tIns="0" rIns="0" bIns="0"/>
          <a:lstStyle/>
          <a:p>
            <a:pPr algn="l">
              <a:buNone/>
            </a:pPr>
            <a:r>
              <a:rPr lang="en-US" sz="1000">
                <a:solidFill>
                  <a:srgbClr val="172322"/>
                </a:solidFill>
              </a:rPr>
              <a:t>Owner, tradeoff, customer impact</a:t>
            </a:r>
            <a:endParaRPr lang="en-US" sz="1000"/>
          </a:p>
        </p:txBody>
      </p:sp>
      <p:sp>
        <p:nvSpPr>
          <p:cNvPr id="1" name="shape"/>
          <p:cNvSpPr/>
          <p:nvPr/>
        </p:nvSpPr>
        <p:spPr>
          <a:xfrm>
            <a:off x="594360" y="3758184"/>
            <a:ext cx="10698480" cy="502920"/>
          </a:xfrm>
          <a:prstGeom prst="roundRect">
            <a:avLst/>
          </a:prstGeom>
          <a:solidFill>
            <a:srgbClr val="FFFFFF"/>
          </a:solidFill>
          <a:ln>
            <a:solidFill>
              <a:srgbClr val="D8D1C3"/>
            </a:solidFill>
          </a:ln>
        </p:spPr>
        <p:txBody>
          <a:bodyPr/>
          <a:lstStyle/>
          <a:p/>
        </p:txBody>
      </p:sp>
      <p:sp>
        <p:nvSpPr>
          <p:cNvPr id="2" name="text"/>
          <p:cNvSpPr txBox="1"/>
          <p:nvPr/>
        </p:nvSpPr>
        <p:spPr>
          <a:xfrm>
            <a:off x="749808" y="3895344"/>
            <a:ext cx="4572000" cy="201168"/>
          </a:xfrm>
          <a:prstGeom prst="rect">
            <a:avLst/>
          </a:prstGeom>
          <a:noFill/>
          <a:ln>
            <a:noFill/>
          </a:ln>
        </p:spPr>
        <p:txBody>
          <a:bodyPr wrap="square" lIns="0" tIns="0" rIns="0" bIns="0"/>
          <a:lstStyle/>
          <a:p>
            <a:pPr algn="l">
              <a:buNone/>
            </a:pPr>
            <a:r>
              <a:rPr lang="en-US" sz="1000">
                <a:solidFill>
                  <a:srgbClr val="172322"/>
                </a:solidFill>
              </a:rPr>
              <a:t>Detect Outage - Escalation Bridge</a:t>
            </a:r>
            <a:endParaRPr lang="en-US" sz="1000"/>
          </a:p>
        </p:txBody>
      </p:sp>
      <p:sp>
        <p:nvSpPr>
          <p:cNvPr id="2" name="text"/>
          <p:cNvSpPr txBox="1"/>
          <p:nvPr/>
        </p:nvSpPr>
        <p:spPr>
          <a:xfrm>
            <a:off x="5623560" y="3895344"/>
            <a:ext cx="1737360" cy="201168"/>
          </a:xfrm>
          <a:prstGeom prst="rect">
            <a:avLst/>
          </a:prstGeom>
          <a:noFill/>
          <a:ln>
            <a:noFill/>
          </a:ln>
        </p:spPr>
        <p:txBody>
          <a:bodyPr wrap="square" lIns="0" tIns="0" rIns="0" bIns="0"/>
          <a:lstStyle/>
          <a:p>
            <a:pPr algn="l">
              <a:buNone/>
            </a:pPr>
            <a:r>
              <a:rPr lang="en-US" sz="1000">
                <a:solidFill>
                  <a:srgbClr val="172322"/>
                </a:solidFill>
              </a:rPr>
              <a:t>Incident &amp; Reliability</a:t>
            </a:r>
            <a:endParaRPr lang="en-US" sz="1000"/>
          </a:p>
        </p:txBody>
      </p:sp>
      <p:sp>
        <p:nvSpPr>
          <p:cNvPr id="2" name="text"/>
          <p:cNvSpPr txBox="1"/>
          <p:nvPr/>
        </p:nvSpPr>
        <p:spPr>
          <a:xfrm>
            <a:off x="7726679" y="3895344"/>
            <a:ext cx="365760" cy="201168"/>
          </a:xfrm>
          <a:prstGeom prst="rect">
            <a:avLst/>
          </a:prstGeom>
          <a:noFill/>
          <a:ln>
            <a:noFill/>
          </a:ln>
        </p:spPr>
        <p:txBody>
          <a:bodyPr wrap="square" lIns="0" tIns="0" rIns="0" bIns="0"/>
          <a:lstStyle/>
          <a:p>
            <a:pPr algn="l">
              <a:buNone/>
            </a:pPr>
            <a:r>
              <a:rPr lang="en-US" sz="1100" b="1">
                <a:solidFill>
                  <a:srgbClr val="9B4D45"/>
                </a:solidFill>
              </a:rPr>
              <a:t>10</a:t>
            </a:r>
            <a:endParaRPr lang="en-US" sz="1100"/>
          </a:p>
        </p:txBody>
      </p:sp>
      <p:sp>
        <p:nvSpPr>
          <p:cNvPr id="2" name="text"/>
          <p:cNvSpPr txBox="1"/>
          <p:nvPr/>
        </p:nvSpPr>
        <p:spPr>
          <a:xfrm>
            <a:off x="8549640" y="3895344"/>
            <a:ext cx="2468880" cy="201168"/>
          </a:xfrm>
          <a:prstGeom prst="rect">
            <a:avLst/>
          </a:prstGeom>
          <a:noFill/>
          <a:ln>
            <a:noFill/>
          </a:ln>
        </p:spPr>
        <p:txBody>
          <a:bodyPr wrap="square" lIns="0" tIns="0" rIns="0" bIns="0"/>
          <a:lstStyle/>
          <a:p>
            <a:pPr algn="l">
              <a:buNone/>
            </a:pPr>
            <a:r>
              <a:rPr lang="en-US" sz="1000">
                <a:solidFill>
                  <a:srgbClr val="172322"/>
                </a:solidFill>
              </a:rPr>
              <a:t>Owner, tradeoff, customer impact</a:t>
            </a:r>
            <a:endParaRPr lang="en-US" sz="1000"/>
          </a:p>
        </p:txBody>
      </p:sp>
      <p:sp>
        <p:nvSpPr>
          <p:cNvPr id="1" name="shape"/>
          <p:cNvSpPr/>
          <p:nvPr/>
        </p:nvSpPr>
        <p:spPr>
          <a:xfrm>
            <a:off x="594360" y="4416552"/>
            <a:ext cx="10698480" cy="502920"/>
          </a:xfrm>
          <a:prstGeom prst="roundRect">
            <a:avLst/>
          </a:prstGeom>
          <a:solidFill>
            <a:srgbClr val="FFFFFF"/>
          </a:solidFill>
          <a:ln>
            <a:solidFill>
              <a:srgbClr val="D8D1C3"/>
            </a:solidFill>
          </a:ln>
        </p:spPr>
        <p:txBody>
          <a:bodyPr/>
          <a:lstStyle/>
          <a:p/>
        </p:txBody>
      </p:sp>
      <p:sp>
        <p:nvSpPr>
          <p:cNvPr id="2" name="text"/>
          <p:cNvSpPr txBox="1"/>
          <p:nvPr/>
        </p:nvSpPr>
        <p:spPr>
          <a:xfrm>
            <a:off x="749808" y="4553712"/>
            <a:ext cx="4572000" cy="201168"/>
          </a:xfrm>
          <a:prstGeom prst="rect">
            <a:avLst/>
          </a:prstGeom>
          <a:noFill/>
          <a:ln>
            <a:noFill/>
          </a:ln>
        </p:spPr>
        <p:txBody>
          <a:bodyPr wrap="square" lIns="0" tIns="0" rIns="0" bIns="0"/>
          <a:lstStyle/>
          <a:p>
            <a:pPr algn="l">
              <a:buNone/>
            </a:pPr>
            <a:r>
              <a:rPr lang="en-US" sz="1000">
                <a:solidFill>
                  <a:srgbClr val="172322"/>
                </a:solidFill>
              </a:rPr>
              <a:t>INCIDENT: Detect Pipeline Failure - War Room</a:t>
            </a:r>
            <a:endParaRPr lang="en-US" sz="1000"/>
          </a:p>
        </p:txBody>
      </p:sp>
      <p:sp>
        <p:nvSpPr>
          <p:cNvPr id="2" name="text"/>
          <p:cNvSpPr txBox="1"/>
          <p:nvPr/>
        </p:nvSpPr>
        <p:spPr>
          <a:xfrm>
            <a:off x="5623560" y="4553712"/>
            <a:ext cx="1737360" cy="201168"/>
          </a:xfrm>
          <a:prstGeom prst="rect">
            <a:avLst/>
          </a:prstGeom>
          <a:noFill/>
          <a:ln>
            <a:noFill/>
          </a:ln>
        </p:spPr>
        <p:txBody>
          <a:bodyPr wrap="square" lIns="0" tIns="0" rIns="0" bIns="0"/>
          <a:lstStyle/>
          <a:p>
            <a:pPr algn="l">
              <a:buNone/>
            </a:pPr>
            <a:r>
              <a:rPr lang="en-US" sz="1000">
                <a:solidFill>
                  <a:srgbClr val="172322"/>
                </a:solidFill>
              </a:rPr>
              <a:t>Incident &amp; Reliability</a:t>
            </a:r>
            <a:endParaRPr lang="en-US" sz="1000"/>
          </a:p>
        </p:txBody>
      </p:sp>
      <p:sp>
        <p:nvSpPr>
          <p:cNvPr id="2" name="text"/>
          <p:cNvSpPr txBox="1"/>
          <p:nvPr/>
        </p:nvSpPr>
        <p:spPr>
          <a:xfrm>
            <a:off x="7726679" y="4553712"/>
            <a:ext cx="365760" cy="201168"/>
          </a:xfrm>
          <a:prstGeom prst="rect">
            <a:avLst/>
          </a:prstGeom>
          <a:noFill/>
          <a:ln>
            <a:noFill/>
          </a:ln>
        </p:spPr>
        <p:txBody>
          <a:bodyPr wrap="square" lIns="0" tIns="0" rIns="0" bIns="0"/>
          <a:lstStyle/>
          <a:p>
            <a:pPr algn="l">
              <a:buNone/>
            </a:pPr>
            <a:r>
              <a:rPr lang="en-US" sz="1100" b="1">
                <a:solidFill>
                  <a:srgbClr val="9B4D45"/>
                </a:solidFill>
              </a:rPr>
              <a:t>10</a:t>
            </a:r>
            <a:endParaRPr lang="en-US" sz="1100"/>
          </a:p>
        </p:txBody>
      </p:sp>
      <p:sp>
        <p:nvSpPr>
          <p:cNvPr id="2" name="text"/>
          <p:cNvSpPr txBox="1"/>
          <p:nvPr/>
        </p:nvSpPr>
        <p:spPr>
          <a:xfrm>
            <a:off x="8549640" y="4553712"/>
            <a:ext cx="2468880" cy="201168"/>
          </a:xfrm>
          <a:prstGeom prst="rect">
            <a:avLst/>
          </a:prstGeom>
          <a:noFill/>
          <a:ln>
            <a:noFill/>
          </a:ln>
        </p:spPr>
        <p:txBody>
          <a:bodyPr wrap="square" lIns="0" tIns="0" rIns="0" bIns="0"/>
          <a:lstStyle/>
          <a:p>
            <a:pPr algn="l">
              <a:buNone/>
            </a:pPr>
            <a:r>
              <a:rPr lang="en-US" sz="1000">
                <a:solidFill>
                  <a:srgbClr val="172322"/>
                </a:solidFill>
              </a:rPr>
              <a:t>Owner, tradeoff, customer impact</a:t>
            </a:r>
            <a:endParaRPr lang="en-US" sz="1000"/>
          </a:p>
        </p:txBody>
      </p:sp>
      <p:sp>
        <p:nvSpPr>
          <p:cNvPr id="1" name="shape"/>
          <p:cNvSpPr/>
          <p:nvPr/>
        </p:nvSpPr>
        <p:spPr>
          <a:xfrm>
            <a:off x="594360" y="5074920"/>
            <a:ext cx="10698480" cy="502920"/>
          </a:xfrm>
          <a:prstGeom prst="roundRect">
            <a:avLst/>
          </a:prstGeom>
          <a:solidFill>
            <a:srgbClr val="FFFFFF"/>
          </a:solidFill>
          <a:ln>
            <a:solidFill>
              <a:srgbClr val="D8D1C3"/>
            </a:solidFill>
          </a:ln>
        </p:spPr>
        <p:txBody>
          <a:bodyPr/>
          <a:lstStyle/>
          <a:p/>
        </p:txBody>
      </p:sp>
      <p:sp>
        <p:nvSpPr>
          <p:cNvPr id="2" name="text"/>
          <p:cNvSpPr txBox="1"/>
          <p:nvPr/>
        </p:nvSpPr>
        <p:spPr>
          <a:xfrm>
            <a:off x="749808" y="5212079"/>
            <a:ext cx="4572000" cy="201168"/>
          </a:xfrm>
          <a:prstGeom prst="rect">
            <a:avLst/>
          </a:prstGeom>
          <a:noFill/>
          <a:ln>
            <a:noFill/>
          </a:ln>
        </p:spPr>
        <p:txBody>
          <a:bodyPr wrap="square" lIns="0" tIns="0" rIns="0" bIns="0"/>
          <a:lstStyle/>
          <a:p>
            <a:pPr algn="l">
              <a:buNone/>
            </a:pPr>
            <a:r>
              <a:rPr lang="en-US" sz="1000">
                <a:solidFill>
                  <a:srgbClr val="172322"/>
                </a:solidFill>
              </a:rPr>
              <a:t>URGENT: Cobalt Software - Aegis Detect Dashboard Down</a:t>
            </a:r>
            <a:endParaRPr lang="en-US" sz="1000"/>
          </a:p>
        </p:txBody>
      </p:sp>
      <p:sp>
        <p:nvSpPr>
          <p:cNvPr id="2" name="text"/>
          <p:cNvSpPr txBox="1"/>
          <p:nvPr/>
        </p:nvSpPr>
        <p:spPr>
          <a:xfrm>
            <a:off x="5623560" y="5212079"/>
            <a:ext cx="1737360" cy="201168"/>
          </a:xfrm>
          <a:prstGeom prst="rect">
            <a:avLst/>
          </a:prstGeom>
          <a:noFill/>
          <a:ln>
            <a:noFill/>
          </a:ln>
        </p:spPr>
        <p:txBody>
          <a:bodyPr wrap="square" lIns="0" tIns="0" rIns="0" bIns="0"/>
          <a:lstStyle/>
          <a:p>
            <a:pPr algn="l">
              <a:buNone/>
            </a:pPr>
            <a:r>
              <a:rPr lang="en-US" sz="1000">
                <a:solidFill>
                  <a:srgbClr val="172322"/>
                </a:solidFill>
              </a:rPr>
              <a:t>Incident &amp; Reliability</a:t>
            </a:r>
            <a:endParaRPr lang="en-US" sz="1000"/>
          </a:p>
        </p:txBody>
      </p:sp>
      <p:sp>
        <p:nvSpPr>
          <p:cNvPr id="2" name="text"/>
          <p:cNvSpPr txBox="1"/>
          <p:nvPr/>
        </p:nvSpPr>
        <p:spPr>
          <a:xfrm>
            <a:off x="7726679" y="5212079"/>
            <a:ext cx="365760" cy="201168"/>
          </a:xfrm>
          <a:prstGeom prst="rect">
            <a:avLst/>
          </a:prstGeom>
          <a:noFill/>
          <a:ln>
            <a:noFill/>
          </a:ln>
        </p:spPr>
        <p:txBody>
          <a:bodyPr wrap="square" lIns="0" tIns="0" rIns="0" bIns="0"/>
          <a:lstStyle/>
          <a:p>
            <a:pPr algn="l">
              <a:buNone/>
            </a:pPr>
            <a:r>
              <a:rPr lang="en-US" sz="1100" b="1">
                <a:solidFill>
                  <a:srgbClr val="9B4D45"/>
                </a:solidFill>
              </a:rPr>
              <a:t>10</a:t>
            </a:r>
            <a:endParaRPr lang="en-US" sz="1100"/>
          </a:p>
        </p:txBody>
      </p:sp>
      <p:sp>
        <p:nvSpPr>
          <p:cNvPr id="2" name="text"/>
          <p:cNvSpPr txBox="1"/>
          <p:nvPr/>
        </p:nvSpPr>
        <p:spPr>
          <a:xfrm>
            <a:off x="8549640" y="5212079"/>
            <a:ext cx="2468880" cy="201168"/>
          </a:xfrm>
          <a:prstGeom prst="rect">
            <a:avLst/>
          </a:prstGeom>
          <a:noFill/>
          <a:ln>
            <a:noFill/>
          </a:ln>
        </p:spPr>
        <p:txBody>
          <a:bodyPr wrap="square" lIns="0" tIns="0" rIns="0" bIns="0"/>
          <a:lstStyle/>
          <a:p>
            <a:pPr algn="l">
              <a:buNone/>
            </a:pPr>
            <a:r>
              <a:rPr lang="en-US" sz="1000">
                <a:solidFill>
                  <a:srgbClr val="172322"/>
                </a:solidFill>
              </a:rPr>
              <a:t>Owner, tradeoff, customer impact</a:t>
            </a:r>
            <a:endParaRPr lang="en-US" sz="1000"/>
          </a:p>
        </p:txBody>
      </p:sp>
      <p:sp>
        <p:nvSpPr>
          <p:cNvPr id="2" name="text"/>
          <p:cNvSpPr txBox="1"/>
          <p:nvPr/>
        </p:nvSpPr>
        <p:spPr>
          <a:xfrm>
            <a:off x="502920" y="6473952"/>
            <a:ext cx="8229600" cy="201168"/>
          </a:xfrm>
          <a:prstGeom prst="rect">
            <a:avLst/>
          </a:prstGeom>
          <a:noFill/>
          <a:ln>
            <a:noFill/>
          </a:ln>
        </p:spPr>
        <p:txBody>
          <a:bodyPr wrap="square" lIns="0" tIns="0" rIns="0" bIns="0"/>
          <a:lstStyle/>
          <a:p>
            <a:pPr algn="l">
              <a:buNone/>
            </a:pPr>
            <a:r>
              <a:rPr lang="en-US" sz="800">
                <a:solidFill>
                  <a:srgbClr val="66716A"/>
                </a:solidFill>
              </a:rPr>
              <a:t>Source: 100 provided transcript folders; generated by src/analyze_transcripts.py</a:t>
            </a:r>
            <a:endParaRPr lang="en-US" sz="8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0" name=""/>
        <p:cNvGrpSpPr/>
        <p:nvPr/>
      </p:nvGrpSpPr>
      <p:grpSpPr>
        <a:xfrm>
          <a:off x="0" y="0"/>
          <a:ext cx="0" cy="0"/>
          <a:chOff x="0" y="0"/>
          <a:chExt cx="0" cy="0"/>
        </a:xfrm>
      </p:grpSpPr>
      <p:sp>
        <p:nvSpPr>
          <p:cNvPr id="2" name="text"/>
          <p:cNvSpPr txBox="1"/>
          <p:nvPr/>
        </p:nvSpPr>
        <p:spPr>
          <a:xfrm>
            <a:off x="502920" y="310896"/>
            <a:ext cx="4114800" cy="256032"/>
          </a:xfrm>
          <a:prstGeom prst="rect">
            <a:avLst/>
          </a:prstGeom>
          <a:noFill/>
          <a:ln>
            <a:noFill/>
          </a:ln>
        </p:spPr>
        <p:txBody>
          <a:bodyPr wrap="square" lIns="0" tIns="0" rIns="0" bIns="0"/>
          <a:lstStyle/>
          <a:p>
            <a:pPr algn="l">
              <a:buNone/>
            </a:pPr>
            <a:r>
              <a:rPr lang="en-US" sz="1000" b="1">
                <a:solidFill>
                  <a:srgbClr val="2F6F73"/>
                </a:solidFill>
              </a:rPr>
              <a:t>TRANSCRIPT INTELLIGENCE</a:t>
            </a:r>
            <a:endParaRPr lang="en-US" sz="1000"/>
          </a:p>
        </p:txBody>
      </p:sp>
      <p:sp>
        <p:nvSpPr>
          <p:cNvPr id="2" name="text"/>
          <p:cNvSpPr txBox="1"/>
          <p:nvPr/>
        </p:nvSpPr>
        <p:spPr>
          <a:xfrm>
            <a:off x="502920" y="658368"/>
            <a:ext cx="10698480" cy="685800"/>
          </a:xfrm>
          <a:prstGeom prst="rect">
            <a:avLst/>
          </a:prstGeom>
          <a:noFill/>
          <a:ln>
            <a:noFill/>
          </a:ln>
        </p:spPr>
        <p:txBody>
          <a:bodyPr wrap="square" lIns="0" tIns="0" rIns="0" bIns="0"/>
          <a:lstStyle/>
          <a:p>
            <a:pPr algn="l">
              <a:buNone/>
            </a:pPr>
            <a:r>
              <a:rPr lang="en-US" sz="2800" b="1">
                <a:solidFill>
                  <a:srgbClr val="172322"/>
                </a:solidFill>
              </a:rPr>
              <a:t>Three insight products would make this valuable beyond analysis</a:t>
            </a:r>
            <a:endParaRPr lang="en-US" sz="2800"/>
          </a:p>
        </p:txBody>
      </p:sp>
      <p:sp>
        <p:nvSpPr>
          <p:cNvPr id="1" name="shape"/>
          <p:cNvSpPr/>
          <p:nvPr/>
        </p:nvSpPr>
        <p:spPr>
          <a:xfrm>
            <a:off x="685800" y="1645920"/>
            <a:ext cx="3337560" cy="1097280"/>
          </a:xfrm>
          <a:prstGeom prst="roundRect">
            <a:avLst/>
          </a:prstGeom>
          <a:solidFill>
            <a:srgbClr val="FFFFFF"/>
          </a:solidFill>
          <a:ln>
            <a:solidFill>
              <a:srgbClr val="D8D1C3"/>
            </a:solidFill>
          </a:ln>
        </p:spPr>
        <p:txBody>
          <a:bodyPr/>
          <a:lstStyle/>
          <a:p/>
        </p:txBody>
      </p:sp>
      <p:sp>
        <p:nvSpPr>
          <p:cNvPr id="2" name="text"/>
          <p:cNvSpPr txBox="1"/>
          <p:nvPr/>
        </p:nvSpPr>
        <p:spPr>
          <a:xfrm>
            <a:off x="886968" y="1828800"/>
            <a:ext cx="1097280" cy="365760"/>
          </a:xfrm>
          <a:prstGeom prst="rect">
            <a:avLst/>
          </a:prstGeom>
          <a:noFill/>
          <a:ln>
            <a:noFill/>
          </a:ln>
        </p:spPr>
        <p:txBody>
          <a:bodyPr wrap="square" lIns="0" tIns="0" rIns="0" bIns="0"/>
          <a:lstStyle/>
          <a:p>
            <a:pPr algn="l">
              <a:buNone/>
            </a:pPr>
            <a:r>
              <a:rPr lang="en-US" sz="2400" b="1">
                <a:solidFill>
                  <a:srgbClr val="2F6F73"/>
                </a:solidFill>
              </a:rPr>
              <a:t>1</a:t>
            </a:r>
            <a:endParaRPr lang="en-US" sz="2400"/>
          </a:p>
        </p:txBody>
      </p:sp>
      <p:sp>
        <p:nvSpPr>
          <p:cNvPr id="2" name="text"/>
          <p:cNvSpPr txBox="1"/>
          <p:nvPr/>
        </p:nvSpPr>
        <p:spPr>
          <a:xfrm>
            <a:off x="1920240" y="1828800"/>
            <a:ext cx="1828800" cy="219456"/>
          </a:xfrm>
          <a:prstGeom prst="rect">
            <a:avLst/>
          </a:prstGeom>
          <a:noFill/>
          <a:ln>
            <a:noFill/>
          </a:ln>
        </p:spPr>
        <p:txBody>
          <a:bodyPr wrap="square" lIns="0" tIns="0" rIns="0" bIns="0"/>
          <a:lstStyle/>
          <a:p>
            <a:pPr algn="l">
              <a:buNone/>
            </a:pPr>
            <a:r>
              <a:rPr lang="en-US" sz="1000" b="1">
                <a:solidFill>
                  <a:srgbClr val="66716A"/>
                </a:solidFill>
              </a:rPr>
              <a:t>Sales / CS</a:t>
            </a:r>
            <a:endParaRPr lang="en-US" sz="1000"/>
          </a:p>
        </p:txBody>
      </p:sp>
      <p:sp>
        <p:nvSpPr>
          <p:cNvPr id="2" name="text"/>
          <p:cNvSpPr txBox="1"/>
          <p:nvPr/>
        </p:nvSpPr>
        <p:spPr>
          <a:xfrm>
            <a:off x="1920240" y="2103120"/>
            <a:ext cx="1828800" cy="384048"/>
          </a:xfrm>
          <a:prstGeom prst="rect">
            <a:avLst/>
          </a:prstGeom>
          <a:noFill/>
          <a:ln>
            <a:noFill/>
          </a:ln>
        </p:spPr>
        <p:txBody>
          <a:bodyPr wrap="square" lIns="0" tIns="0" rIns="0" bIns="0"/>
          <a:lstStyle/>
          <a:p>
            <a:pPr algn="l">
              <a:buNone/>
            </a:pPr>
            <a:r>
              <a:rPr lang="en-US" sz="1100">
                <a:solidFill>
                  <a:srgbClr val="172322"/>
                </a:solidFill>
              </a:rPr>
              <a:t>Revenue risk heatmap: renewal language + competitor mentions + negative sentiment.</a:t>
            </a:r>
            <a:endParaRPr lang="en-US" sz="1100"/>
          </a:p>
        </p:txBody>
      </p:sp>
      <p:sp>
        <p:nvSpPr>
          <p:cNvPr id="1" name="shape"/>
          <p:cNvSpPr/>
          <p:nvPr/>
        </p:nvSpPr>
        <p:spPr>
          <a:xfrm>
            <a:off x="4434840" y="1645920"/>
            <a:ext cx="3337560" cy="1097280"/>
          </a:xfrm>
          <a:prstGeom prst="roundRect">
            <a:avLst/>
          </a:prstGeom>
          <a:solidFill>
            <a:srgbClr val="FFFFFF"/>
          </a:solidFill>
          <a:ln>
            <a:solidFill>
              <a:srgbClr val="D8D1C3"/>
            </a:solidFill>
          </a:ln>
        </p:spPr>
        <p:txBody>
          <a:bodyPr/>
          <a:lstStyle/>
          <a:p/>
        </p:txBody>
      </p:sp>
      <p:sp>
        <p:nvSpPr>
          <p:cNvPr id="2" name="text"/>
          <p:cNvSpPr txBox="1"/>
          <p:nvPr/>
        </p:nvSpPr>
        <p:spPr>
          <a:xfrm>
            <a:off x="4636007" y="1828800"/>
            <a:ext cx="1097280" cy="365760"/>
          </a:xfrm>
          <a:prstGeom prst="rect">
            <a:avLst/>
          </a:prstGeom>
          <a:noFill/>
          <a:ln>
            <a:noFill/>
          </a:ln>
        </p:spPr>
        <p:txBody>
          <a:bodyPr wrap="square" lIns="0" tIns="0" rIns="0" bIns="0"/>
          <a:lstStyle/>
          <a:p>
            <a:pPr algn="l">
              <a:buNone/>
            </a:pPr>
            <a:r>
              <a:rPr lang="en-US" sz="2400" b="1">
                <a:solidFill>
                  <a:srgbClr val="C48A2C"/>
                </a:solidFill>
              </a:rPr>
              <a:t>2</a:t>
            </a:r>
            <a:endParaRPr lang="en-US" sz="2400"/>
          </a:p>
        </p:txBody>
      </p:sp>
      <p:sp>
        <p:nvSpPr>
          <p:cNvPr id="2" name="text"/>
          <p:cNvSpPr txBox="1"/>
          <p:nvPr/>
        </p:nvSpPr>
        <p:spPr>
          <a:xfrm>
            <a:off x="5669279" y="1828800"/>
            <a:ext cx="1828800" cy="219456"/>
          </a:xfrm>
          <a:prstGeom prst="rect">
            <a:avLst/>
          </a:prstGeom>
          <a:noFill/>
          <a:ln>
            <a:noFill/>
          </a:ln>
        </p:spPr>
        <p:txBody>
          <a:bodyPr wrap="square" lIns="0" tIns="0" rIns="0" bIns="0"/>
          <a:lstStyle/>
          <a:p>
            <a:pPr algn="l">
              <a:buNone/>
            </a:pPr>
            <a:r>
              <a:rPr lang="en-US" sz="1000" b="1">
                <a:solidFill>
                  <a:srgbClr val="66716A"/>
                </a:solidFill>
              </a:rPr>
              <a:t>Product</a:t>
            </a:r>
            <a:endParaRPr lang="en-US" sz="1000"/>
          </a:p>
        </p:txBody>
      </p:sp>
      <p:sp>
        <p:nvSpPr>
          <p:cNvPr id="2" name="text"/>
          <p:cNvSpPr txBox="1"/>
          <p:nvPr/>
        </p:nvSpPr>
        <p:spPr>
          <a:xfrm>
            <a:off x="5669279" y="2103120"/>
            <a:ext cx="1828800" cy="384048"/>
          </a:xfrm>
          <a:prstGeom prst="rect">
            <a:avLst/>
          </a:prstGeom>
          <a:noFill/>
          <a:ln>
            <a:noFill/>
          </a:ln>
        </p:spPr>
        <p:txBody>
          <a:bodyPr wrap="square" lIns="0" tIns="0" rIns="0" bIns="0"/>
          <a:lstStyle/>
          <a:p>
            <a:pPr algn="l">
              <a:buNone/>
            </a:pPr>
            <a:r>
              <a:rPr lang="en-US" sz="1100">
                <a:solidFill>
                  <a:srgbClr val="172322"/>
                </a:solidFill>
              </a:rPr>
              <a:t>Product gap backlog: repeated pain points with quotes, accounts, and urgency.</a:t>
            </a:r>
            <a:endParaRPr lang="en-US" sz="1100"/>
          </a:p>
        </p:txBody>
      </p:sp>
      <p:sp>
        <p:nvSpPr>
          <p:cNvPr id="1" name="shape"/>
          <p:cNvSpPr/>
          <p:nvPr/>
        </p:nvSpPr>
        <p:spPr>
          <a:xfrm>
            <a:off x="8183879" y="1645920"/>
            <a:ext cx="3337560" cy="1097280"/>
          </a:xfrm>
          <a:prstGeom prst="roundRect">
            <a:avLst/>
          </a:prstGeom>
          <a:solidFill>
            <a:srgbClr val="FFFFFF"/>
          </a:solidFill>
          <a:ln>
            <a:solidFill>
              <a:srgbClr val="D8D1C3"/>
            </a:solidFill>
          </a:ln>
        </p:spPr>
        <p:txBody>
          <a:bodyPr/>
          <a:lstStyle/>
          <a:p/>
        </p:txBody>
      </p:sp>
      <p:sp>
        <p:nvSpPr>
          <p:cNvPr id="2" name="text"/>
          <p:cNvSpPr txBox="1"/>
          <p:nvPr/>
        </p:nvSpPr>
        <p:spPr>
          <a:xfrm>
            <a:off x="8385048" y="1828800"/>
            <a:ext cx="1097280" cy="365760"/>
          </a:xfrm>
          <a:prstGeom prst="rect">
            <a:avLst/>
          </a:prstGeom>
          <a:noFill/>
          <a:ln>
            <a:noFill/>
          </a:ln>
        </p:spPr>
        <p:txBody>
          <a:bodyPr wrap="square" lIns="0" tIns="0" rIns="0" bIns="0"/>
          <a:lstStyle/>
          <a:p>
            <a:pPr algn="l">
              <a:buNone/>
            </a:pPr>
            <a:r>
              <a:rPr lang="en-US" sz="2400" b="1">
                <a:solidFill>
                  <a:srgbClr val="4F7B58"/>
                </a:solidFill>
              </a:rPr>
              <a:t>3</a:t>
            </a:r>
            <a:endParaRPr lang="en-US" sz="2400"/>
          </a:p>
        </p:txBody>
      </p:sp>
      <p:sp>
        <p:nvSpPr>
          <p:cNvPr id="2" name="text"/>
          <p:cNvSpPr txBox="1"/>
          <p:nvPr/>
        </p:nvSpPr>
        <p:spPr>
          <a:xfrm>
            <a:off x="9418319" y="1828800"/>
            <a:ext cx="1828800" cy="219456"/>
          </a:xfrm>
          <a:prstGeom prst="rect">
            <a:avLst/>
          </a:prstGeom>
          <a:noFill/>
          <a:ln>
            <a:noFill/>
          </a:ln>
        </p:spPr>
        <p:txBody>
          <a:bodyPr wrap="square" lIns="0" tIns="0" rIns="0" bIns="0"/>
          <a:lstStyle/>
          <a:p>
            <a:pPr algn="l">
              <a:buNone/>
            </a:pPr>
            <a:r>
              <a:rPr lang="en-US" sz="1000" b="1">
                <a:solidFill>
                  <a:srgbClr val="66716A"/>
                </a:solidFill>
              </a:rPr>
              <a:t>Engineering</a:t>
            </a:r>
            <a:endParaRPr lang="en-US" sz="1000"/>
          </a:p>
        </p:txBody>
      </p:sp>
      <p:sp>
        <p:nvSpPr>
          <p:cNvPr id="2" name="text"/>
          <p:cNvSpPr txBox="1"/>
          <p:nvPr/>
        </p:nvSpPr>
        <p:spPr>
          <a:xfrm>
            <a:off x="9418319" y="2103120"/>
            <a:ext cx="1828800" cy="384048"/>
          </a:xfrm>
          <a:prstGeom prst="rect">
            <a:avLst/>
          </a:prstGeom>
          <a:noFill/>
          <a:ln>
            <a:noFill/>
          </a:ln>
        </p:spPr>
        <p:txBody>
          <a:bodyPr wrap="square" lIns="0" tIns="0" rIns="0" bIns="0"/>
          <a:lstStyle/>
          <a:p>
            <a:pPr algn="l">
              <a:buNone/>
            </a:pPr>
            <a:r>
              <a:rPr lang="en-US" sz="1100">
                <a:solidFill>
                  <a:srgbClr val="172322"/>
                </a:solidFill>
              </a:rPr>
              <a:t>Incident learning loop: connect support pain to post-incident and sprint-planning follow-through.</a:t>
            </a:r>
            <a:endParaRPr lang="en-US" sz="1100"/>
          </a:p>
        </p:txBody>
      </p:sp>
      <p:sp>
        <p:nvSpPr>
          <p:cNvPr id="2" name="text"/>
          <p:cNvSpPr txBox="1"/>
          <p:nvPr/>
        </p:nvSpPr>
        <p:spPr>
          <a:xfrm>
            <a:off x="914400" y="3840480"/>
            <a:ext cx="9875520" cy="822960"/>
          </a:xfrm>
          <a:prstGeom prst="rect">
            <a:avLst/>
          </a:prstGeom>
          <a:noFill/>
          <a:ln>
            <a:noFill/>
          </a:ln>
        </p:spPr>
        <p:txBody>
          <a:bodyPr wrap="square" lIns="0" tIns="0" rIns="0" bIns="0"/>
          <a:lstStyle/>
          <a:p>
            <a:pPr algn="ctr">
              <a:buNone/>
            </a:pPr>
            <a:r>
              <a:rPr lang="en-US" sz="2200" b="1">
                <a:solidFill>
                  <a:srgbClr val="172322"/>
                </a:solidFill>
              </a:rPr>
              <a:t>These are stakeholder workflows, not charts. The product should help each leader decide what to do next and where to look for evidence.</a:t>
            </a:r>
            <a:endParaRPr lang="en-US" sz="2200"/>
          </a:p>
        </p:txBody>
      </p:sp>
      <p:sp>
        <p:nvSpPr>
          <p:cNvPr id="2" name="text"/>
          <p:cNvSpPr txBox="1"/>
          <p:nvPr/>
        </p:nvSpPr>
        <p:spPr>
          <a:xfrm>
            <a:off x="502920" y="6473952"/>
            <a:ext cx="8229600" cy="201168"/>
          </a:xfrm>
          <a:prstGeom prst="rect">
            <a:avLst/>
          </a:prstGeom>
          <a:noFill/>
          <a:ln>
            <a:noFill/>
          </a:ln>
        </p:spPr>
        <p:txBody>
          <a:bodyPr wrap="square" lIns="0" tIns="0" rIns="0" bIns="0"/>
          <a:lstStyle/>
          <a:p>
            <a:pPr algn="l">
              <a:buNone/>
            </a:pPr>
            <a:r>
              <a:rPr lang="en-US" sz="800">
                <a:solidFill>
                  <a:srgbClr val="66716A"/>
                </a:solidFill>
              </a:rPr>
              <a:t>Source: 100 provided transcript folders; generated by src/analyze_transcripts.py</a:t>
            </a:r>
            <a:endParaRPr lang="en-US" sz="8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0" name=""/>
        <p:cNvGrpSpPr/>
        <p:nvPr/>
      </p:nvGrpSpPr>
      <p:grpSpPr>
        <a:xfrm>
          <a:off x="0" y="0"/>
          <a:ext cx="0" cy="0"/>
          <a:chOff x="0" y="0"/>
          <a:chExt cx="0" cy="0"/>
        </a:xfrm>
      </p:grpSpPr>
      <p:sp>
        <p:nvSpPr>
          <p:cNvPr id="2" name="text"/>
          <p:cNvSpPr txBox="1"/>
          <p:nvPr/>
        </p:nvSpPr>
        <p:spPr>
          <a:xfrm>
            <a:off x="502920" y="310896"/>
            <a:ext cx="4114800" cy="256032"/>
          </a:xfrm>
          <a:prstGeom prst="rect">
            <a:avLst/>
          </a:prstGeom>
          <a:noFill/>
          <a:ln>
            <a:noFill/>
          </a:ln>
        </p:spPr>
        <p:txBody>
          <a:bodyPr wrap="square" lIns="0" tIns="0" rIns="0" bIns="0"/>
          <a:lstStyle/>
          <a:p>
            <a:pPr algn="l">
              <a:buNone/>
            </a:pPr>
            <a:r>
              <a:rPr lang="en-US" sz="1000" b="1">
                <a:solidFill>
                  <a:srgbClr val="2F6F73"/>
                </a:solidFill>
              </a:rPr>
              <a:t>TRANSCRIPT INTELLIGENCE</a:t>
            </a:r>
            <a:endParaRPr lang="en-US" sz="1000"/>
          </a:p>
        </p:txBody>
      </p:sp>
      <p:sp>
        <p:nvSpPr>
          <p:cNvPr id="2" name="text"/>
          <p:cNvSpPr txBox="1"/>
          <p:nvPr/>
        </p:nvSpPr>
        <p:spPr>
          <a:xfrm>
            <a:off x="502920" y="658368"/>
            <a:ext cx="10698480" cy="685800"/>
          </a:xfrm>
          <a:prstGeom prst="rect">
            <a:avLst/>
          </a:prstGeom>
          <a:noFill/>
          <a:ln>
            <a:noFill/>
          </a:ln>
        </p:spPr>
        <p:txBody>
          <a:bodyPr wrap="square" lIns="0" tIns="0" rIns="0" bIns="0"/>
          <a:lstStyle/>
          <a:p>
            <a:pPr algn="l">
              <a:buNone/>
            </a:pPr>
            <a:r>
              <a:rPr lang="en-US" sz="2800" b="1">
                <a:solidFill>
                  <a:srgbClr val="172322"/>
                </a:solidFill>
              </a:rPr>
              <a:t>Recommended next build</a:t>
            </a:r>
            <a:endParaRPr lang="en-US" sz="2800"/>
          </a:p>
        </p:txBody>
      </p:sp>
      <p:sp>
        <p:nvSpPr>
          <p:cNvPr id="2" name="text"/>
          <p:cNvSpPr txBox="1"/>
          <p:nvPr/>
        </p:nvSpPr>
        <p:spPr>
          <a:xfrm>
            <a:off x="822960" y="1691640"/>
            <a:ext cx="5852160" cy="2194560"/>
          </a:xfrm>
          <a:prstGeom prst="rect">
            <a:avLst/>
          </a:prstGeom>
          <a:noFill/>
          <a:ln>
            <a:noFill/>
          </a:ln>
        </p:spPr>
        <p:txBody>
          <a:bodyPr wrap="square" lIns="0" tIns="0" rIns="0" bIns="0"/>
          <a:lstStyle/>
          <a:p>
            <a:pPr algn="l" marL="285750" indent="-171450">
              <a:buChar char="•"/>
            </a:pPr>
            <a:r>
              <a:rPr lang="en-US" sz="1800">
                <a:solidFill>
                  <a:srgbClr val="172322"/>
                </a:solidFill>
              </a:rPr>
              <a:t>Ship a theme and risk dashboard for Detect reliability first.</a:t>
            </a:r>
            <a:endParaRPr lang="en-US" sz="1800"/>
          </a:p>
          <a:p>
            <a:pPr algn="l" marL="285750" indent="-171450">
              <a:buChar char="•"/>
            </a:pPr>
            <a:r>
              <a:rPr lang="en-US" sz="1800">
                <a:solidFill>
                  <a:srgbClr val="172322"/>
                </a:solidFill>
              </a:rPr>
              <a:t>Add account-level revenue risk overlays for renewal and competitive calls.</a:t>
            </a:r>
            <a:endParaRPr lang="en-US" sz="1800"/>
          </a:p>
          <a:p>
            <a:pPr algn="l" marL="285750" indent="-171450">
              <a:buChar char="•"/>
            </a:pPr>
            <a:r>
              <a:rPr lang="en-US" sz="1800">
                <a:solidFill>
                  <a:srgbClr val="172322"/>
                </a:solidFill>
              </a:rPr>
              <a:t>Add owner extraction so action items become trackable workflow, not static notes.</a:t>
            </a:r>
            <a:endParaRPr lang="en-US" sz="1800"/>
          </a:p>
          <a:p>
            <a:pPr algn="l" marL="285750" indent="-171450">
              <a:buChar char="•"/>
            </a:pPr>
            <a:r>
              <a:rPr lang="en-US" sz="1800">
                <a:solidFill>
                  <a:srgbClr val="172322"/>
                </a:solidFill>
              </a:rPr>
              <a:t>Upgrade classifier with embeddings or LLM labels, keeping the rule layer as explainable QA.</a:t>
            </a:r>
            <a:endParaRPr lang="en-US" sz="1800"/>
          </a:p>
        </p:txBody>
      </p:sp>
      <p:sp>
        <p:nvSpPr>
          <p:cNvPr id="1" name="shape"/>
          <p:cNvSpPr/>
          <p:nvPr/>
        </p:nvSpPr>
        <p:spPr>
          <a:xfrm>
            <a:off x="7315200" y="1645920"/>
            <a:ext cx="3291840" cy="3108960"/>
          </a:xfrm>
          <a:prstGeom prst="roundRect">
            <a:avLst/>
          </a:prstGeom>
          <a:solidFill>
            <a:srgbClr val="FFFFFF"/>
          </a:solidFill>
          <a:ln>
            <a:solidFill>
              <a:srgbClr val="D8D1C3"/>
            </a:solidFill>
          </a:ln>
        </p:spPr>
        <p:txBody>
          <a:bodyPr/>
          <a:lstStyle/>
          <a:p/>
        </p:txBody>
      </p:sp>
      <p:sp>
        <p:nvSpPr>
          <p:cNvPr id="2" name="text"/>
          <p:cNvSpPr txBox="1"/>
          <p:nvPr/>
        </p:nvSpPr>
        <p:spPr>
          <a:xfrm>
            <a:off x="7635240" y="1920240"/>
            <a:ext cx="2011680" cy="274320"/>
          </a:xfrm>
          <a:prstGeom prst="rect">
            <a:avLst/>
          </a:prstGeom>
          <a:noFill/>
          <a:ln>
            <a:noFill/>
          </a:ln>
        </p:spPr>
        <p:txBody>
          <a:bodyPr wrap="square" lIns="0" tIns="0" rIns="0" bIns="0"/>
          <a:lstStyle/>
          <a:p>
            <a:pPr algn="l">
              <a:buNone/>
            </a:pPr>
            <a:r>
              <a:rPr lang="en-US" sz="1800" b="1">
                <a:solidFill>
                  <a:srgbClr val="172322"/>
                </a:solidFill>
              </a:rPr>
              <a:t>Demo path</a:t>
            </a:r>
            <a:endParaRPr lang="en-US" sz="1800"/>
          </a:p>
        </p:txBody>
      </p:sp>
      <p:sp>
        <p:nvSpPr>
          <p:cNvPr id="2" name="text"/>
          <p:cNvSpPr txBox="1"/>
          <p:nvPr/>
        </p:nvSpPr>
        <p:spPr>
          <a:xfrm>
            <a:off x="7635240" y="2423160"/>
            <a:ext cx="2560320" cy="1554480"/>
          </a:xfrm>
          <a:prstGeom prst="rect">
            <a:avLst/>
          </a:prstGeom>
          <a:noFill/>
          <a:ln>
            <a:noFill/>
          </a:ln>
        </p:spPr>
        <p:txBody>
          <a:bodyPr wrap="square" lIns="0" tIns="0" rIns="0" bIns="0"/>
          <a:lstStyle/>
          <a:p>
            <a:pPr algn="l">
              <a:buNone/>
            </a:pPr>
            <a:r>
              <a:rPr lang="en-US" sz="1500">
                <a:solidFill>
                  <a:srgbClr val="172322"/>
                </a:solidFill>
              </a:rPr>
              <a:t>1. Run src/analyze_transcripts.py</a:t>
            </a:r>
            <a:endParaRPr lang="en-US" sz="1500"/>
          </a:p>
          <a:p>
            <a:pPr algn="l">
              <a:buNone/>
            </a:pPr>
            <a:r>
              <a:rPr lang="en-US" sz="1500">
                <a:solidFill>
                  <a:srgbClr val="172322"/>
                </a:solidFill>
              </a:rPr>
              <a:t>2. Open outputs/dashboard.html</a:t>
            </a:r>
            <a:endParaRPr lang="en-US" sz="1500"/>
          </a:p>
          <a:p>
            <a:pPr algn="l">
              <a:buNone/>
            </a:pPr>
            <a:r>
              <a:rPr lang="en-US" sz="1500">
                <a:solidFill>
                  <a:srgbClr val="172322"/>
                </a:solidFill>
              </a:rPr>
              <a:t>3. Review analysis_report.md</a:t>
            </a:r>
            <a:endParaRPr lang="en-US" sz="1500"/>
          </a:p>
          <a:p>
            <a:pPr algn="l">
              <a:buNone/>
            </a:pPr>
            <a:r>
              <a:rPr lang="en-US" sz="1500">
                <a:solidFill>
                  <a:srgbClr val="172322"/>
                </a:solidFill>
              </a:rPr>
              <a:t>4. Walk through this deck</a:t>
            </a:r>
            <a:endParaRPr lang="en-US" sz="1500"/>
          </a:p>
          <a:p>
            <a:pPr algn="l">
              <a:buNone/>
            </a:pPr>
            <a:r>
              <a:rPr lang="en-US" sz="1500">
                <a:solidFill>
                  <a:srgbClr val="172322"/>
                </a:solidFill>
              </a:rPr>
              <a:t>5. Show highest-risk CSV rows</a:t>
            </a:r>
            <a:endParaRPr lang="en-US" sz="1500"/>
          </a:p>
        </p:txBody>
      </p:sp>
      <p:sp>
        <p:nvSpPr>
          <p:cNvPr id="2" name="text"/>
          <p:cNvSpPr txBox="1"/>
          <p:nvPr/>
        </p:nvSpPr>
        <p:spPr>
          <a:xfrm>
            <a:off x="502920" y="6473952"/>
            <a:ext cx="8229600" cy="201168"/>
          </a:xfrm>
          <a:prstGeom prst="rect">
            <a:avLst/>
          </a:prstGeom>
          <a:noFill/>
          <a:ln>
            <a:noFill/>
          </a:ln>
        </p:spPr>
        <p:txBody>
          <a:bodyPr wrap="square" lIns="0" tIns="0" rIns="0" bIns="0"/>
          <a:lstStyle/>
          <a:p>
            <a:pPr algn="l">
              <a:buNone/>
            </a:pPr>
            <a:r>
              <a:rPr lang="en-US" sz="800">
                <a:solidFill>
                  <a:srgbClr val="66716A"/>
                </a:solidFill>
              </a:rPr>
              <a:t>Source: 100 provided transcript folders; generated by src/analyze_transcripts.py</a:t>
            </a:r>
            <a:endParaRPr lang="en-US" sz="800"/>
          </a:p>
        </p:txBody>
      </p:sp>
    </p:spTree>
  </p:cSld>
  <p:clrMapOvr>
    <a:masterClrMapping/>
  </p:clrMapOvr>
</p:sld>
</file>