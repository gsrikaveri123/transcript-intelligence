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30"/>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C18A2E"/>
          </a:solidFill>
          <a:ln w="12700">
            <a:solidFill>
              <a:srgbClr val="333333">
                <a:alpha val="0"/>
              </a:srgbClr>
            </a:solidFill>
            <a:prstDash val="solid"/>
          </a:ln>
        </p:spPr>
      </p:sp>
      <p:sp>
        <p:nvSpPr>
          <p:cNvPr id="3" name="Shape 1"/>
          <p:cNvSpPr/>
          <p:nvPr/>
        </p:nvSpPr>
        <p:spPr>
          <a:xfrm>
            <a:off x="8321040" y="0"/>
            <a:ext cx="3886200" cy="6858000"/>
          </a:xfrm>
          <a:prstGeom prst="rect">
            <a:avLst/>
          </a:prstGeom>
          <a:solidFill>
            <a:srgbClr val="234542"/>
          </a:solidFill>
          <a:ln w="12700">
            <a:solidFill>
              <a:srgbClr val="333333">
                <a:alpha val="0"/>
              </a:srgbClr>
            </a:solidFill>
            <a:prstDash val="solid"/>
          </a:ln>
        </p:spPr>
      </p:sp>
      <p:sp>
        <p:nvSpPr>
          <p:cNvPr id="4" name="Shape 2"/>
          <p:cNvSpPr/>
          <p:nvPr/>
        </p:nvSpPr>
        <p:spPr>
          <a:xfrm>
            <a:off x="7635240" y="365760"/>
            <a:ext cx="3749040" cy="3749040"/>
          </a:xfrm>
          <a:prstGeom prst="arc">
            <a:avLst/>
          </a:prstGeom>
          <a:noFill/>
          <a:ln w="25400">
            <a:solidFill>
              <a:srgbClr val="7FA9A6">
                <a:alpha val="65000"/>
              </a:srgbClr>
            </a:solidFill>
            <a:prstDash val="solid"/>
          </a:ln>
        </p:spPr>
      </p:sp>
      <p:sp>
        <p:nvSpPr>
          <p:cNvPr id="5" name="Shape 3"/>
          <p:cNvSpPr/>
          <p:nvPr/>
        </p:nvSpPr>
        <p:spPr>
          <a:xfrm>
            <a:off x="8366760" y="1143000"/>
            <a:ext cx="2880360" cy="2880360"/>
          </a:xfrm>
          <a:prstGeom prst="arc">
            <a:avLst/>
          </a:prstGeom>
          <a:noFill/>
          <a:ln w="25400">
            <a:solidFill>
              <a:srgbClr val="C18A2E">
                <a:alpha val="80000"/>
              </a:srgbClr>
            </a:solidFill>
            <a:prstDash val="solid"/>
          </a:ln>
        </p:spPr>
      </p:sp>
      <p:sp>
        <p:nvSpPr>
          <p:cNvPr id="6" name="Text 4"/>
          <p:cNvSpPr/>
          <p:nvPr/>
        </p:nvSpPr>
        <p:spPr>
          <a:xfrm>
            <a:off x="658368" y="685800"/>
            <a:ext cx="6217920" cy="132588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Transcript</a:t>
            </a:r>
            <a:endParaRPr lang="en-US" sz="4200" dirty="0"/>
          </a:p>
          <a:p>
            <a:pPr indent="0" marL="0">
              <a:buNone/>
            </a:pPr>
            <a:r>
              <a:rPr lang="en-US" sz="4200" b="1" dirty="0">
                <a:solidFill>
                  <a:srgbClr val="FFFFFF"/>
                </a:solidFill>
                <a:latin typeface="Aptos Display" pitchFamily="34" charset="0"/>
                <a:ea typeface="Aptos Display" pitchFamily="34" charset="-122"/>
                <a:cs typeface="Aptos Display" pitchFamily="34" charset="-120"/>
              </a:rPr>
              <a:t>Intelligence</a:t>
            </a:r>
            <a:endParaRPr lang="en-US" sz="4200" dirty="0"/>
          </a:p>
        </p:txBody>
      </p:sp>
      <p:sp>
        <p:nvSpPr>
          <p:cNvPr id="7" name="Text 5"/>
          <p:cNvSpPr/>
          <p:nvPr/>
        </p:nvSpPr>
        <p:spPr>
          <a:xfrm>
            <a:off x="694944" y="2212848"/>
            <a:ext cx="6217920" cy="384048"/>
          </a:xfrm>
          <a:prstGeom prst="rect">
            <a:avLst/>
          </a:prstGeom>
          <a:noFill/>
          <a:ln/>
        </p:spPr>
        <p:txBody>
          <a:bodyPr wrap="square" lIns="0" tIns="0" rIns="0" bIns="0" rtlCol="0" anchor="ctr">
            <a:normAutofit/>
          </a:bodyPr>
          <a:lstStyle/>
          <a:p>
            <a:pPr indent="0" marL="0">
              <a:buNone/>
            </a:pPr>
            <a:r>
              <a:rPr lang="en-US" sz="1800" dirty="0">
                <a:solidFill>
                  <a:srgbClr val="DCE9E5"/>
                </a:solidFill>
              </a:rPr>
              <a:t>A leadership-ready AI analysis of 100 enterprise call transcripts</a:t>
            </a:r>
            <a:endParaRPr lang="en-US" sz="1800" dirty="0"/>
          </a:p>
        </p:txBody>
      </p:sp>
      <p:sp>
        <p:nvSpPr>
          <p:cNvPr id="8" name="Text 6"/>
          <p:cNvSpPr/>
          <p:nvPr/>
        </p:nvSpPr>
        <p:spPr>
          <a:xfrm>
            <a:off x="694944" y="2697480"/>
            <a:ext cx="3017520" cy="256032"/>
          </a:xfrm>
          <a:prstGeom prst="rect">
            <a:avLst/>
          </a:prstGeom>
          <a:noFill/>
          <a:ln/>
        </p:spPr>
        <p:txBody>
          <a:bodyPr wrap="square" lIns="0" tIns="0" rIns="0" bIns="0" rtlCol="0" anchor="ctr"/>
          <a:lstStyle/>
          <a:p>
            <a:pPr indent="0" marL="0">
              <a:buNone/>
            </a:pPr>
            <a:r>
              <a:rPr lang="en-US" sz="1100" b="1" dirty="0">
                <a:solidFill>
                  <a:srgbClr val="C18A2E"/>
                </a:solidFill>
              </a:rPr>
              <a:t>Prepared by Srikaveri Gude</a:t>
            </a:r>
            <a:endParaRPr lang="en-US" sz="1100" dirty="0"/>
          </a:p>
        </p:txBody>
      </p:sp>
      <p:sp>
        <p:nvSpPr>
          <p:cNvPr id="9" name="Shape 7"/>
          <p:cNvSpPr/>
          <p:nvPr/>
        </p:nvSpPr>
        <p:spPr>
          <a:xfrm>
            <a:off x="694944" y="2880360"/>
            <a:ext cx="1691640" cy="310896"/>
          </a:xfrm>
          <a:prstGeom prst="roundRect">
            <a:avLst>
              <a:gd name="adj" fmla="val 17647"/>
            </a:avLst>
          </a:prstGeom>
          <a:solidFill>
            <a:srgbClr val="236A70">
              <a:alpha val="95000"/>
            </a:srgbClr>
          </a:solidFill>
          <a:ln w="12700">
            <a:solidFill>
              <a:srgbClr val="236A70">
                <a:alpha val="0"/>
              </a:srgbClr>
            </a:solidFill>
            <a:prstDash val="solid"/>
          </a:ln>
        </p:spPr>
      </p:sp>
      <p:sp>
        <p:nvSpPr>
          <p:cNvPr id="10" name="Text 8"/>
          <p:cNvSpPr/>
          <p:nvPr/>
        </p:nvSpPr>
        <p:spPr>
          <a:xfrm>
            <a:off x="786384" y="2967228"/>
            <a:ext cx="15087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EXPLAINABLE BASELINE</a:t>
            </a:r>
            <a:endParaRPr lang="en-US" sz="750" dirty="0"/>
          </a:p>
        </p:txBody>
      </p:sp>
      <p:sp>
        <p:nvSpPr>
          <p:cNvPr id="11" name="Shape 9"/>
          <p:cNvSpPr/>
          <p:nvPr/>
        </p:nvSpPr>
        <p:spPr>
          <a:xfrm>
            <a:off x="2560320" y="2880360"/>
            <a:ext cx="1920240" cy="310896"/>
          </a:xfrm>
          <a:prstGeom prst="roundRect">
            <a:avLst>
              <a:gd name="adj" fmla="val 17647"/>
            </a:avLst>
          </a:prstGeom>
          <a:solidFill>
            <a:srgbClr val="C18A2E">
              <a:alpha val="95000"/>
            </a:srgbClr>
          </a:solidFill>
          <a:ln w="12700">
            <a:solidFill>
              <a:srgbClr val="C18A2E">
                <a:alpha val="0"/>
              </a:srgbClr>
            </a:solidFill>
            <a:prstDash val="solid"/>
          </a:ln>
        </p:spPr>
      </p:sp>
      <p:sp>
        <p:nvSpPr>
          <p:cNvPr id="12" name="Text 10"/>
          <p:cNvSpPr/>
          <p:nvPr/>
        </p:nvSpPr>
        <p:spPr>
          <a:xfrm>
            <a:off x="2651760" y="2967228"/>
            <a:ext cx="17373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RETRIEVAL + EVALUATION</a:t>
            </a:r>
            <a:endParaRPr lang="en-US" sz="750" dirty="0"/>
          </a:p>
        </p:txBody>
      </p:sp>
      <p:sp>
        <p:nvSpPr>
          <p:cNvPr id="13" name="Shape 11"/>
          <p:cNvSpPr/>
          <p:nvPr/>
        </p:nvSpPr>
        <p:spPr>
          <a:xfrm>
            <a:off x="4645152" y="2880360"/>
            <a:ext cx="1463040" cy="310896"/>
          </a:xfrm>
          <a:prstGeom prst="roundRect">
            <a:avLst>
              <a:gd name="adj" fmla="val 17647"/>
            </a:avLst>
          </a:prstGeom>
          <a:solidFill>
            <a:srgbClr val="4D7C5B">
              <a:alpha val="95000"/>
            </a:srgbClr>
          </a:solidFill>
          <a:ln w="12700">
            <a:solidFill>
              <a:srgbClr val="4D7C5B">
                <a:alpha val="0"/>
              </a:srgbClr>
            </a:solidFill>
            <a:prstDash val="solid"/>
          </a:ln>
        </p:spPr>
      </p:sp>
      <p:sp>
        <p:nvSpPr>
          <p:cNvPr id="14" name="Text 12"/>
          <p:cNvSpPr/>
          <p:nvPr/>
        </p:nvSpPr>
        <p:spPr>
          <a:xfrm>
            <a:off x="4736592" y="2967228"/>
            <a:ext cx="12801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PRODUCTION PATH</a:t>
            </a:r>
            <a:endParaRPr lang="en-US" sz="750" dirty="0"/>
          </a:p>
        </p:txBody>
      </p:sp>
      <p:sp>
        <p:nvSpPr>
          <p:cNvPr id="15" name="Shape 13"/>
          <p:cNvSpPr/>
          <p:nvPr/>
        </p:nvSpPr>
        <p:spPr>
          <a:xfrm>
            <a:off x="694944" y="4709160"/>
            <a:ext cx="3337560" cy="1097280"/>
          </a:xfrm>
          <a:prstGeom prst="roundRect">
            <a:avLst>
              <a:gd name="adj" fmla="val 6667"/>
            </a:avLst>
          </a:prstGeom>
          <a:solidFill>
            <a:srgbClr val="FFFFFF"/>
          </a:solidFill>
          <a:ln w="12700">
            <a:solidFill>
              <a:srgbClr val="D5CCBA"/>
            </a:solidFill>
            <a:prstDash val="solid"/>
          </a:ln>
        </p:spPr>
      </p:sp>
      <p:sp>
        <p:nvSpPr>
          <p:cNvPr id="16" name="Shape 14"/>
          <p:cNvSpPr/>
          <p:nvPr/>
        </p:nvSpPr>
        <p:spPr>
          <a:xfrm>
            <a:off x="694944" y="4709160"/>
            <a:ext cx="3337560" cy="73152"/>
          </a:xfrm>
          <a:prstGeom prst="rect">
            <a:avLst/>
          </a:prstGeom>
          <a:solidFill>
            <a:srgbClr val="7FA9A6"/>
          </a:solidFill>
          <a:ln w="12700">
            <a:solidFill>
              <a:srgbClr val="333333">
                <a:alpha val="0"/>
              </a:srgbClr>
            </a:solidFill>
            <a:prstDash val="solid"/>
          </a:ln>
        </p:spPr>
      </p:sp>
      <p:sp>
        <p:nvSpPr>
          <p:cNvPr id="17" name="Text 15"/>
          <p:cNvSpPr/>
          <p:nvPr/>
        </p:nvSpPr>
        <p:spPr>
          <a:xfrm>
            <a:off x="914400" y="48920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MEETINGS</a:t>
            </a:r>
            <a:endParaRPr lang="en-US" sz="750" dirty="0"/>
          </a:p>
        </p:txBody>
      </p:sp>
      <p:sp>
        <p:nvSpPr>
          <p:cNvPr id="18" name="Text 16"/>
          <p:cNvSpPr/>
          <p:nvPr/>
        </p:nvSpPr>
        <p:spPr>
          <a:xfrm>
            <a:off x="914400" y="5093208"/>
            <a:ext cx="1234440" cy="365760"/>
          </a:xfrm>
          <a:prstGeom prst="rect">
            <a:avLst/>
          </a:prstGeom>
          <a:noFill/>
          <a:ln/>
        </p:spPr>
        <p:txBody>
          <a:bodyPr wrap="square" lIns="0" tIns="0" rIns="0" bIns="0" rtlCol="0" anchor="ctr">
            <a:normAutofit/>
          </a:bodyPr>
          <a:lstStyle/>
          <a:p>
            <a:pPr indent="0" marL="0">
              <a:buNone/>
            </a:pPr>
            <a:r>
              <a:rPr lang="en-US" sz="2500" b="1" dirty="0">
                <a:solidFill>
                  <a:srgbClr val="7FA9A6"/>
                </a:solidFill>
              </a:rPr>
              <a:t>100</a:t>
            </a:r>
            <a:endParaRPr lang="en-US" sz="2500" dirty="0"/>
          </a:p>
        </p:txBody>
      </p:sp>
      <p:sp>
        <p:nvSpPr>
          <p:cNvPr id="19" name="Text 17"/>
          <p:cNvSpPr/>
          <p:nvPr/>
        </p:nvSpPr>
        <p:spPr>
          <a:xfrm>
            <a:off x="2112264" y="51023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Support, external customer, and internal calls.</a:t>
            </a:r>
            <a:endParaRPr lang="en-US" sz="1040" dirty="0"/>
          </a:p>
        </p:txBody>
      </p:sp>
      <p:sp>
        <p:nvSpPr>
          <p:cNvPr id="20" name="Shape 18"/>
          <p:cNvSpPr/>
          <p:nvPr/>
        </p:nvSpPr>
        <p:spPr>
          <a:xfrm>
            <a:off x="3886200" y="4709160"/>
            <a:ext cx="3337560" cy="1097280"/>
          </a:xfrm>
          <a:prstGeom prst="roundRect">
            <a:avLst>
              <a:gd name="adj" fmla="val 6667"/>
            </a:avLst>
          </a:prstGeom>
          <a:solidFill>
            <a:srgbClr val="FFFFFF"/>
          </a:solidFill>
          <a:ln w="12700">
            <a:solidFill>
              <a:srgbClr val="D5CCBA"/>
            </a:solidFill>
            <a:prstDash val="solid"/>
          </a:ln>
        </p:spPr>
      </p:sp>
      <p:sp>
        <p:nvSpPr>
          <p:cNvPr id="21" name="Shape 19"/>
          <p:cNvSpPr/>
          <p:nvPr/>
        </p:nvSpPr>
        <p:spPr>
          <a:xfrm>
            <a:off x="3886200" y="4709160"/>
            <a:ext cx="3337560" cy="73152"/>
          </a:xfrm>
          <a:prstGeom prst="rect">
            <a:avLst/>
          </a:prstGeom>
          <a:solidFill>
            <a:srgbClr val="C18A2E"/>
          </a:solidFill>
          <a:ln w="12700">
            <a:solidFill>
              <a:srgbClr val="333333">
                <a:alpha val="0"/>
              </a:srgbClr>
            </a:solidFill>
            <a:prstDash val="solid"/>
          </a:ln>
        </p:spPr>
      </p:sp>
      <p:sp>
        <p:nvSpPr>
          <p:cNvPr id="22" name="Text 20"/>
          <p:cNvSpPr/>
          <p:nvPr/>
        </p:nvSpPr>
        <p:spPr>
          <a:xfrm>
            <a:off x="4105656" y="48920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THEMES</a:t>
            </a:r>
            <a:endParaRPr lang="en-US" sz="750" dirty="0"/>
          </a:p>
        </p:txBody>
      </p:sp>
      <p:sp>
        <p:nvSpPr>
          <p:cNvPr id="23" name="Text 21"/>
          <p:cNvSpPr/>
          <p:nvPr/>
        </p:nvSpPr>
        <p:spPr>
          <a:xfrm>
            <a:off x="4105656" y="50932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7</a:t>
            </a:r>
            <a:endParaRPr lang="en-US" sz="2500" dirty="0"/>
          </a:p>
        </p:txBody>
      </p:sp>
      <p:sp>
        <p:nvSpPr>
          <p:cNvPr id="24" name="Text 22"/>
          <p:cNvSpPr/>
          <p:nvPr/>
        </p:nvSpPr>
        <p:spPr>
          <a:xfrm>
            <a:off x="5303520" y="51023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Business-oriented routing taxonomy.</a:t>
            </a:r>
            <a:endParaRPr lang="en-US" sz="1040" dirty="0"/>
          </a:p>
        </p:txBody>
      </p:sp>
      <p:sp>
        <p:nvSpPr>
          <p:cNvPr id="25" name="Text 23"/>
          <p:cNvSpPr/>
          <p:nvPr/>
        </p:nvSpPr>
        <p:spPr>
          <a:xfrm>
            <a:off x="8732520" y="5349240"/>
            <a:ext cx="2560320" cy="256032"/>
          </a:xfrm>
          <a:prstGeom prst="rect">
            <a:avLst/>
          </a:prstGeom>
          <a:noFill/>
          <a:ln/>
        </p:spPr>
        <p:txBody>
          <a:bodyPr wrap="square" lIns="0" tIns="0" rIns="0" bIns="0" rtlCol="0" anchor="ctr"/>
          <a:lstStyle/>
          <a:p>
            <a:pPr indent="0" marL="0">
              <a:buNone/>
            </a:pPr>
            <a:r>
              <a:rPr lang="en-US" sz="1100" b="1" dirty="0">
                <a:solidFill>
                  <a:srgbClr val="FFFFFF"/>
                </a:solidFill>
              </a:rPr>
              <a:t>Leadership briefing</a:t>
            </a:r>
            <a:endParaRPr lang="en-US" sz="1100" dirty="0"/>
          </a:p>
        </p:txBody>
      </p:sp>
      <p:sp>
        <p:nvSpPr>
          <p:cNvPr id="26" name="Text 24"/>
          <p:cNvSpPr/>
          <p:nvPr/>
        </p:nvSpPr>
        <p:spPr>
          <a:xfrm>
            <a:off x="8732520" y="5650992"/>
            <a:ext cx="2560320" cy="438912"/>
          </a:xfrm>
          <a:prstGeom prst="rect">
            <a:avLst/>
          </a:prstGeom>
          <a:noFill/>
          <a:ln/>
        </p:spPr>
        <p:txBody>
          <a:bodyPr wrap="square" lIns="0" tIns="0" rIns="0" bIns="0" rtlCol="0" anchor="ctr">
            <a:normAutofit/>
          </a:bodyPr>
          <a:lstStyle/>
          <a:p>
            <a:pPr indent="0" marL="0">
              <a:buNone/>
            </a:pPr>
            <a:r>
              <a:rPr lang="en-US" sz="1000" dirty="0">
                <a:solidFill>
                  <a:srgbClr val="DCE9E5"/>
                </a:solidFill>
              </a:rPr>
              <a:t>Customer risk | Product signals | Operating recommendations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01</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CORPUS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The transcript corpus is an operating signal, not just meeting notes</a:t>
            </a:r>
            <a:endParaRPr lang="en-US" sz="2500" dirty="0"/>
          </a:p>
        </p:txBody>
      </p:sp>
      <p:sp>
        <p:nvSpPr>
          <p:cNvPr id="9" name="Text 7"/>
          <p:cNvSpPr/>
          <p:nvPr/>
        </p:nvSpPr>
        <p:spPr>
          <a:xfrm>
            <a:off x="731520" y="1664208"/>
            <a:ext cx="5669280" cy="1828800"/>
          </a:xfrm>
          <a:prstGeom prst="rect">
            <a:avLst/>
          </a:prstGeom>
          <a:noFill/>
          <a:ln/>
        </p:spPr>
        <p:txBody>
          <a:bodyPr wrap="square" lIns="508" tIns="508" rIns="508" bIns="508" rtlCol="0" anchor="ctr">
            <a:normAutofit/>
          </a:bodyPr>
          <a:lstStyle/>
          <a:p>
            <a:r>
              <a:rPr lang="en-US" sz="1800" dirty="0">
                <a:solidFill>
                  <a:srgbClr val="182322"/>
                </a:solidFill>
              </a:rPr>
              <a:t>Support calls reveal acute pain: outages, latency, connector bugs, billing disputes.</a:t>
            </a:r>
            <a:endParaRPr lang="en-US" sz="1800" dirty="0"/>
          </a:p>
          <a:p>
            <a:r>
              <a:rPr lang="en-US" sz="1800" dirty="0">
                <a:solidFill>
                  <a:srgbClr val="182322"/>
                </a:solidFill>
              </a:rPr>
              <a:t>External customer calls reveal commercial risk: renewals, trust, competitive evaluations, roadmap confidence.</a:t>
            </a:r>
            <a:endParaRPr lang="en-US" sz="1800" dirty="0"/>
          </a:p>
          <a:p>
            <a:r>
              <a:rPr lang="en-US" sz="1800" dirty="0">
                <a:solidFill>
                  <a:srgbClr val="182322"/>
                </a:solidFill>
              </a:rPr>
              <a:t>Internal calls reveal whether the organization is closing the loop on customer pain.</a:t>
            </a:r>
            <a:endParaRPr lang="en-US" sz="1800" dirty="0"/>
          </a:p>
        </p:txBody>
      </p:sp>
      <p:sp>
        <p:nvSpPr>
          <p:cNvPr id="10" name="Shape 8"/>
          <p:cNvSpPr/>
          <p:nvPr/>
        </p:nvSpPr>
        <p:spPr>
          <a:xfrm>
            <a:off x="6766560" y="1554480"/>
            <a:ext cx="3337560" cy="1097280"/>
          </a:xfrm>
          <a:prstGeom prst="roundRect">
            <a:avLst>
              <a:gd name="adj" fmla="val 6667"/>
            </a:avLst>
          </a:prstGeom>
          <a:solidFill>
            <a:srgbClr val="FFFFFF"/>
          </a:solidFill>
          <a:ln w="12700">
            <a:solidFill>
              <a:srgbClr val="D5CCBA"/>
            </a:solidFill>
            <a:prstDash val="solid"/>
          </a:ln>
        </p:spPr>
      </p:sp>
      <p:sp>
        <p:nvSpPr>
          <p:cNvPr id="11" name="Shape 9"/>
          <p:cNvSpPr/>
          <p:nvPr/>
        </p:nvSpPr>
        <p:spPr>
          <a:xfrm>
            <a:off x="6766560" y="1554480"/>
            <a:ext cx="3337560" cy="73152"/>
          </a:xfrm>
          <a:prstGeom prst="rect">
            <a:avLst/>
          </a:prstGeom>
          <a:solidFill>
            <a:srgbClr val="A14C43"/>
          </a:solidFill>
          <a:ln w="12700">
            <a:solidFill>
              <a:srgbClr val="333333">
                <a:alpha val="0"/>
              </a:srgbClr>
            </a:solidFill>
            <a:prstDash val="solid"/>
          </a:ln>
        </p:spPr>
      </p:sp>
      <p:sp>
        <p:nvSpPr>
          <p:cNvPr id="12" name="Text 10"/>
          <p:cNvSpPr/>
          <p:nvPr/>
        </p:nvSpPr>
        <p:spPr>
          <a:xfrm>
            <a:off x="6986016" y="173736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CUSTOMER SUPPORT</a:t>
            </a:r>
            <a:endParaRPr lang="en-US" sz="750" dirty="0"/>
          </a:p>
        </p:txBody>
      </p:sp>
      <p:sp>
        <p:nvSpPr>
          <p:cNvPr id="13" name="Text 11"/>
          <p:cNvSpPr/>
          <p:nvPr/>
        </p:nvSpPr>
        <p:spPr>
          <a:xfrm>
            <a:off x="6986016" y="1938528"/>
            <a:ext cx="1234440" cy="365760"/>
          </a:xfrm>
          <a:prstGeom prst="rect">
            <a:avLst/>
          </a:prstGeom>
          <a:noFill/>
          <a:ln/>
        </p:spPr>
        <p:txBody>
          <a:bodyPr wrap="square" lIns="0" tIns="0" rIns="0" bIns="0" rtlCol="0" anchor="ctr">
            <a:normAutofit/>
          </a:bodyPr>
          <a:lstStyle/>
          <a:p>
            <a:pPr indent="0" marL="0">
              <a:buNone/>
            </a:pPr>
            <a:r>
              <a:rPr lang="en-US" sz="2500" b="1" dirty="0">
                <a:solidFill>
                  <a:srgbClr val="A14C43"/>
                </a:solidFill>
              </a:rPr>
              <a:t>31</a:t>
            </a:r>
            <a:endParaRPr lang="en-US" sz="2500" dirty="0"/>
          </a:p>
        </p:txBody>
      </p:sp>
      <p:sp>
        <p:nvSpPr>
          <p:cNvPr id="14" name="Text 12"/>
          <p:cNvSpPr/>
          <p:nvPr/>
        </p:nvSpPr>
        <p:spPr>
          <a:xfrm>
            <a:off x="8183880" y="194767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Highest negative utterance share.</a:t>
            </a:r>
            <a:endParaRPr lang="en-US" sz="1040" dirty="0"/>
          </a:p>
        </p:txBody>
      </p:sp>
      <p:sp>
        <p:nvSpPr>
          <p:cNvPr id="15" name="Shape 13"/>
          <p:cNvSpPr/>
          <p:nvPr/>
        </p:nvSpPr>
        <p:spPr>
          <a:xfrm>
            <a:off x="6766560" y="2788920"/>
            <a:ext cx="3337560" cy="1097280"/>
          </a:xfrm>
          <a:prstGeom prst="roundRect">
            <a:avLst>
              <a:gd name="adj" fmla="val 6667"/>
            </a:avLst>
          </a:prstGeom>
          <a:solidFill>
            <a:srgbClr val="FFFFFF"/>
          </a:solidFill>
          <a:ln w="12700">
            <a:solidFill>
              <a:srgbClr val="D5CCBA"/>
            </a:solidFill>
            <a:prstDash val="solid"/>
          </a:ln>
        </p:spPr>
      </p:sp>
      <p:sp>
        <p:nvSpPr>
          <p:cNvPr id="16" name="Shape 14"/>
          <p:cNvSpPr/>
          <p:nvPr/>
        </p:nvSpPr>
        <p:spPr>
          <a:xfrm>
            <a:off x="6766560" y="2788920"/>
            <a:ext cx="3337560" cy="73152"/>
          </a:xfrm>
          <a:prstGeom prst="rect">
            <a:avLst/>
          </a:prstGeom>
          <a:solidFill>
            <a:srgbClr val="236A70"/>
          </a:solidFill>
          <a:ln w="12700">
            <a:solidFill>
              <a:srgbClr val="333333">
                <a:alpha val="0"/>
              </a:srgbClr>
            </a:solidFill>
            <a:prstDash val="solid"/>
          </a:ln>
        </p:spPr>
      </p:sp>
      <p:sp>
        <p:nvSpPr>
          <p:cNvPr id="17" name="Text 15"/>
          <p:cNvSpPr/>
          <p:nvPr/>
        </p:nvSpPr>
        <p:spPr>
          <a:xfrm>
            <a:off x="6986016" y="2971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EXTERNAL CUSTOMER</a:t>
            </a:r>
            <a:endParaRPr lang="en-US" sz="750" dirty="0"/>
          </a:p>
        </p:txBody>
      </p:sp>
      <p:sp>
        <p:nvSpPr>
          <p:cNvPr id="18" name="Text 16"/>
          <p:cNvSpPr/>
          <p:nvPr/>
        </p:nvSpPr>
        <p:spPr>
          <a:xfrm>
            <a:off x="6986016" y="3172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39</a:t>
            </a:r>
            <a:endParaRPr lang="en-US" sz="2500" dirty="0"/>
          </a:p>
        </p:txBody>
      </p:sp>
      <p:sp>
        <p:nvSpPr>
          <p:cNvPr id="19" name="Text 17"/>
          <p:cNvSpPr/>
          <p:nvPr/>
        </p:nvSpPr>
        <p:spPr>
          <a:xfrm>
            <a:off x="8183880" y="3182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Lower sentiment risk, higher revenue context.</a:t>
            </a:r>
            <a:endParaRPr lang="en-US" sz="1040" dirty="0"/>
          </a:p>
        </p:txBody>
      </p:sp>
      <p:sp>
        <p:nvSpPr>
          <p:cNvPr id="20" name="Shape 18"/>
          <p:cNvSpPr/>
          <p:nvPr/>
        </p:nvSpPr>
        <p:spPr>
          <a:xfrm>
            <a:off x="6766560" y="4023360"/>
            <a:ext cx="3337560" cy="1097280"/>
          </a:xfrm>
          <a:prstGeom prst="roundRect">
            <a:avLst>
              <a:gd name="adj" fmla="val 6667"/>
            </a:avLst>
          </a:prstGeom>
          <a:solidFill>
            <a:srgbClr val="FFFFFF"/>
          </a:solidFill>
          <a:ln w="12700">
            <a:solidFill>
              <a:srgbClr val="D5CCBA"/>
            </a:solidFill>
            <a:prstDash val="solid"/>
          </a:ln>
        </p:spPr>
      </p:sp>
      <p:sp>
        <p:nvSpPr>
          <p:cNvPr id="21" name="Shape 19"/>
          <p:cNvSpPr/>
          <p:nvPr/>
        </p:nvSpPr>
        <p:spPr>
          <a:xfrm>
            <a:off x="6766560" y="4023360"/>
            <a:ext cx="3337560" cy="73152"/>
          </a:xfrm>
          <a:prstGeom prst="rect">
            <a:avLst/>
          </a:prstGeom>
          <a:solidFill>
            <a:srgbClr val="C18A2E"/>
          </a:solidFill>
          <a:ln w="12700">
            <a:solidFill>
              <a:srgbClr val="333333">
                <a:alpha val="0"/>
              </a:srgbClr>
            </a:solidFill>
            <a:prstDash val="solid"/>
          </a:ln>
        </p:spPr>
      </p:sp>
      <p:sp>
        <p:nvSpPr>
          <p:cNvPr id="22" name="Text 20"/>
          <p:cNvSpPr/>
          <p:nvPr/>
        </p:nvSpPr>
        <p:spPr>
          <a:xfrm>
            <a:off x="6986016" y="42062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INTERNAL</a:t>
            </a:r>
            <a:endParaRPr lang="en-US" sz="750" dirty="0"/>
          </a:p>
        </p:txBody>
      </p:sp>
      <p:sp>
        <p:nvSpPr>
          <p:cNvPr id="23" name="Text 21"/>
          <p:cNvSpPr/>
          <p:nvPr/>
        </p:nvSpPr>
        <p:spPr>
          <a:xfrm>
            <a:off x="6986016" y="44074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30</a:t>
            </a:r>
            <a:endParaRPr lang="en-US" sz="2500" dirty="0"/>
          </a:p>
        </p:txBody>
      </p:sp>
      <p:sp>
        <p:nvSpPr>
          <p:cNvPr id="24" name="Text 22"/>
          <p:cNvSpPr/>
          <p:nvPr/>
        </p:nvSpPr>
        <p:spPr>
          <a:xfrm>
            <a:off x="8183880" y="44165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Prioritization and execution signal.</a:t>
            </a:r>
            <a:endParaRPr lang="en-US" sz="1040" dirty="0"/>
          </a:p>
        </p:txBody>
      </p:sp>
      <p:sp>
        <p:nvSpPr>
          <p:cNvPr id="25" name="Shape 23"/>
          <p:cNvSpPr/>
          <p:nvPr/>
        </p:nvSpPr>
        <p:spPr>
          <a:xfrm>
            <a:off x="566928" y="6327648"/>
            <a:ext cx="10927080" cy="0"/>
          </a:xfrm>
          <a:prstGeom prst="line">
            <a:avLst/>
          </a:prstGeom>
          <a:noFill/>
          <a:ln w="9525">
            <a:solidFill>
              <a:srgbClr val="D5CCBA">
                <a:alpha val="75000"/>
              </a:srgbClr>
            </a:solidFill>
            <a:prstDash val="solid"/>
          </a:ln>
        </p:spPr>
      </p:sp>
      <p:sp>
        <p:nvSpPr>
          <p:cNvPr id="26" name="Text 24"/>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02</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PIPELINE</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trusted insight workflow beats a black-box classifier</a:t>
            </a:r>
            <a:endParaRPr lang="en-US" sz="2500" dirty="0"/>
          </a:p>
        </p:txBody>
      </p:sp>
      <p:sp>
        <p:nvSpPr>
          <p:cNvPr id="9" name="Shape 7"/>
          <p:cNvSpPr/>
          <p:nvPr/>
        </p:nvSpPr>
        <p:spPr>
          <a:xfrm>
            <a:off x="640080" y="1536192"/>
            <a:ext cx="5212080" cy="1325880"/>
          </a:xfrm>
          <a:prstGeom prst="roundRect">
            <a:avLst>
              <a:gd name="adj" fmla="val 5517"/>
            </a:avLst>
          </a:prstGeom>
          <a:solidFill>
            <a:srgbClr val="FFFFFF"/>
          </a:solidFill>
          <a:ln w="12700">
            <a:solidFill>
              <a:srgbClr val="D5CCBA"/>
            </a:solidFill>
            <a:prstDash val="solid"/>
          </a:ln>
        </p:spPr>
      </p:sp>
      <p:sp>
        <p:nvSpPr>
          <p:cNvPr id="10" name="Shape 8"/>
          <p:cNvSpPr/>
          <p:nvPr/>
        </p:nvSpPr>
        <p:spPr>
          <a:xfrm>
            <a:off x="640080" y="1536192"/>
            <a:ext cx="73152" cy="1325880"/>
          </a:xfrm>
          <a:prstGeom prst="rect">
            <a:avLst/>
          </a:prstGeom>
          <a:solidFill>
            <a:srgbClr val="236A70"/>
          </a:solidFill>
          <a:ln w="12700">
            <a:solidFill>
              <a:srgbClr val="333333">
                <a:alpha val="0"/>
              </a:srgbClr>
            </a:solidFill>
            <a:prstDash val="solid"/>
          </a:ln>
        </p:spPr>
      </p:sp>
      <p:sp>
        <p:nvSpPr>
          <p:cNvPr id="11" name="Text 9"/>
          <p:cNvSpPr/>
          <p:nvPr/>
        </p:nvSpPr>
        <p:spPr>
          <a:xfrm>
            <a:off x="896112" y="1755648"/>
            <a:ext cx="4709160" cy="237744"/>
          </a:xfrm>
          <a:prstGeom prst="rect">
            <a:avLst/>
          </a:prstGeom>
          <a:noFill/>
          <a:ln/>
        </p:spPr>
        <p:txBody>
          <a:bodyPr wrap="square" lIns="0" tIns="0" rIns="0" bIns="0" rtlCol="0" anchor="ctr"/>
          <a:lstStyle/>
          <a:p>
            <a:pPr indent="0" marL="0">
              <a:buNone/>
            </a:pPr>
            <a:r>
              <a:rPr lang="en-US" sz="1350" b="1" dirty="0">
                <a:solidFill>
                  <a:srgbClr val="236A70"/>
                </a:solidFill>
              </a:rPr>
              <a:t>Operating flow</a:t>
            </a:r>
            <a:endParaRPr lang="en-US" sz="1350" dirty="0"/>
          </a:p>
        </p:txBody>
      </p:sp>
      <p:sp>
        <p:nvSpPr>
          <p:cNvPr id="12" name="Text 10"/>
          <p:cNvSpPr/>
          <p:nvPr/>
        </p:nvSpPr>
        <p:spPr>
          <a:xfrm>
            <a:off x="896112" y="2157984"/>
            <a:ext cx="4709160" cy="53949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Transcript evidence -&gt; theme, sentiment, product, risk -&gt; leadership-ready account and product signals</a:t>
            </a:r>
            <a:endParaRPr lang="en-US" sz="1450" dirty="0"/>
          </a:p>
        </p:txBody>
      </p:sp>
      <p:sp>
        <p:nvSpPr>
          <p:cNvPr id="13" name="Text 11"/>
          <p:cNvSpPr/>
          <p:nvPr/>
        </p:nvSpPr>
        <p:spPr>
          <a:xfrm>
            <a:off x="640080" y="3364992"/>
            <a:ext cx="5394960" cy="1554480"/>
          </a:xfrm>
          <a:prstGeom prst="rect">
            <a:avLst/>
          </a:prstGeom>
          <a:noFill/>
          <a:ln/>
        </p:spPr>
        <p:txBody>
          <a:bodyPr wrap="square" lIns="508" tIns="508" rIns="508" bIns="508" rtlCol="0" anchor="ctr">
            <a:normAutofit/>
          </a:bodyPr>
          <a:lstStyle/>
          <a:p>
            <a:r>
              <a:rPr lang="en-US" sz="1600" dirty="0">
                <a:solidFill>
                  <a:srgbClr val="182322"/>
                </a:solidFill>
              </a:rPr>
              <a:t>Transparent enough for Product, Engineering, CS, and GTM leaders to trust.</a:t>
            </a:r>
            <a:endParaRPr lang="en-US" sz="1600" dirty="0"/>
          </a:p>
          <a:p>
            <a:r>
              <a:rPr lang="en-US" sz="1600" dirty="0">
                <a:solidFill>
                  <a:srgbClr val="182322"/>
                </a:solidFill>
              </a:rPr>
              <a:t>Grounded in transcript evidence, not unsupported summaries.</a:t>
            </a:r>
            <a:endParaRPr lang="en-US" sz="1600" dirty="0"/>
          </a:p>
          <a:p>
            <a:r>
              <a:rPr lang="en-US" sz="1600" dirty="0">
                <a:solidFill>
                  <a:srgbClr val="182322"/>
                </a:solidFill>
              </a:rPr>
              <a:t>Designed to scale into embeddings, LLM extraction, and human review without losing auditability.</a:t>
            </a:r>
            <a:endParaRPr lang="en-US" sz="1600" dirty="0"/>
          </a:p>
        </p:txBody>
      </p:sp>
      <p:sp>
        <p:nvSpPr>
          <p:cNvPr id="14" name="Shape 12"/>
          <p:cNvSpPr/>
          <p:nvPr/>
        </p:nvSpPr>
        <p:spPr>
          <a:xfrm>
            <a:off x="6400800" y="1572768"/>
            <a:ext cx="4297680" cy="3383280"/>
          </a:xfrm>
          <a:prstGeom prst="roundRect">
            <a:avLst>
              <a:gd name="adj" fmla="val 2162"/>
            </a:avLst>
          </a:prstGeom>
          <a:solidFill>
            <a:srgbClr val="FFFFFF"/>
          </a:solidFill>
          <a:ln w="12700">
            <a:solidFill>
              <a:srgbClr val="D5CCBA"/>
            </a:solidFill>
            <a:prstDash val="solid"/>
          </a:ln>
        </p:spPr>
      </p:sp>
      <p:sp>
        <p:nvSpPr>
          <p:cNvPr id="15" name="Text 13"/>
          <p:cNvSpPr/>
          <p:nvPr/>
        </p:nvSpPr>
        <p:spPr>
          <a:xfrm>
            <a:off x="6720840" y="1847088"/>
            <a:ext cx="2560320" cy="292608"/>
          </a:xfrm>
          <a:prstGeom prst="rect">
            <a:avLst/>
          </a:prstGeom>
          <a:noFill/>
          <a:ln/>
        </p:spPr>
        <p:txBody>
          <a:bodyPr wrap="square" lIns="0" tIns="0" rIns="0" bIns="0" rtlCol="0" anchor="ctr"/>
          <a:lstStyle/>
          <a:p>
            <a:pPr indent="0" marL="0">
              <a:buNone/>
            </a:pPr>
            <a:r>
              <a:rPr lang="en-US" sz="1800" b="1" dirty="0">
                <a:solidFill>
                  <a:srgbClr val="182322"/>
                </a:solidFill>
              </a:rPr>
              <a:t>Leadership surfaces</a:t>
            </a:r>
            <a:endParaRPr lang="en-US" sz="1800" dirty="0"/>
          </a:p>
        </p:txBody>
      </p:sp>
      <p:sp>
        <p:nvSpPr>
          <p:cNvPr id="16" name="Text 14"/>
          <p:cNvSpPr/>
          <p:nvPr/>
        </p:nvSpPr>
        <p:spPr>
          <a:xfrm>
            <a:off x="6720840" y="2331720"/>
            <a:ext cx="3566160" cy="1645920"/>
          </a:xfrm>
          <a:prstGeom prst="rect">
            <a:avLst/>
          </a:prstGeom>
          <a:noFill/>
          <a:ln/>
        </p:spPr>
        <p:txBody>
          <a:bodyPr wrap="square" lIns="0" tIns="0" rIns="0" bIns="0" rtlCol="0" anchor="ctr">
            <a:normAutofit/>
          </a:bodyPr>
          <a:lstStyle/>
          <a:p>
            <a:pPr indent="0" marL="0">
              <a:buNone/>
            </a:pPr>
            <a:r>
              <a:rPr lang="en-US" sz="1500" dirty="0">
                <a:solidFill>
                  <a:srgbClr val="182322"/>
                </a:solidFill>
              </a:rPr>
              <a:t>Theme and sentiment trends</a:t>
            </a:r>
            <a:endParaRPr lang="en-US" sz="1500" dirty="0"/>
          </a:p>
          <a:p>
            <a:pPr indent="0" marL="0">
              <a:buNone/>
            </a:pPr>
            <a:r>
              <a:rPr lang="en-US" sz="1500" dirty="0">
                <a:solidFill>
                  <a:srgbClr val="182322"/>
                </a:solidFill>
              </a:rPr>
              <a:t>High-risk account evidence</a:t>
            </a:r>
            <a:endParaRPr lang="en-US" sz="1500" dirty="0"/>
          </a:p>
          <a:p>
            <a:pPr indent="0" marL="0">
              <a:buNone/>
            </a:pPr>
            <a:r>
              <a:rPr lang="en-US" sz="1500" dirty="0">
                <a:solidFill>
                  <a:srgbClr val="182322"/>
                </a:solidFill>
              </a:rPr>
              <a:t>Product surface risk</a:t>
            </a:r>
            <a:endParaRPr lang="en-US" sz="1500" dirty="0"/>
          </a:p>
          <a:p>
            <a:pPr indent="0" marL="0">
              <a:buNone/>
            </a:pPr>
            <a:r>
              <a:rPr lang="en-US" sz="1500" dirty="0">
                <a:solidFill>
                  <a:srgbClr val="182322"/>
                </a:solidFill>
              </a:rPr>
              <a:t>Human-review queue</a:t>
            </a:r>
            <a:endParaRPr lang="en-US" sz="1500" dirty="0"/>
          </a:p>
          <a:p>
            <a:pPr indent="0" marL="0">
              <a:buNone/>
            </a:pPr>
            <a:r>
              <a:rPr lang="en-US" sz="1500" dirty="0">
                <a:solidFill>
                  <a:srgbClr val="182322"/>
                </a:solidFill>
              </a:rPr>
              <a:t>Gold-label quality checks</a:t>
            </a:r>
            <a:endParaRPr lang="en-US" sz="1500" dirty="0"/>
          </a:p>
        </p:txBody>
      </p:sp>
      <p:sp>
        <p:nvSpPr>
          <p:cNvPr id="17" name="Shape 15"/>
          <p:cNvSpPr/>
          <p:nvPr/>
        </p:nvSpPr>
        <p:spPr>
          <a:xfrm>
            <a:off x="566928" y="6327648"/>
            <a:ext cx="10927080" cy="0"/>
          </a:xfrm>
          <a:prstGeom prst="line">
            <a:avLst/>
          </a:prstGeom>
          <a:noFill/>
          <a:ln w="9525">
            <a:solidFill>
              <a:srgbClr val="D5CCBA">
                <a:alpha val="75000"/>
              </a:srgbClr>
            </a:solidFill>
            <a:prstDash val="solid"/>
          </a:ln>
        </p:spPr>
      </p:sp>
      <p:sp>
        <p:nvSpPr>
          <p:cNvPr id="18" name="Text 16"/>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03</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THEMES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Reliability is the largest high-risk signal; compliance is broad but healthier</a:t>
            </a:r>
            <a:endParaRPr lang="en-US" sz="2500" dirty="0"/>
          </a:p>
        </p:txBody>
      </p:sp>
      <p:sp>
        <p:nvSpPr>
          <p:cNvPr id="9" name="Text 7"/>
          <p:cNvSpPr/>
          <p:nvPr/>
        </p:nvSpPr>
        <p:spPr>
          <a:xfrm>
            <a:off x="658368"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Incident &amp; Reliability</a:t>
            </a:r>
            <a:endParaRPr lang="en-US" sz="920" dirty="0"/>
          </a:p>
        </p:txBody>
      </p:sp>
      <p:sp>
        <p:nvSpPr>
          <p:cNvPr id="10" name="Shape 8"/>
          <p:cNvSpPr/>
          <p:nvPr/>
        </p:nvSpPr>
        <p:spPr>
          <a:xfrm>
            <a:off x="3017520" y="1554480"/>
            <a:ext cx="384048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17520" y="1554480"/>
            <a:ext cx="4069080" cy="164592"/>
          </a:xfrm>
          <a:prstGeom prst="roundRect">
            <a:avLst>
              <a:gd name="adj" fmla="val 22222"/>
            </a:avLst>
          </a:prstGeom>
          <a:solidFill>
            <a:srgbClr val="236A70"/>
          </a:solidFill>
          <a:ln w="12700">
            <a:solidFill>
              <a:srgbClr val="236A70">
                <a:alpha val="0"/>
              </a:srgbClr>
            </a:solidFill>
            <a:prstDash val="solid"/>
          </a:ln>
        </p:spPr>
      </p:sp>
      <p:sp>
        <p:nvSpPr>
          <p:cNvPr id="12" name="Text 10"/>
          <p:cNvSpPr/>
          <p:nvPr/>
        </p:nvSpPr>
        <p:spPr>
          <a:xfrm>
            <a:off x="6483096"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24</a:t>
            </a:r>
            <a:endParaRPr lang="en-US" sz="840" dirty="0"/>
          </a:p>
        </p:txBody>
      </p:sp>
      <p:sp>
        <p:nvSpPr>
          <p:cNvPr id="13" name="Text 11"/>
          <p:cNvSpPr/>
          <p:nvPr/>
        </p:nvSpPr>
        <p:spPr>
          <a:xfrm>
            <a:off x="658368" y="2141002"/>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Compliance &amp; Audit</a:t>
            </a:r>
            <a:endParaRPr lang="en-US" sz="920" dirty="0"/>
          </a:p>
        </p:txBody>
      </p:sp>
      <p:sp>
        <p:nvSpPr>
          <p:cNvPr id="14" name="Shape 12"/>
          <p:cNvSpPr/>
          <p:nvPr/>
        </p:nvSpPr>
        <p:spPr>
          <a:xfrm>
            <a:off x="3017520" y="2168434"/>
            <a:ext cx="384048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17520" y="2168434"/>
            <a:ext cx="3729990" cy="164592"/>
          </a:xfrm>
          <a:prstGeom prst="roundRect">
            <a:avLst>
              <a:gd name="adj" fmla="val 22222"/>
            </a:avLst>
          </a:prstGeom>
          <a:solidFill>
            <a:srgbClr val="236A70"/>
          </a:solidFill>
          <a:ln w="12700">
            <a:solidFill>
              <a:srgbClr val="236A70">
                <a:alpha val="0"/>
              </a:srgbClr>
            </a:solidFill>
            <a:prstDash val="solid"/>
          </a:ln>
        </p:spPr>
      </p:sp>
      <p:sp>
        <p:nvSpPr>
          <p:cNvPr id="16" name="Text 14"/>
          <p:cNvSpPr/>
          <p:nvPr/>
        </p:nvSpPr>
        <p:spPr>
          <a:xfrm>
            <a:off x="6483096" y="2163862"/>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22</a:t>
            </a:r>
            <a:endParaRPr lang="en-US" sz="840" dirty="0"/>
          </a:p>
        </p:txBody>
      </p:sp>
      <p:sp>
        <p:nvSpPr>
          <p:cNvPr id="17" name="Text 15"/>
          <p:cNvSpPr/>
          <p:nvPr/>
        </p:nvSpPr>
        <p:spPr>
          <a:xfrm>
            <a:off x="658368" y="2754957"/>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Renewal &amp; Commercial Risk</a:t>
            </a:r>
            <a:endParaRPr lang="en-US" sz="920" dirty="0"/>
          </a:p>
        </p:txBody>
      </p:sp>
      <p:sp>
        <p:nvSpPr>
          <p:cNvPr id="18" name="Shape 16"/>
          <p:cNvSpPr/>
          <p:nvPr/>
        </p:nvSpPr>
        <p:spPr>
          <a:xfrm>
            <a:off x="3017520" y="2782389"/>
            <a:ext cx="384048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17520" y="2782389"/>
            <a:ext cx="2882265" cy="164592"/>
          </a:xfrm>
          <a:prstGeom prst="roundRect">
            <a:avLst>
              <a:gd name="adj" fmla="val 22222"/>
            </a:avLst>
          </a:prstGeom>
          <a:solidFill>
            <a:srgbClr val="236A70"/>
          </a:solidFill>
          <a:ln w="12700">
            <a:solidFill>
              <a:srgbClr val="236A70">
                <a:alpha val="0"/>
              </a:srgbClr>
            </a:solidFill>
            <a:prstDash val="solid"/>
          </a:ln>
        </p:spPr>
      </p:sp>
      <p:sp>
        <p:nvSpPr>
          <p:cNvPr id="20" name="Text 18"/>
          <p:cNvSpPr/>
          <p:nvPr/>
        </p:nvSpPr>
        <p:spPr>
          <a:xfrm>
            <a:off x="6027801" y="2777817"/>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17</a:t>
            </a:r>
            <a:endParaRPr lang="en-US" sz="840" dirty="0"/>
          </a:p>
        </p:txBody>
      </p:sp>
      <p:sp>
        <p:nvSpPr>
          <p:cNvPr id="21" name="Text 19"/>
          <p:cNvSpPr/>
          <p:nvPr/>
        </p:nvSpPr>
        <p:spPr>
          <a:xfrm>
            <a:off x="658368" y="3368911"/>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Identity &amp; Access</a:t>
            </a:r>
            <a:endParaRPr lang="en-US" sz="920" dirty="0"/>
          </a:p>
        </p:txBody>
      </p:sp>
      <p:sp>
        <p:nvSpPr>
          <p:cNvPr id="22" name="Shape 20"/>
          <p:cNvSpPr/>
          <p:nvPr/>
        </p:nvSpPr>
        <p:spPr>
          <a:xfrm>
            <a:off x="3017520" y="3396343"/>
            <a:ext cx="384048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17520" y="3396343"/>
            <a:ext cx="2034540" cy="164592"/>
          </a:xfrm>
          <a:prstGeom prst="roundRect">
            <a:avLst>
              <a:gd name="adj" fmla="val 22222"/>
            </a:avLst>
          </a:prstGeom>
          <a:solidFill>
            <a:srgbClr val="236A70"/>
          </a:solidFill>
          <a:ln w="12700">
            <a:solidFill>
              <a:srgbClr val="236A70">
                <a:alpha val="0"/>
              </a:srgbClr>
            </a:solidFill>
            <a:prstDash val="solid"/>
          </a:ln>
        </p:spPr>
      </p:sp>
      <p:sp>
        <p:nvSpPr>
          <p:cNvPr id="24" name="Text 22"/>
          <p:cNvSpPr/>
          <p:nvPr/>
        </p:nvSpPr>
        <p:spPr>
          <a:xfrm>
            <a:off x="5180076" y="3391771"/>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12</a:t>
            </a:r>
            <a:endParaRPr lang="en-US" sz="840" dirty="0"/>
          </a:p>
        </p:txBody>
      </p:sp>
      <p:sp>
        <p:nvSpPr>
          <p:cNvPr id="25" name="Text 23"/>
          <p:cNvSpPr/>
          <p:nvPr/>
        </p:nvSpPr>
        <p:spPr>
          <a:xfrm>
            <a:off x="658368" y="3982865"/>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Product Feedback &amp; Roadmap</a:t>
            </a:r>
            <a:endParaRPr lang="en-US" sz="920" dirty="0"/>
          </a:p>
        </p:txBody>
      </p:sp>
      <p:sp>
        <p:nvSpPr>
          <p:cNvPr id="26" name="Shape 24"/>
          <p:cNvSpPr/>
          <p:nvPr/>
        </p:nvSpPr>
        <p:spPr>
          <a:xfrm>
            <a:off x="3017520" y="4010297"/>
            <a:ext cx="384048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17520" y="4010297"/>
            <a:ext cx="1864995" cy="164592"/>
          </a:xfrm>
          <a:prstGeom prst="roundRect">
            <a:avLst>
              <a:gd name="adj" fmla="val 22222"/>
            </a:avLst>
          </a:prstGeom>
          <a:solidFill>
            <a:srgbClr val="236A70"/>
          </a:solidFill>
          <a:ln w="12700">
            <a:solidFill>
              <a:srgbClr val="236A70">
                <a:alpha val="0"/>
              </a:srgbClr>
            </a:solidFill>
            <a:prstDash val="solid"/>
          </a:ln>
        </p:spPr>
      </p:sp>
      <p:sp>
        <p:nvSpPr>
          <p:cNvPr id="28" name="Text 26"/>
          <p:cNvSpPr/>
          <p:nvPr/>
        </p:nvSpPr>
        <p:spPr>
          <a:xfrm>
            <a:off x="5010531" y="4005725"/>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11</a:t>
            </a:r>
            <a:endParaRPr lang="en-US" sz="840" dirty="0"/>
          </a:p>
        </p:txBody>
      </p:sp>
      <p:sp>
        <p:nvSpPr>
          <p:cNvPr id="29" name="Text 27"/>
          <p:cNvSpPr/>
          <p:nvPr/>
        </p:nvSpPr>
        <p:spPr>
          <a:xfrm>
            <a:off x="658368" y="4596819"/>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Backup &amp; Recovery</a:t>
            </a:r>
            <a:endParaRPr lang="en-US" sz="920" dirty="0"/>
          </a:p>
        </p:txBody>
      </p:sp>
      <p:sp>
        <p:nvSpPr>
          <p:cNvPr id="30" name="Shape 28"/>
          <p:cNvSpPr/>
          <p:nvPr/>
        </p:nvSpPr>
        <p:spPr>
          <a:xfrm>
            <a:off x="3017520" y="4624251"/>
            <a:ext cx="384048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17520" y="4624251"/>
            <a:ext cx="1356360" cy="164592"/>
          </a:xfrm>
          <a:prstGeom prst="roundRect">
            <a:avLst>
              <a:gd name="adj" fmla="val 22222"/>
            </a:avLst>
          </a:prstGeom>
          <a:solidFill>
            <a:srgbClr val="236A70"/>
          </a:solidFill>
          <a:ln w="12700">
            <a:solidFill>
              <a:srgbClr val="236A70">
                <a:alpha val="0"/>
              </a:srgbClr>
            </a:solidFill>
            <a:prstDash val="solid"/>
          </a:ln>
        </p:spPr>
      </p:sp>
      <p:sp>
        <p:nvSpPr>
          <p:cNvPr id="32" name="Text 30"/>
          <p:cNvSpPr/>
          <p:nvPr/>
        </p:nvSpPr>
        <p:spPr>
          <a:xfrm>
            <a:off x="4501896" y="4619679"/>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8</a:t>
            </a:r>
            <a:endParaRPr lang="en-US" sz="840" dirty="0"/>
          </a:p>
        </p:txBody>
      </p:sp>
      <p:sp>
        <p:nvSpPr>
          <p:cNvPr id="33" name="Text 31"/>
          <p:cNvSpPr/>
          <p:nvPr/>
        </p:nvSpPr>
        <p:spPr>
          <a:xfrm>
            <a:off x="658368" y="5210774"/>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Competitive &amp; Market</a:t>
            </a:r>
            <a:endParaRPr lang="en-US" sz="920" dirty="0"/>
          </a:p>
        </p:txBody>
      </p:sp>
      <p:sp>
        <p:nvSpPr>
          <p:cNvPr id="34" name="Shape 32"/>
          <p:cNvSpPr/>
          <p:nvPr/>
        </p:nvSpPr>
        <p:spPr>
          <a:xfrm>
            <a:off x="3017520" y="5238206"/>
            <a:ext cx="3840480" cy="164592"/>
          </a:xfrm>
          <a:prstGeom prst="roundRect">
            <a:avLst>
              <a:gd name="adj" fmla="val 22222"/>
            </a:avLst>
          </a:prstGeom>
          <a:solidFill>
            <a:srgbClr val="E3DBCD"/>
          </a:solidFill>
          <a:ln w="12700">
            <a:solidFill>
              <a:srgbClr val="E3DBCD">
                <a:alpha val="0"/>
              </a:srgbClr>
            </a:solidFill>
            <a:prstDash val="solid"/>
          </a:ln>
        </p:spPr>
      </p:sp>
      <p:sp>
        <p:nvSpPr>
          <p:cNvPr id="35" name="Shape 33"/>
          <p:cNvSpPr/>
          <p:nvPr/>
        </p:nvSpPr>
        <p:spPr>
          <a:xfrm>
            <a:off x="3017520" y="5238206"/>
            <a:ext cx="1017270" cy="164592"/>
          </a:xfrm>
          <a:prstGeom prst="roundRect">
            <a:avLst>
              <a:gd name="adj" fmla="val 22222"/>
            </a:avLst>
          </a:prstGeom>
          <a:solidFill>
            <a:srgbClr val="236A70"/>
          </a:solidFill>
          <a:ln w="12700">
            <a:solidFill>
              <a:srgbClr val="236A70">
                <a:alpha val="0"/>
              </a:srgbClr>
            </a:solidFill>
            <a:prstDash val="solid"/>
          </a:ln>
        </p:spPr>
      </p:sp>
      <p:sp>
        <p:nvSpPr>
          <p:cNvPr id="36" name="Text 34"/>
          <p:cNvSpPr/>
          <p:nvPr/>
        </p:nvSpPr>
        <p:spPr>
          <a:xfrm>
            <a:off x="4162806" y="5233634"/>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6</a:t>
            </a:r>
            <a:endParaRPr lang="en-US" sz="840" dirty="0"/>
          </a:p>
        </p:txBody>
      </p:sp>
      <p:sp>
        <p:nvSpPr>
          <p:cNvPr id="37" name="Shape 35"/>
          <p:cNvSpPr/>
          <p:nvPr/>
        </p:nvSpPr>
        <p:spPr>
          <a:xfrm>
            <a:off x="7635240" y="1645920"/>
            <a:ext cx="3337560" cy="2194560"/>
          </a:xfrm>
          <a:prstGeom prst="roundRect">
            <a:avLst>
              <a:gd name="adj" fmla="val 3333"/>
            </a:avLst>
          </a:prstGeom>
          <a:solidFill>
            <a:srgbClr val="FFFFFF"/>
          </a:solidFill>
          <a:ln w="12700">
            <a:solidFill>
              <a:srgbClr val="D5CCBA"/>
            </a:solidFill>
            <a:prstDash val="solid"/>
          </a:ln>
        </p:spPr>
      </p:sp>
      <p:sp>
        <p:nvSpPr>
          <p:cNvPr id="38" name="Shape 36"/>
          <p:cNvSpPr/>
          <p:nvPr/>
        </p:nvSpPr>
        <p:spPr>
          <a:xfrm>
            <a:off x="7635240" y="1645920"/>
            <a:ext cx="73152" cy="2194560"/>
          </a:xfrm>
          <a:prstGeom prst="rect">
            <a:avLst/>
          </a:prstGeom>
          <a:solidFill>
            <a:srgbClr val="236A70"/>
          </a:solidFill>
          <a:ln w="12700">
            <a:solidFill>
              <a:srgbClr val="333333">
                <a:alpha val="0"/>
              </a:srgbClr>
            </a:solidFill>
            <a:prstDash val="solid"/>
          </a:ln>
        </p:spPr>
      </p:sp>
      <p:sp>
        <p:nvSpPr>
          <p:cNvPr id="39" name="Text 37"/>
          <p:cNvSpPr/>
          <p:nvPr/>
        </p:nvSpPr>
        <p:spPr>
          <a:xfrm>
            <a:off x="7891272" y="1865376"/>
            <a:ext cx="2834640" cy="237744"/>
          </a:xfrm>
          <a:prstGeom prst="rect">
            <a:avLst/>
          </a:prstGeom>
          <a:noFill/>
          <a:ln/>
        </p:spPr>
        <p:txBody>
          <a:bodyPr wrap="square" lIns="0" tIns="0" rIns="0" bIns="0" rtlCol="0" anchor="ctr"/>
          <a:lstStyle/>
          <a:p>
            <a:pPr indent="0" marL="0">
              <a:buNone/>
            </a:pPr>
            <a:r>
              <a:rPr lang="en-US" sz="1350" b="1" dirty="0">
                <a:solidFill>
                  <a:srgbClr val="236A70"/>
                </a:solidFill>
              </a:rPr>
              <a:t>Interpretation</a:t>
            </a:r>
            <a:endParaRPr lang="en-US" sz="1350" dirty="0"/>
          </a:p>
        </p:txBody>
      </p:sp>
      <p:sp>
        <p:nvSpPr>
          <p:cNvPr id="40" name="Text 38"/>
          <p:cNvSpPr/>
          <p:nvPr/>
        </p:nvSpPr>
        <p:spPr>
          <a:xfrm>
            <a:off x="7891272" y="2267712"/>
            <a:ext cx="2834640" cy="140817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Incident &amp; Reliability reaches the risk ceiling because it combines urgent language, customer impact, and technical follow-up. Compliance is frequent, but many conversations are planned reviews or launch/adoption work.</a:t>
            </a:r>
            <a:endParaRPr lang="en-US" sz="1450" dirty="0"/>
          </a:p>
        </p:txBody>
      </p:sp>
      <p:sp>
        <p:nvSpPr>
          <p:cNvPr id="41" name="Shape 39"/>
          <p:cNvSpPr/>
          <p:nvPr/>
        </p:nvSpPr>
        <p:spPr>
          <a:xfrm>
            <a:off x="566928" y="6327648"/>
            <a:ext cx="10927080" cy="0"/>
          </a:xfrm>
          <a:prstGeom prst="line">
            <a:avLst/>
          </a:prstGeom>
          <a:noFill/>
          <a:ln w="9525">
            <a:solidFill>
              <a:srgbClr val="D5CCBA">
                <a:alpha val="75000"/>
              </a:srgbClr>
            </a:solidFill>
            <a:prstDash val="solid"/>
          </a:ln>
        </p:spPr>
      </p:sp>
      <p:sp>
        <p:nvSpPr>
          <p:cNvPr id="42" name="Text 40"/>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04</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SENTIMENT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Sentiment trends separate acute support pain from commercial risk</a:t>
            </a:r>
            <a:endParaRPr lang="en-US" sz="2500" dirty="0"/>
          </a:p>
        </p:txBody>
      </p:sp>
      <p:sp>
        <p:nvSpPr>
          <p:cNvPr id="9" name="Text 7"/>
          <p:cNvSpPr/>
          <p:nvPr/>
        </p:nvSpPr>
        <p:spPr>
          <a:xfrm>
            <a:off x="685800"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Customer support</a:t>
            </a:r>
            <a:endParaRPr lang="en-US" sz="920" dirty="0"/>
          </a:p>
        </p:txBody>
      </p:sp>
      <p:sp>
        <p:nvSpPr>
          <p:cNvPr id="10" name="Shape 8"/>
          <p:cNvSpPr/>
          <p:nvPr/>
        </p:nvSpPr>
        <p:spPr>
          <a:xfrm>
            <a:off x="3044952" y="1554480"/>
            <a:ext cx="347472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44952" y="1554480"/>
            <a:ext cx="3703320" cy="164592"/>
          </a:xfrm>
          <a:prstGeom prst="roundRect">
            <a:avLst>
              <a:gd name="adj" fmla="val 22222"/>
            </a:avLst>
          </a:prstGeom>
          <a:solidFill>
            <a:srgbClr val="A14C43"/>
          </a:solidFill>
          <a:ln w="12700">
            <a:solidFill>
              <a:srgbClr val="A14C43">
                <a:alpha val="0"/>
              </a:srgbClr>
            </a:solidFill>
            <a:prstDash val="solid"/>
          </a:ln>
        </p:spPr>
      </p:sp>
      <p:sp>
        <p:nvSpPr>
          <p:cNvPr id="12" name="Text 10"/>
          <p:cNvSpPr/>
          <p:nvPr/>
        </p:nvSpPr>
        <p:spPr>
          <a:xfrm>
            <a:off x="6144768"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27.1%</a:t>
            </a:r>
            <a:endParaRPr lang="en-US" sz="840" dirty="0"/>
          </a:p>
        </p:txBody>
      </p:sp>
      <p:sp>
        <p:nvSpPr>
          <p:cNvPr id="13" name="Text 11"/>
          <p:cNvSpPr/>
          <p:nvPr/>
        </p:nvSpPr>
        <p:spPr>
          <a:xfrm>
            <a:off x="685800" y="22585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External customer</a:t>
            </a:r>
            <a:endParaRPr lang="en-US" sz="920" dirty="0"/>
          </a:p>
        </p:txBody>
      </p:sp>
      <p:sp>
        <p:nvSpPr>
          <p:cNvPr id="14" name="Shape 12"/>
          <p:cNvSpPr/>
          <p:nvPr/>
        </p:nvSpPr>
        <p:spPr>
          <a:xfrm>
            <a:off x="3044952" y="2286000"/>
            <a:ext cx="347472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44952" y="2286000"/>
            <a:ext cx="1298212" cy="164592"/>
          </a:xfrm>
          <a:prstGeom prst="roundRect">
            <a:avLst>
              <a:gd name="adj" fmla="val 22222"/>
            </a:avLst>
          </a:prstGeom>
          <a:solidFill>
            <a:srgbClr val="A14C43"/>
          </a:solidFill>
          <a:ln w="12700">
            <a:solidFill>
              <a:srgbClr val="A14C43">
                <a:alpha val="0"/>
              </a:srgbClr>
            </a:solidFill>
            <a:prstDash val="solid"/>
          </a:ln>
        </p:spPr>
      </p:sp>
      <p:sp>
        <p:nvSpPr>
          <p:cNvPr id="16" name="Text 14"/>
          <p:cNvSpPr/>
          <p:nvPr/>
        </p:nvSpPr>
        <p:spPr>
          <a:xfrm>
            <a:off x="4471180" y="22814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9.5%</a:t>
            </a:r>
            <a:endParaRPr lang="en-US" sz="840" dirty="0"/>
          </a:p>
        </p:txBody>
      </p:sp>
      <p:sp>
        <p:nvSpPr>
          <p:cNvPr id="17" name="Text 15"/>
          <p:cNvSpPr/>
          <p:nvPr/>
        </p:nvSpPr>
        <p:spPr>
          <a:xfrm>
            <a:off x="685800" y="29900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Internal</a:t>
            </a:r>
            <a:endParaRPr lang="en-US" sz="920" dirty="0"/>
          </a:p>
        </p:txBody>
      </p:sp>
      <p:sp>
        <p:nvSpPr>
          <p:cNvPr id="18" name="Shape 16"/>
          <p:cNvSpPr/>
          <p:nvPr/>
        </p:nvSpPr>
        <p:spPr>
          <a:xfrm>
            <a:off x="3044952" y="3017520"/>
            <a:ext cx="347472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44952" y="3017520"/>
            <a:ext cx="2309450" cy="164592"/>
          </a:xfrm>
          <a:prstGeom prst="roundRect">
            <a:avLst>
              <a:gd name="adj" fmla="val 22222"/>
            </a:avLst>
          </a:prstGeom>
          <a:solidFill>
            <a:srgbClr val="A14C43"/>
          </a:solidFill>
          <a:ln w="12700">
            <a:solidFill>
              <a:srgbClr val="A14C43">
                <a:alpha val="0"/>
              </a:srgbClr>
            </a:solidFill>
            <a:prstDash val="solid"/>
          </a:ln>
        </p:spPr>
      </p:sp>
      <p:sp>
        <p:nvSpPr>
          <p:cNvPr id="20" name="Text 18"/>
          <p:cNvSpPr/>
          <p:nvPr/>
        </p:nvSpPr>
        <p:spPr>
          <a:xfrm>
            <a:off x="5482418" y="30129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16.9%</a:t>
            </a:r>
            <a:endParaRPr lang="en-US" sz="840" dirty="0"/>
          </a:p>
        </p:txBody>
      </p:sp>
      <p:sp>
        <p:nvSpPr>
          <p:cNvPr id="21" name="Text 19"/>
          <p:cNvSpPr/>
          <p:nvPr/>
        </p:nvSpPr>
        <p:spPr>
          <a:xfrm>
            <a:off x="685800" y="40873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Customer support</a:t>
            </a:r>
            <a:endParaRPr lang="en-US" sz="920" dirty="0"/>
          </a:p>
        </p:txBody>
      </p:sp>
      <p:sp>
        <p:nvSpPr>
          <p:cNvPr id="22" name="Shape 20"/>
          <p:cNvSpPr/>
          <p:nvPr/>
        </p:nvSpPr>
        <p:spPr>
          <a:xfrm>
            <a:off x="3044952" y="4114800"/>
            <a:ext cx="347472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44952" y="4114800"/>
            <a:ext cx="2658794" cy="164592"/>
          </a:xfrm>
          <a:prstGeom prst="roundRect">
            <a:avLst>
              <a:gd name="adj" fmla="val 22222"/>
            </a:avLst>
          </a:prstGeom>
          <a:solidFill>
            <a:srgbClr val="4D7C5B"/>
          </a:solidFill>
          <a:ln w="12700">
            <a:solidFill>
              <a:srgbClr val="4D7C5B">
                <a:alpha val="0"/>
              </a:srgbClr>
            </a:solidFill>
            <a:prstDash val="solid"/>
          </a:ln>
        </p:spPr>
      </p:sp>
      <p:sp>
        <p:nvSpPr>
          <p:cNvPr id="24" name="Text 22"/>
          <p:cNvSpPr/>
          <p:nvPr/>
        </p:nvSpPr>
        <p:spPr>
          <a:xfrm>
            <a:off x="5831762" y="41102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2.8</a:t>
            </a:r>
            <a:endParaRPr lang="en-US" sz="840" dirty="0"/>
          </a:p>
        </p:txBody>
      </p:sp>
      <p:sp>
        <p:nvSpPr>
          <p:cNvPr id="25" name="Text 23"/>
          <p:cNvSpPr/>
          <p:nvPr/>
        </p:nvSpPr>
        <p:spPr>
          <a:xfrm>
            <a:off x="685800" y="460552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External customer</a:t>
            </a:r>
            <a:endParaRPr lang="en-US" sz="920" dirty="0"/>
          </a:p>
        </p:txBody>
      </p:sp>
      <p:sp>
        <p:nvSpPr>
          <p:cNvPr id="26" name="Shape 24"/>
          <p:cNvSpPr/>
          <p:nvPr/>
        </p:nvSpPr>
        <p:spPr>
          <a:xfrm>
            <a:off x="3044952" y="4632960"/>
            <a:ext cx="347472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44952" y="4632960"/>
            <a:ext cx="3703320" cy="164592"/>
          </a:xfrm>
          <a:prstGeom prst="roundRect">
            <a:avLst>
              <a:gd name="adj" fmla="val 22222"/>
            </a:avLst>
          </a:prstGeom>
          <a:solidFill>
            <a:srgbClr val="4D7C5B"/>
          </a:solidFill>
          <a:ln w="12700">
            <a:solidFill>
              <a:srgbClr val="4D7C5B">
                <a:alpha val="0"/>
              </a:srgbClr>
            </a:solidFill>
            <a:prstDash val="solid"/>
          </a:ln>
        </p:spPr>
      </p:sp>
      <p:sp>
        <p:nvSpPr>
          <p:cNvPr id="28" name="Text 26"/>
          <p:cNvSpPr/>
          <p:nvPr/>
        </p:nvSpPr>
        <p:spPr>
          <a:xfrm>
            <a:off x="6144768" y="462838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3.9</a:t>
            </a:r>
            <a:endParaRPr lang="en-US" sz="840" dirty="0"/>
          </a:p>
        </p:txBody>
      </p:sp>
      <p:sp>
        <p:nvSpPr>
          <p:cNvPr id="29" name="Text 27"/>
          <p:cNvSpPr/>
          <p:nvPr/>
        </p:nvSpPr>
        <p:spPr>
          <a:xfrm>
            <a:off x="685800" y="51236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Internal</a:t>
            </a:r>
            <a:endParaRPr lang="en-US" sz="920" dirty="0"/>
          </a:p>
        </p:txBody>
      </p:sp>
      <p:sp>
        <p:nvSpPr>
          <p:cNvPr id="30" name="Shape 28"/>
          <p:cNvSpPr/>
          <p:nvPr/>
        </p:nvSpPr>
        <p:spPr>
          <a:xfrm>
            <a:off x="3044952" y="5151120"/>
            <a:ext cx="347472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44952" y="5151120"/>
            <a:ext cx="3247527" cy="164592"/>
          </a:xfrm>
          <a:prstGeom prst="roundRect">
            <a:avLst>
              <a:gd name="adj" fmla="val 22222"/>
            </a:avLst>
          </a:prstGeom>
          <a:solidFill>
            <a:srgbClr val="4D7C5B"/>
          </a:solidFill>
          <a:ln w="12700">
            <a:solidFill>
              <a:srgbClr val="4D7C5B">
                <a:alpha val="0"/>
              </a:srgbClr>
            </a:solidFill>
            <a:prstDash val="solid"/>
          </a:ln>
        </p:spPr>
      </p:sp>
      <p:sp>
        <p:nvSpPr>
          <p:cNvPr id="32" name="Text 30"/>
          <p:cNvSpPr/>
          <p:nvPr/>
        </p:nvSpPr>
        <p:spPr>
          <a:xfrm>
            <a:off x="6144768" y="51465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3.42</a:t>
            </a:r>
            <a:endParaRPr lang="en-US" sz="840" dirty="0"/>
          </a:p>
        </p:txBody>
      </p:sp>
      <p:sp>
        <p:nvSpPr>
          <p:cNvPr id="33" name="Shape 31"/>
          <p:cNvSpPr/>
          <p:nvPr/>
        </p:nvSpPr>
        <p:spPr>
          <a:xfrm>
            <a:off x="7498080" y="1645920"/>
            <a:ext cx="3474720" cy="2286000"/>
          </a:xfrm>
          <a:prstGeom prst="roundRect">
            <a:avLst>
              <a:gd name="adj" fmla="val 3200"/>
            </a:avLst>
          </a:prstGeom>
          <a:solidFill>
            <a:srgbClr val="FFFFFF"/>
          </a:solidFill>
          <a:ln w="12700">
            <a:solidFill>
              <a:srgbClr val="D5CCBA"/>
            </a:solidFill>
            <a:prstDash val="solid"/>
          </a:ln>
        </p:spPr>
      </p:sp>
      <p:sp>
        <p:nvSpPr>
          <p:cNvPr id="34" name="Shape 32"/>
          <p:cNvSpPr/>
          <p:nvPr/>
        </p:nvSpPr>
        <p:spPr>
          <a:xfrm>
            <a:off x="7498080" y="1645920"/>
            <a:ext cx="73152" cy="2286000"/>
          </a:xfrm>
          <a:prstGeom prst="rect">
            <a:avLst/>
          </a:prstGeom>
          <a:solidFill>
            <a:srgbClr val="236A70"/>
          </a:solidFill>
          <a:ln w="12700">
            <a:solidFill>
              <a:srgbClr val="333333">
                <a:alpha val="0"/>
              </a:srgbClr>
            </a:solidFill>
            <a:prstDash val="solid"/>
          </a:ln>
        </p:spPr>
      </p:sp>
      <p:sp>
        <p:nvSpPr>
          <p:cNvPr id="35" name="Text 33"/>
          <p:cNvSpPr/>
          <p:nvPr/>
        </p:nvSpPr>
        <p:spPr>
          <a:xfrm>
            <a:off x="7754112" y="186537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What it means</a:t>
            </a:r>
            <a:endParaRPr lang="en-US" sz="1350" dirty="0"/>
          </a:p>
        </p:txBody>
      </p:sp>
      <p:sp>
        <p:nvSpPr>
          <p:cNvPr id="36" name="Text 34"/>
          <p:cNvSpPr/>
          <p:nvPr/>
        </p:nvSpPr>
        <p:spPr>
          <a:xfrm>
            <a:off x="7754112" y="2267712"/>
            <a:ext cx="2971800" cy="14996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Support calls are the emotional smoke alarm: 27.1% of utterances are negative. External customer calls sound calmer, but risk often sits in renewal hesitation, competitive evaluation, and roadmap confidence. Both signals need different owners.</a:t>
            </a:r>
            <a:endParaRPr lang="en-US" sz="1450" dirty="0"/>
          </a:p>
        </p:txBody>
      </p:sp>
      <p:sp>
        <p:nvSpPr>
          <p:cNvPr id="37" name="Shape 35"/>
          <p:cNvSpPr/>
          <p:nvPr/>
        </p:nvSpPr>
        <p:spPr>
          <a:xfrm>
            <a:off x="566928" y="6327648"/>
            <a:ext cx="10927080" cy="0"/>
          </a:xfrm>
          <a:prstGeom prst="line">
            <a:avLst/>
          </a:prstGeom>
          <a:noFill/>
          <a:ln w="9525">
            <a:solidFill>
              <a:srgbClr val="D5CCBA">
                <a:alpha val="75000"/>
              </a:srgbClr>
            </a:solidFill>
            <a:prstDash val="solid"/>
          </a:ln>
        </p:spPr>
      </p:sp>
      <p:sp>
        <p:nvSpPr>
          <p:cNvPr id="38" name="Text 36"/>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05</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PRODUCT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Product risk concentrates around Detect, then Protect and Identity</a:t>
            </a:r>
            <a:endParaRPr lang="en-US" sz="2500" dirty="0"/>
          </a:p>
        </p:txBody>
      </p:sp>
      <p:sp>
        <p:nvSpPr>
          <p:cNvPr id="9" name="Text 7"/>
          <p:cNvSpPr/>
          <p:nvPr/>
        </p:nvSpPr>
        <p:spPr>
          <a:xfrm>
            <a:off x="777240" y="16184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Comply</a:t>
            </a:r>
            <a:endParaRPr lang="en-US" sz="920" dirty="0"/>
          </a:p>
        </p:txBody>
      </p:sp>
      <p:sp>
        <p:nvSpPr>
          <p:cNvPr id="10" name="Shape 8"/>
          <p:cNvSpPr/>
          <p:nvPr/>
        </p:nvSpPr>
        <p:spPr>
          <a:xfrm>
            <a:off x="3136392" y="1645920"/>
            <a:ext cx="329184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136392" y="1645920"/>
            <a:ext cx="3241630" cy="164592"/>
          </a:xfrm>
          <a:prstGeom prst="roundRect">
            <a:avLst>
              <a:gd name="adj" fmla="val 22222"/>
            </a:avLst>
          </a:prstGeom>
          <a:solidFill>
            <a:srgbClr val="C18A2E"/>
          </a:solidFill>
          <a:ln w="12700">
            <a:solidFill>
              <a:srgbClr val="C18A2E">
                <a:alpha val="0"/>
              </a:srgbClr>
            </a:solidFill>
            <a:prstDash val="solid"/>
          </a:ln>
        </p:spPr>
      </p:sp>
      <p:sp>
        <p:nvSpPr>
          <p:cNvPr id="12" name="Text 10"/>
          <p:cNvSpPr/>
          <p:nvPr/>
        </p:nvSpPr>
        <p:spPr>
          <a:xfrm>
            <a:off x="6053328" y="16413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8.72</a:t>
            </a:r>
            <a:endParaRPr lang="en-US" sz="840" dirty="0"/>
          </a:p>
        </p:txBody>
      </p:sp>
      <p:sp>
        <p:nvSpPr>
          <p:cNvPr id="13" name="Text 11"/>
          <p:cNvSpPr/>
          <p:nvPr/>
        </p:nvSpPr>
        <p:spPr>
          <a:xfrm>
            <a:off x="777240" y="23271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Detect</a:t>
            </a:r>
            <a:endParaRPr lang="en-US" sz="920" dirty="0"/>
          </a:p>
        </p:txBody>
      </p:sp>
      <p:sp>
        <p:nvSpPr>
          <p:cNvPr id="14" name="Shape 12"/>
          <p:cNvSpPr/>
          <p:nvPr/>
        </p:nvSpPr>
        <p:spPr>
          <a:xfrm>
            <a:off x="3136392" y="2354580"/>
            <a:ext cx="329184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136392" y="2354580"/>
            <a:ext cx="3520440" cy="164592"/>
          </a:xfrm>
          <a:prstGeom prst="roundRect">
            <a:avLst>
              <a:gd name="adj" fmla="val 22222"/>
            </a:avLst>
          </a:prstGeom>
          <a:solidFill>
            <a:srgbClr val="C18A2E"/>
          </a:solidFill>
          <a:ln w="12700">
            <a:solidFill>
              <a:srgbClr val="C18A2E">
                <a:alpha val="0"/>
              </a:srgbClr>
            </a:solidFill>
            <a:prstDash val="solid"/>
          </a:ln>
        </p:spPr>
      </p:sp>
      <p:sp>
        <p:nvSpPr>
          <p:cNvPr id="16" name="Text 14"/>
          <p:cNvSpPr/>
          <p:nvPr/>
        </p:nvSpPr>
        <p:spPr>
          <a:xfrm>
            <a:off x="6053328" y="23500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9.47</a:t>
            </a:r>
            <a:endParaRPr lang="en-US" sz="840" dirty="0"/>
          </a:p>
        </p:txBody>
      </p:sp>
      <p:sp>
        <p:nvSpPr>
          <p:cNvPr id="17" name="Text 15"/>
          <p:cNvSpPr/>
          <p:nvPr/>
        </p:nvSpPr>
        <p:spPr>
          <a:xfrm>
            <a:off x="777240" y="303580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Identity</a:t>
            </a:r>
            <a:endParaRPr lang="en-US" sz="920" dirty="0"/>
          </a:p>
        </p:txBody>
      </p:sp>
      <p:sp>
        <p:nvSpPr>
          <p:cNvPr id="18" name="Shape 16"/>
          <p:cNvSpPr/>
          <p:nvPr/>
        </p:nvSpPr>
        <p:spPr>
          <a:xfrm>
            <a:off x="3136392" y="3063240"/>
            <a:ext cx="329184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136392" y="3063240"/>
            <a:ext cx="3397764" cy="164592"/>
          </a:xfrm>
          <a:prstGeom prst="roundRect">
            <a:avLst>
              <a:gd name="adj" fmla="val 22222"/>
            </a:avLst>
          </a:prstGeom>
          <a:solidFill>
            <a:srgbClr val="C18A2E"/>
          </a:solidFill>
          <a:ln w="12700">
            <a:solidFill>
              <a:srgbClr val="C18A2E">
                <a:alpha val="0"/>
              </a:srgbClr>
            </a:solidFill>
            <a:prstDash val="solid"/>
          </a:ln>
        </p:spPr>
      </p:sp>
      <p:sp>
        <p:nvSpPr>
          <p:cNvPr id="20" name="Text 18"/>
          <p:cNvSpPr/>
          <p:nvPr/>
        </p:nvSpPr>
        <p:spPr>
          <a:xfrm>
            <a:off x="6053328" y="305866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9.14</a:t>
            </a:r>
            <a:endParaRPr lang="en-US" sz="840" dirty="0"/>
          </a:p>
        </p:txBody>
      </p:sp>
      <p:sp>
        <p:nvSpPr>
          <p:cNvPr id="21" name="Text 19"/>
          <p:cNvSpPr/>
          <p:nvPr/>
        </p:nvSpPr>
        <p:spPr>
          <a:xfrm>
            <a:off x="777240" y="37444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Protect</a:t>
            </a:r>
            <a:endParaRPr lang="en-US" sz="920" dirty="0"/>
          </a:p>
        </p:txBody>
      </p:sp>
      <p:sp>
        <p:nvSpPr>
          <p:cNvPr id="22" name="Shape 20"/>
          <p:cNvSpPr/>
          <p:nvPr/>
        </p:nvSpPr>
        <p:spPr>
          <a:xfrm>
            <a:off x="3136392" y="3771900"/>
            <a:ext cx="329184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136392" y="3771900"/>
            <a:ext cx="3390329" cy="164592"/>
          </a:xfrm>
          <a:prstGeom prst="roundRect">
            <a:avLst>
              <a:gd name="adj" fmla="val 22222"/>
            </a:avLst>
          </a:prstGeom>
          <a:solidFill>
            <a:srgbClr val="C18A2E"/>
          </a:solidFill>
          <a:ln w="12700">
            <a:solidFill>
              <a:srgbClr val="C18A2E">
                <a:alpha val="0"/>
              </a:srgbClr>
            </a:solidFill>
            <a:prstDash val="solid"/>
          </a:ln>
        </p:spPr>
      </p:sp>
      <p:sp>
        <p:nvSpPr>
          <p:cNvPr id="24" name="Text 22"/>
          <p:cNvSpPr/>
          <p:nvPr/>
        </p:nvSpPr>
        <p:spPr>
          <a:xfrm>
            <a:off x="6053328" y="37673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9.12</a:t>
            </a:r>
            <a:endParaRPr lang="en-US" sz="840" dirty="0"/>
          </a:p>
        </p:txBody>
      </p:sp>
      <p:sp>
        <p:nvSpPr>
          <p:cNvPr id="25" name="Shape 23"/>
          <p:cNvSpPr/>
          <p:nvPr/>
        </p:nvSpPr>
        <p:spPr>
          <a:xfrm>
            <a:off x="7315200" y="1691640"/>
            <a:ext cx="3474720" cy="2468880"/>
          </a:xfrm>
          <a:prstGeom prst="roundRect">
            <a:avLst>
              <a:gd name="adj" fmla="val 2963"/>
            </a:avLst>
          </a:prstGeom>
          <a:solidFill>
            <a:srgbClr val="FFFFFF"/>
          </a:solidFill>
          <a:ln w="12700">
            <a:solidFill>
              <a:srgbClr val="D5CCBA"/>
            </a:solidFill>
            <a:prstDash val="solid"/>
          </a:ln>
        </p:spPr>
      </p:sp>
      <p:sp>
        <p:nvSpPr>
          <p:cNvPr id="26" name="Shape 24"/>
          <p:cNvSpPr/>
          <p:nvPr/>
        </p:nvSpPr>
        <p:spPr>
          <a:xfrm>
            <a:off x="7315200" y="1691640"/>
            <a:ext cx="73152" cy="2468880"/>
          </a:xfrm>
          <a:prstGeom prst="rect">
            <a:avLst/>
          </a:prstGeom>
          <a:solidFill>
            <a:srgbClr val="236A70"/>
          </a:solidFill>
          <a:ln w="12700">
            <a:solidFill>
              <a:srgbClr val="333333">
                <a:alpha val="0"/>
              </a:srgbClr>
            </a:solidFill>
            <a:prstDash val="solid"/>
          </a:ln>
        </p:spPr>
      </p:sp>
      <p:sp>
        <p:nvSpPr>
          <p:cNvPr id="27" name="Text 25"/>
          <p:cNvSpPr/>
          <p:nvPr/>
        </p:nvSpPr>
        <p:spPr>
          <a:xfrm>
            <a:off x="7571232" y="191109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Recommendation</a:t>
            </a:r>
            <a:endParaRPr lang="en-US" sz="1350" dirty="0"/>
          </a:p>
        </p:txBody>
      </p:sp>
      <p:sp>
        <p:nvSpPr>
          <p:cNvPr id="28" name="Text 26"/>
          <p:cNvSpPr/>
          <p:nvPr/>
        </p:nvSpPr>
        <p:spPr>
          <a:xfrm>
            <a:off x="7571232" y="2313432"/>
            <a:ext cx="2971800" cy="168249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Use transcript intelligence as a product risk router: extract the affected product, evidence quote, account, sentiment, and action owner. Detect should be the first leadership operating surface because outages, SIEM connectors, alert quality, and competitive gaps recur across call types.</a:t>
            </a:r>
            <a:endParaRPr lang="en-US" sz="1450" dirty="0"/>
          </a:p>
        </p:txBody>
      </p:sp>
      <p:sp>
        <p:nvSpPr>
          <p:cNvPr id="29" name="Shape 27"/>
          <p:cNvSpPr/>
          <p:nvPr/>
        </p:nvSpPr>
        <p:spPr>
          <a:xfrm>
            <a:off x="566928" y="6327648"/>
            <a:ext cx="10927080" cy="0"/>
          </a:xfrm>
          <a:prstGeom prst="line">
            <a:avLst/>
          </a:prstGeom>
          <a:noFill/>
          <a:ln w="9525">
            <a:solidFill>
              <a:srgbClr val="D5CCBA">
                <a:alpha val="75000"/>
              </a:srgbClr>
            </a:solidFill>
            <a:prstDash val="solid"/>
          </a:ln>
        </p:spPr>
      </p:sp>
      <p:sp>
        <p:nvSpPr>
          <p:cNvPr id="30" name="Text 28"/>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06</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RISK</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Highest-risk meetings show the decisions leaders should force</a:t>
            </a:r>
            <a:endParaRPr lang="en-US" sz="2500" dirty="0"/>
          </a:p>
        </p:txBody>
      </p:sp>
      <p:sp>
        <p:nvSpPr>
          <p:cNvPr id="9" name="Text 7"/>
          <p:cNvSpPr/>
          <p:nvPr/>
        </p:nvSpPr>
        <p:spPr>
          <a:xfrm>
            <a:off x="658368" y="1481328"/>
            <a:ext cx="4754880" cy="228600"/>
          </a:xfrm>
          <a:prstGeom prst="rect">
            <a:avLst/>
          </a:prstGeom>
          <a:noFill/>
          <a:ln/>
        </p:spPr>
        <p:txBody>
          <a:bodyPr wrap="square" lIns="0" tIns="0" rIns="0" bIns="0" rtlCol="0" anchor="ctr"/>
          <a:lstStyle/>
          <a:p>
            <a:pPr indent="0" marL="0">
              <a:buNone/>
            </a:pPr>
            <a:r>
              <a:rPr lang="en-US" sz="1000" b="1" dirty="0">
                <a:solidFill>
                  <a:srgbClr val="66716A"/>
                </a:solidFill>
              </a:rPr>
              <a:t>Meeting</a:t>
            </a:r>
            <a:endParaRPr lang="en-US" sz="1000" dirty="0"/>
          </a:p>
        </p:txBody>
      </p:sp>
      <p:sp>
        <p:nvSpPr>
          <p:cNvPr id="10" name="Text 8"/>
          <p:cNvSpPr/>
          <p:nvPr/>
        </p:nvSpPr>
        <p:spPr>
          <a:xfrm>
            <a:off x="5623560" y="1481328"/>
            <a:ext cx="1828800" cy="228600"/>
          </a:xfrm>
          <a:prstGeom prst="rect">
            <a:avLst/>
          </a:prstGeom>
          <a:noFill/>
          <a:ln/>
        </p:spPr>
        <p:txBody>
          <a:bodyPr wrap="square" lIns="0" tIns="0" rIns="0" bIns="0" rtlCol="0" anchor="ctr"/>
          <a:lstStyle/>
          <a:p>
            <a:pPr indent="0" marL="0">
              <a:buNone/>
            </a:pPr>
            <a:r>
              <a:rPr lang="en-US" sz="1000" b="1" dirty="0">
                <a:solidFill>
                  <a:srgbClr val="66716A"/>
                </a:solidFill>
              </a:rPr>
              <a:t>Theme</a:t>
            </a:r>
            <a:endParaRPr lang="en-US" sz="1000" dirty="0"/>
          </a:p>
        </p:txBody>
      </p:sp>
      <p:sp>
        <p:nvSpPr>
          <p:cNvPr id="11" name="Text 9"/>
          <p:cNvSpPr/>
          <p:nvPr/>
        </p:nvSpPr>
        <p:spPr>
          <a:xfrm>
            <a:off x="7635240" y="1481328"/>
            <a:ext cx="731520" cy="228600"/>
          </a:xfrm>
          <a:prstGeom prst="rect">
            <a:avLst/>
          </a:prstGeom>
          <a:noFill/>
          <a:ln/>
        </p:spPr>
        <p:txBody>
          <a:bodyPr wrap="square" lIns="0" tIns="0" rIns="0" bIns="0" rtlCol="0" anchor="ctr"/>
          <a:lstStyle/>
          <a:p>
            <a:pPr indent="0" marL="0">
              <a:buNone/>
            </a:pPr>
            <a:r>
              <a:rPr lang="en-US" sz="1000" b="1" dirty="0">
                <a:solidFill>
                  <a:srgbClr val="66716A"/>
                </a:solidFill>
              </a:rPr>
              <a:t>Risk</a:t>
            </a:r>
            <a:endParaRPr lang="en-US" sz="1000" dirty="0"/>
          </a:p>
        </p:txBody>
      </p:sp>
      <p:sp>
        <p:nvSpPr>
          <p:cNvPr id="12" name="Text 10"/>
          <p:cNvSpPr/>
          <p:nvPr/>
        </p:nvSpPr>
        <p:spPr>
          <a:xfrm>
            <a:off x="8549640" y="1481328"/>
            <a:ext cx="2560320" cy="228600"/>
          </a:xfrm>
          <a:prstGeom prst="rect">
            <a:avLst/>
          </a:prstGeom>
          <a:noFill/>
          <a:ln/>
        </p:spPr>
        <p:txBody>
          <a:bodyPr wrap="square" lIns="0" tIns="0" rIns="0" bIns="0" rtlCol="0" anchor="ctr"/>
          <a:lstStyle/>
          <a:p>
            <a:pPr indent="0" marL="0">
              <a:buNone/>
            </a:pPr>
            <a:r>
              <a:rPr lang="en-US" sz="1000" b="1" dirty="0">
                <a:solidFill>
                  <a:srgbClr val="66716A"/>
                </a:solidFill>
              </a:rPr>
              <a:t>Leadership question</a:t>
            </a:r>
            <a:endParaRPr lang="en-US" sz="1000" dirty="0"/>
          </a:p>
        </p:txBody>
      </p:sp>
      <p:sp>
        <p:nvSpPr>
          <p:cNvPr id="13" name="Shape 11"/>
          <p:cNvSpPr/>
          <p:nvPr/>
        </p:nvSpPr>
        <p:spPr>
          <a:xfrm>
            <a:off x="594360" y="1783080"/>
            <a:ext cx="10698480" cy="502920"/>
          </a:xfrm>
          <a:prstGeom prst="roundRect">
            <a:avLst>
              <a:gd name="adj" fmla="val 14545"/>
            </a:avLst>
          </a:prstGeom>
          <a:solidFill>
            <a:srgbClr val="FFFFFF"/>
          </a:solidFill>
          <a:ln w="12700">
            <a:solidFill>
              <a:srgbClr val="D5CCBA"/>
            </a:solidFill>
            <a:prstDash val="solid"/>
          </a:ln>
        </p:spPr>
      </p:sp>
      <p:sp>
        <p:nvSpPr>
          <p:cNvPr id="14" name="Text 12"/>
          <p:cNvSpPr/>
          <p:nvPr/>
        </p:nvSpPr>
        <p:spPr>
          <a:xfrm>
            <a:off x="749808" y="1920240"/>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Support Case #3266 - Trailhead Marketplace Detect Alerts Not F</a:t>
            </a:r>
            <a:endParaRPr lang="en-US" sz="950" dirty="0"/>
          </a:p>
        </p:txBody>
      </p:sp>
      <p:sp>
        <p:nvSpPr>
          <p:cNvPr id="15" name="Text 13"/>
          <p:cNvSpPr/>
          <p:nvPr/>
        </p:nvSpPr>
        <p:spPr>
          <a:xfrm>
            <a:off x="5623560" y="1920240"/>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16" name="Text 14"/>
          <p:cNvSpPr/>
          <p:nvPr/>
        </p:nvSpPr>
        <p:spPr>
          <a:xfrm>
            <a:off x="7726680" y="1920240"/>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17" name="Text 15"/>
          <p:cNvSpPr/>
          <p:nvPr/>
        </p:nvSpPr>
        <p:spPr>
          <a:xfrm>
            <a:off x="8549640" y="1920240"/>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18" name="Shape 16"/>
          <p:cNvSpPr/>
          <p:nvPr/>
        </p:nvSpPr>
        <p:spPr>
          <a:xfrm>
            <a:off x="594360" y="2441448"/>
            <a:ext cx="10698480" cy="502920"/>
          </a:xfrm>
          <a:prstGeom prst="roundRect">
            <a:avLst>
              <a:gd name="adj" fmla="val 14545"/>
            </a:avLst>
          </a:prstGeom>
          <a:solidFill>
            <a:srgbClr val="FFFFFF"/>
          </a:solidFill>
          <a:ln w="12700">
            <a:solidFill>
              <a:srgbClr val="D5CCBA"/>
            </a:solidFill>
            <a:prstDash val="solid"/>
          </a:ln>
        </p:spPr>
      </p:sp>
      <p:sp>
        <p:nvSpPr>
          <p:cNvPr id="19" name="Text 17"/>
          <p:cNvSpPr/>
          <p:nvPr/>
        </p:nvSpPr>
        <p:spPr>
          <a:xfrm>
            <a:off x="749808" y="2578608"/>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URGENT: Blackridge Investments - Complete Loss of Threat Visib</a:t>
            </a:r>
            <a:endParaRPr lang="en-US" sz="950" dirty="0"/>
          </a:p>
        </p:txBody>
      </p:sp>
      <p:sp>
        <p:nvSpPr>
          <p:cNvPr id="20" name="Text 18"/>
          <p:cNvSpPr/>
          <p:nvPr/>
        </p:nvSpPr>
        <p:spPr>
          <a:xfrm>
            <a:off x="5623560" y="2578608"/>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21" name="Text 19"/>
          <p:cNvSpPr/>
          <p:nvPr/>
        </p:nvSpPr>
        <p:spPr>
          <a:xfrm>
            <a:off x="7726680" y="2578608"/>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22" name="Text 20"/>
          <p:cNvSpPr/>
          <p:nvPr/>
        </p:nvSpPr>
        <p:spPr>
          <a:xfrm>
            <a:off x="8549640" y="2578608"/>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23" name="Shape 21"/>
          <p:cNvSpPr/>
          <p:nvPr/>
        </p:nvSpPr>
        <p:spPr>
          <a:xfrm>
            <a:off x="594360" y="3099816"/>
            <a:ext cx="10698480" cy="502920"/>
          </a:xfrm>
          <a:prstGeom prst="roundRect">
            <a:avLst>
              <a:gd name="adj" fmla="val 14545"/>
            </a:avLst>
          </a:prstGeom>
          <a:solidFill>
            <a:srgbClr val="FFFFFF"/>
          </a:solidFill>
          <a:ln w="12700">
            <a:solidFill>
              <a:srgbClr val="D5CCBA"/>
            </a:solidFill>
            <a:prstDash val="solid"/>
          </a:ln>
        </p:spPr>
      </p:sp>
      <p:sp>
        <p:nvSpPr>
          <p:cNvPr id="24" name="Text 22"/>
          <p:cNvSpPr/>
          <p:nvPr/>
        </p:nvSpPr>
        <p:spPr>
          <a:xfrm>
            <a:off x="749808" y="3236976"/>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Detect Outage - Customer Impact Assessment</a:t>
            </a:r>
            <a:endParaRPr lang="en-US" sz="950" dirty="0"/>
          </a:p>
        </p:txBody>
      </p:sp>
      <p:sp>
        <p:nvSpPr>
          <p:cNvPr id="25" name="Text 23"/>
          <p:cNvSpPr/>
          <p:nvPr/>
        </p:nvSpPr>
        <p:spPr>
          <a:xfrm>
            <a:off x="5623560" y="3236976"/>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26" name="Text 24"/>
          <p:cNvSpPr/>
          <p:nvPr/>
        </p:nvSpPr>
        <p:spPr>
          <a:xfrm>
            <a:off x="7726680" y="3236976"/>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27" name="Text 25"/>
          <p:cNvSpPr/>
          <p:nvPr/>
        </p:nvSpPr>
        <p:spPr>
          <a:xfrm>
            <a:off x="8549640" y="3236976"/>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28" name="Shape 26"/>
          <p:cNvSpPr/>
          <p:nvPr/>
        </p:nvSpPr>
        <p:spPr>
          <a:xfrm>
            <a:off x="594360" y="3758184"/>
            <a:ext cx="10698480" cy="502920"/>
          </a:xfrm>
          <a:prstGeom prst="roundRect">
            <a:avLst>
              <a:gd name="adj" fmla="val 14545"/>
            </a:avLst>
          </a:prstGeom>
          <a:solidFill>
            <a:srgbClr val="FFFFFF"/>
          </a:solidFill>
          <a:ln w="12700">
            <a:solidFill>
              <a:srgbClr val="D5CCBA"/>
            </a:solidFill>
            <a:prstDash val="solid"/>
          </a:ln>
        </p:spPr>
      </p:sp>
      <p:sp>
        <p:nvSpPr>
          <p:cNvPr id="29" name="Text 27"/>
          <p:cNvSpPr/>
          <p:nvPr/>
        </p:nvSpPr>
        <p:spPr>
          <a:xfrm>
            <a:off x="749808" y="3895344"/>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Detect Outage - Escalation Bridge</a:t>
            </a:r>
            <a:endParaRPr lang="en-US" sz="950" dirty="0"/>
          </a:p>
        </p:txBody>
      </p:sp>
      <p:sp>
        <p:nvSpPr>
          <p:cNvPr id="30" name="Text 28"/>
          <p:cNvSpPr/>
          <p:nvPr/>
        </p:nvSpPr>
        <p:spPr>
          <a:xfrm>
            <a:off x="5623560" y="3895344"/>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31" name="Text 29"/>
          <p:cNvSpPr/>
          <p:nvPr/>
        </p:nvSpPr>
        <p:spPr>
          <a:xfrm>
            <a:off x="7726680" y="3895344"/>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32" name="Text 30"/>
          <p:cNvSpPr/>
          <p:nvPr/>
        </p:nvSpPr>
        <p:spPr>
          <a:xfrm>
            <a:off x="8549640" y="3895344"/>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33" name="Shape 31"/>
          <p:cNvSpPr/>
          <p:nvPr/>
        </p:nvSpPr>
        <p:spPr>
          <a:xfrm>
            <a:off x="594360" y="4416552"/>
            <a:ext cx="10698480" cy="502920"/>
          </a:xfrm>
          <a:prstGeom prst="roundRect">
            <a:avLst>
              <a:gd name="adj" fmla="val 14545"/>
            </a:avLst>
          </a:prstGeom>
          <a:solidFill>
            <a:srgbClr val="FFFFFF"/>
          </a:solidFill>
          <a:ln w="12700">
            <a:solidFill>
              <a:srgbClr val="D5CCBA"/>
            </a:solidFill>
            <a:prstDash val="solid"/>
          </a:ln>
        </p:spPr>
      </p:sp>
      <p:sp>
        <p:nvSpPr>
          <p:cNvPr id="34" name="Text 32"/>
          <p:cNvSpPr/>
          <p:nvPr/>
        </p:nvSpPr>
        <p:spPr>
          <a:xfrm>
            <a:off x="749808" y="4553712"/>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Detect Pipeline Failure - War Room</a:t>
            </a:r>
            <a:endParaRPr lang="en-US" sz="950" dirty="0"/>
          </a:p>
        </p:txBody>
      </p:sp>
      <p:sp>
        <p:nvSpPr>
          <p:cNvPr id="35" name="Text 33"/>
          <p:cNvSpPr/>
          <p:nvPr/>
        </p:nvSpPr>
        <p:spPr>
          <a:xfrm>
            <a:off x="5623560" y="4553712"/>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36" name="Text 34"/>
          <p:cNvSpPr/>
          <p:nvPr/>
        </p:nvSpPr>
        <p:spPr>
          <a:xfrm>
            <a:off x="7726680" y="4553712"/>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37" name="Text 35"/>
          <p:cNvSpPr/>
          <p:nvPr/>
        </p:nvSpPr>
        <p:spPr>
          <a:xfrm>
            <a:off x="8549640" y="4553712"/>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38" name="Shape 36"/>
          <p:cNvSpPr/>
          <p:nvPr/>
        </p:nvSpPr>
        <p:spPr>
          <a:xfrm>
            <a:off x="594360" y="5074920"/>
            <a:ext cx="10698480" cy="502920"/>
          </a:xfrm>
          <a:prstGeom prst="roundRect">
            <a:avLst>
              <a:gd name="adj" fmla="val 14545"/>
            </a:avLst>
          </a:prstGeom>
          <a:solidFill>
            <a:srgbClr val="FFFFFF"/>
          </a:solidFill>
          <a:ln w="12700">
            <a:solidFill>
              <a:srgbClr val="D5CCBA"/>
            </a:solidFill>
            <a:prstDash val="solid"/>
          </a:ln>
        </p:spPr>
      </p:sp>
      <p:sp>
        <p:nvSpPr>
          <p:cNvPr id="39" name="Text 37"/>
          <p:cNvSpPr/>
          <p:nvPr/>
        </p:nvSpPr>
        <p:spPr>
          <a:xfrm>
            <a:off x="749808" y="5212080"/>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URGENT: Cobalt Software - Aegis Detect Dashboard Down</a:t>
            </a:r>
            <a:endParaRPr lang="en-US" sz="950" dirty="0"/>
          </a:p>
        </p:txBody>
      </p:sp>
      <p:sp>
        <p:nvSpPr>
          <p:cNvPr id="40" name="Text 38"/>
          <p:cNvSpPr/>
          <p:nvPr/>
        </p:nvSpPr>
        <p:spPr>
          <a:xfrm>
            <a:off x="5623560" y="5212080"/>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41" name="Text 39"/>
          <p:cNvSpPr/>
          <p:nvPr/>
        </p:nvSpPr>
        <p:spPr>
          <a:xfrm>
            <a:off x="7726680" y="5212080"/>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42" name="Text 40"/>
          <p:cNvSpPr/>
          <p:nvPr/>
        </p:nvSpPr>
        <p:spPr>
          <a:xfrm>
            <a:off x="8549640" y="5212080"/>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43" name="Shape 41"/>
          <p:cNvSpPr/>
          <p:nvPr/>
        </p:nvSpPr>
        <p:spPr>
          <a:xfrm>
            <a:off x="566928" y="6327648"/>
            <a:ext cx="10927080" cy="0"/>
          </a:xfrm>
          <a:prstGeom prst="line">
            <a:avLst/>
          </a:prstGeom>
          <a:noFill/>
          <a:ln w="9525">
            <a:solidFill>
              <a:srgbClr val="D5CCBA">
                <a:alpha val="75000"/>
              </a:srgbClr>
            </a:solidFill>
            <a:prstDash val="solid"/>
          </a:ln>
        </p:spPr>
      </p:sp>
      <p:sp>
        <p:nvSpPr>
          <p:cNvPr id="44" name="Text 42"/>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07</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DISCOVERY</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lightweight clustering experiment validates and challenges the taxonomy</a:t>
            </a:r>
            <a:endParaRPr lang="en-US" sz="2500" dirty="0"/>
          </a:p>
        </p:txBody>
      </p:sp>
      <p:sp>
        <p:nvSpPr>
          <p:cNvPr id="9" name="Text 7"/>
          <p:cNvSpPr/>
          <p:nvPr/>
        </p:nvSpPr>
        <p:spPr>
          <a:xfrm>
            <a:off x="685800"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C5: Pci</a:t>
            </a:r>
            <a:endParaRPr lang="en-US" sz="920" dirty="0"/>
          </a:p>
        </p:txBody>
      </p:sp>
      <p:sp>
        <p:nvSpPr>
          <p:cNvPr id="10" name="Shape 8"/>
          <p:cNvSpPr/>
          <p:nvPr/>
        </p:nvSpPr>
        <p:spPr>
          <a:xfrm>
            <a:off x="3044952" y="1554480"/>
            <a:ext cx="356616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44952" y="1554480"/>
            <a:ext cx="3794760" cy="164592"/>
          </a:xfrm>
          <a:prstGeom prst="roundRect">
            <a:avLst>
              <a:gd name="adj" fmla="val 22222"/>
            </a:avLst>
          </a:prstGeom>
          <a:solidFill>
            <a:srgbClr val="4D7C5B"/>
          </a:solidFill>
          <a:ln w="12700">
            <a:solidFill>
              <a:srgbClr val="4D7C5B">
                <a:alpha val="0"/>
              </a:srgbClr>
            </a:solidFill>
            <a:prstDash val="solid"/>
          </a:ln>
        </p:spPr>
      </p:sp>
      <p:sp>
        <p:nvSpPr>
          <p:cNvPr id="12" name="Text 10"/>
          <p:cNvSpPr/>
          <p:nvPr/>
        </p:nvSpPr>
        <p:spPr>
          <a:xfrm>
            <a:off x="6236208"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21</a:t>
            </a:r>
            <a:endParaRPr lang="en-US" sz="840" dirty="0"/>
          </a:p>
        </p:txBody>
      </p:sp>
      <p:sp>
        <p:nvSpPr>
          <p:cNvPr id="13" name="Text 11"/>
          <p:cNvSpPr/>
          <p:nvPr/>
        </p:nvSpPr>
        <p:spPr>
          <a:xfrm>
            <a:off x="685800" y="2088751"/>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C2: Failure</a:t>
            </a:r>
            <a:endParaRPr lang="en-US" sz="920" dirty="0"/>
          </a:p>
        </p:txBody>
      </p:sp>
      <p:sp>
        <p:nvSpPr>
          <p:cNvPr id="14" name="Shape 12"/>
          <p:cNvSpPr/>
          <p:nvPr/>
        </p:nvSpPr>
        <p:spPr>
          <a:xfrm>
            <a:off x="3044952" y="2116183"/>
            <a:ext cx="356616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44952" y="2116183"/>
            <a:ext cx="3252651" cy="164592"/>
          </a:xfrm>
          <a:prstGeom prst="roundRect">
            <a:avLst>
              <a:gd name="adj" fmla="val 22222"/>
            </a:avLst>
          </a:prstGeom>
          <a:solidFill>
            <a:srgbClr val="4D7C5B"/>
          </a:solidFill>
          <a:ln w="12700">
            <a:solidFill>
              <a:srgbClr val="4D7C5B">
                <a:alpha val="0"/>
              </a:srgbClr>
            </a:solidFill>
            <a:prstDash val="solid"/>
          </a:ln>
        </p:spPr>
      </p:sp>
      <p:sp>
        <p:nvSpPr>
          <p:cNvPr id="16" name="Text 14"/>
          <p:cNvSpPr/>
          <p:nvPr/>
        </p:nvSpPr>
        <p:spPr>
          <a:xfrm>
            <a:off x="6236208" y="2111611"/>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18</a:t>
            </a:r>
            <a:endParaRPr lang="en-US" sz="840" dirty="0"/>
          </a:p>
        </p:txBody>
      </p:sp>
      <p:sp>
        <p:nvSpPr>
          <p:cNvPr id="17" name="Text 15"/>
          <p:cNvSpPr/>
          <p:nvPr/>
        </p:nvSpPr>
        <p:spPr>
          <a:xfrm>
            <a:off x="685800" y="2650454"/>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C6: Renewal</a:t>
            </a:r>
            <a:endParaRPr lang="en-US" sz="920" dirty="0"/>
          </a:p>
        </p:txBody>
      </p:sp>
      <p:sp>
        <p:nvSpPr>
          <p:cNvPr id="18" name="Shape 16"/>
          <p:cNvSpPr/>
          <p:nvPr/>
        </p:nvSpPr>
        <p:spPr>
          <a:xfrm>
            <a:off x="3044952" y="2677886"/>
            <a:ext cx="356616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44952" y="2677886"/>
            <a:ext cx="3252651" cy="164592"/>
          </a:xfrm>
          <a:prstGeom prst="roundRect">
            <a:avLst>
              <a:gd name="adj" fmla="val 22222"/>
            </a:avLst>
          </a:prstGeom>
          <a:solidFill>
            <a:srgbClr val="4D7C5B"/>
          </a:solidFill>
          <a:ln w="12700">
            <a:solidFill>
              <a:srgbClr val="4D7C5B">
                <a:alpha val="0"/>
              </a:srgbClr>
            </a:solidFill>
            <a:prstDash val="solid"/>
          </a:ln>
        </p:spPr>
      </p:sp>
      <p:sp>
        <p:nvSpPr>
          <p:cNvPr id="20" name="Text 18"/>
          <p:cNvSpPr/>
          <p:nvPr/>
        </p:nvSpPr>
        <p:spPr>
          <a:xfrm>
            <a:off x="6236208" y="2673314"/>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18</a:t>
            </a:r>
            <a:endParaRPr lang="en-US" sz="840" dirty="0"/>
          </a:p>
        </p:txBody>
      </p:sp>
      <p:sp>
        <p:nvSpPr>
          <p:cNvPr id="21" name="Text 19"/>
          <p:cNvSpPr/>
          <p:nvPr/>
        </p:nvSpPr>
        <p:spPr>
          <a:xfrm>
            <a:off x="685800" y="3212157"/>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C0: Outage</a:t>
            </a:r>
            <a:endParaRPr lang="en-US" sz="920" dirty="0"/>
          </a:p>
        </p:txBody>
      </p:sp>
      <p:sp>
        <p:nvSpPr>
          <p:cNvPr id="22" name="Shape 20"/>
          <p:cNvSpPr/>
          <p:nvPr/>
        </p:nvSpPr>
        <p:spPr>
          <a:xfrm>
            <a:off x="3044952" y="3239589"/>
            <a:ext cx="356616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44952" y="3239589"/>
            <a:ext cx="2349137" cy="164592"/>
          </a:xfrm>
          <a:prstGeom prst="roundRect">
            <a:avLst>
              <a:gd name="adj" fmla="val 22222"/>
            </a:avLst>
          </a:prstGeom>
          <a:solidFill>
            <a:srgbClr val="4D7C5B"/>
          </a:solidFill>
          <a:ln w="12700">
            <a:solidFill>
              <a:srgbClr val="4D7C5B">
                <a:alpha val="0"/>
              </a:srgbClr>
            </a:solidFill>
            <a:prstDash val="solid"/>
          </a:ln>
        </p:spPr>
      </p:sp>
      <p:sp>
        <p:nvSpPr>
          <p:cNvPr id="24" name="Text 22"/>
          <p:cNvSpPr/>
          <p:nvPr/>
        </p:nvSpPr>
        <p:spPr>
          <a:xfrm>
            <a:off x="5522105" y="3235017"/>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25" name="Text 23"/>
          <p:cNvSpPr/>
          <p:nvPr/>
        </p:nvSpPr>
        <p:spPr>
          <a:xfrm>
            <a:off x="685800" y="3773859"/>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C1: Mfa</a:t>
            </a:r>
            <a:endParaRPr lang="en-US" sz="920" dirty="0"/>
          </a:p>
        </p:txBody>
      </p:sp>
      <p:sp>
        <p:nvSpPr>
          <p:cNvPr id="26" name="Shape 24"/>
          <p:cNvSpPr/>
          <p:nvPr/>
        </p:nvSpPr>
        <p:spPr>
          <a:xfrm>
            <a:off x="3044952" y="3801291"/>
            <a:ext cx="356616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44952" y="3801291"/>
            <a:ext cx="2349137" cy="164592"/>
          </a:xfrm>
          <a:prstGeom prst="roundRect">
            <a:avLst>
              <a:gd name="adj" fmla="val 22222"/>
            </a:avLst>
          </a:prstGeom>
          <a:solidFill>
            <a:srgbClr val="4D7C5B"/>
          </a:solidFill>
          <a:ln w="12700">
            <a:solidFill>
              <a:srgbClr val="4D7C5B">
                <a:alpha val="0"/>
              </a:srgbClr>
            </a:solidFill>
            <a:prstDash val="solid"/>
          </a:ln>
        </p:spPr>
      </p:sp>
      <p:sp>
        <p:nvSpPr>
          <p:cNvPr id="28" name="Text 26"/>
          <p:cNvSpPr/>
          <p:nvPr/>
        </p:nvSpPr>
        <p:spPr>
          <a:xfrm>
            <a:off x="5522105" y="3796719"/>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29" name="Text 27"/>
          <p:cNvSpPr/>
          <p:nvPr/>
        </p:nvSpPr>
        <p:spPr>
          <a:xfrm>
            <a:off x="685800" y="4335562"/>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C4: Data</a:t>
            </a:r>
            <a:endParaRPr lang="en-US" sz="920" dirty="0"/>
          </a:p>
        </p:txBody>
      </p:sp>
      <p:sp>
        <p:nvSpPr>
          <p:cNvPr id="30" name="Shape 28"/>
          <p:cNvSpPr/>
          <p:nvPr/>
        </p:nvSpPr>
        <p:spPr>
          <a:xfrm>
            <a:off x="3044952" y="4362994"/>
            <a:ext cx="356616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44952" y="4362994"/>
            <a:ext cx="2349137" cy="164592"/>
          </a:xfrm>
          <a:prstGeom prst="roundRect">
            <a:avLst>
              <a:gd name="adj" fmla="val 22222"/>
            </a:avLst>
          </a:prstGeom>
          <a:solidFill>
            <a:srgbClr val="4D7C5B"/>
          </a:solidFill>
          <a:ln w="12700">
            <a:solidFill>
              <a:srgbClr val="4D7C5B">
                <a:alpha val="0"/>
              </a:srgbClr>
            </a:solidFill>
            <a:prstDash val="solid"/>
          </a:ln>
        </p:spPr>
      </p:sp>
      <p:sp>
        <p:nvSpPr>
          <p:cNvPr id="32" name="Text 30"/>
          <p:cNvSpPr/>
          <p:nvPr/>
        </p:nvSpPr>
        <p:spPr>
          <a:xfrm>
            <a:off x="5522105" y="4358422"/>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33" name="Text 31"/>
          <p:cNvSpPr/>
          <p:nvPr/>
        </p:nvSpPr>
        <p:spPr>
          <a:xfrm>
            <a:off x="685800" y="4897265"/>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C3: Control</a:t>
            </a:r>
            <a:endParaRPr lang="en-US" sz="920" dirty="0"/>
          </a:p>
        </p:txBody>
      </p:sp>
      <p:sp>
        <p:nvSpPr>
          <p:cNvPr id="34" name="Shape 32"/>
          <p:cNvSpPr/>
          <p:nvPr/>
        </p:nvSpPr>
        <p:spPr>
          <a:xfrm>
            <a:off x="3044952" y="4924697"/>
            <a:ext cx="3566160" cy="164592"/>
          </a:xfrm>
          <a:prstGeom prst="roundRect">
            <a:avLst>
              <a:gd name="adj" fmla="val 22222"/>
            </a:avLst>
          </a:prstGeom>
          <a:solidFill>
            <a:srgbClr val="E3DBCD"/>
          </a:solidFill>
          <a:ln w="12700">
            <a:solidFill>
              <a:srgbClr val="E3DBCD">
                <a:alpha val="0"/>
              </a:srgbClr>
            </a:solidFill>
            <a:prstDash val="solid"/>
          </a:ln>
        </p:spPr>
      </p:sp>
      <p:sp>
        <p:nvSpPr>
          <p:cNvPr id="35" name="Shape 33"/>
          <p:cNvSpPr/>
          <p:nvPr/>
        </p:nvSpPr>
        <p:spPr>
          <a:xfrm>
            <a:off x="3044952" y="4924697"/>
            <a:ext cx="722811" cy="164592"/>
          </a:xfrm>
          <a:prstGeom prst="roundRect">
            <a:avLst>
              <a:gd name="adj" fmla="val 22222"/>
            </a:avLst>
          </a:prstGeom>
          <a:solidFill>
            <a:srgbClr val="4D7C5B"/>
          </a:solidFill>
          <a:ln w="12700">
            <a:solidFill>
              <a:srgbClr val="4D7C5B">
                <a:alpha val="0"/>
              </a:srgbClr>
            </a:solidFill>
            <a:prstDash val="solid"/>
          </a:ln>
        </p:spPr>
      </p:sp>
      <p:sp>
        <p:nvSpPr>
          <p:cNvPr id="36" name="Text 34"/>
          <p:cNvSpPr/>
          <p:nvPr/>
        </p:nvSpPr>
        <p:spPr>
          <a:xfrm>
            <a:off x="3895779" y="4920125"/>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4</a:t>
            </a:r>
            <a:endParaRPr lang="en-US" sz="840" dirty="0"/>
          </a:p>
        </p:txBody>
      </p:sp>
      <p:sp>
        <p:nvSpPr>
          <p:cNvPr id="37" name="Shape 35"/>
          <p:cNvSpPr/>
          <p:nvPr/>
        </p:nvSpPr>
        <p:spPr>
          <a:xfrm>
            <a:off x="7452360" y="1600200"/>
            <a:ext cx="3474720" cy="2651760"/>
          </a:xfrm>
          <a:prstGeom prst="roundRect">
            <a:avLst>
              <a:gd name="adj" fmla="val 2759"/>
            </a:avLst>
          </a:prstGeom>
          <a:solidFill>
            <a:srgbClr val="FFFFFF"/>
          </a:solidFill>
          <a:ln w="12700">
            <a:solidFill>
              <a:srgbClr val="D5CCBA"/>
            </a:solidFill>
            <a:prstDash val="solid"/>
          </a:ln>
        </p:spPr>
      </p:sp>
      <p:sp>
        <p:nvSpPr>
          <p:cNvPr id="38" name="Shape 36"/>
          <p:cNvSpPr/>
          <p:nvPr/>
        </p:nvSpPr>
        <p:spPr>
          <a:xfrm>
            <a:off x="7452360" y="1600200"/>
            <a:ext cx="73152" cy="2651760"/>
          </a:xfrm>
          <a:prstGeom prst="rect">
            <a:avLst/>
          </a:prstGeom>
          <a:solidFill>
            <a:srgbClr val="236A70"/>
          </a:solidFill>
          <a:ln w="12700">
            <a:solidFill>
              <a:srgbClr val="333333">
                <a:alpha val="0"/>
              </a:srgbClr>
            </a:solidFill>
            <a:prstDash val="solid"/>
          </a:ln>
        </p:spPr>
      </p:sp>
      <p:sp>
        <p:nvSpPr>
          <p:cNvPr id="39" name="Text 37"/>
          <p:cNvSpPr/>
          <p:nvPr/>
        </p:nvSpPr>
        <p:spPr>
          <a:xfrm>
            <a:off x="7708392" y="181965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What the experiment adds</a:t>
            </a:r>
            <a:endParaRPr lang="en-US" sz="1350" dirty="0"/>
          </a:p>
        </p:txBody>
      </p:sp>
      <p:sp>
        <p:nvSpPr>
          <p:cNvPr id="40" name="Text 38"/>
          <p:cNvSpPr/>
          <p:nvPr/>
        </p:nvSpPr>
        <p:spPr>
          <a:xfrm>
            <a:off x="7708392" y="2221992"/>
            <a:ext cx="2971800" cy="186537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The pipeline includes a dependency-free TF-IDF k-means pass. It is not the production classifier; it is a discovery check that groups similar meetings and compares each cluster with the hand-labeled business theme. The result gives reviewers evidence that the taxonomy was tested, not only asserted.</a:t>
            </a:r>
            <a:endParaRPr lang="en-US" sz="1450" dirty="0"/>
          </a:p>
        </p:txBody>
      </p:sp>
      <p:sp>
        <p:nvSpPr>
          <p:cNvPr id="41" name="Shape 39"/>
          <p:cNvSpPr/>
          <p:nvPr/>
        </p:nvSpPr>
        <p:spPr>
          <a:xfrm>
            <a:off x="566928" y="6327648"/>
            <a:ext cx="10927080" cy="0"/>
          </a:xfrm>
          <a:prstGeom prst="line">
            <a:avLst/>
          </a:prstGeom>
          <a:noFill/>
          <a:ln w="9525">
            <a:solidFill>
              <a:srgbClr val="D5CCBA">
                <a:alpha val="75000"/>
              </a:srgbClr>
            </a:solidFill>
            <a:prstDash val="solid"/>
          </a:ln>
        </p:spPr>
      </p:sp>
      <p:sp>
        <p:nvSpPr>
          <p:cNvPr id="42" name="Text 40"/>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08</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AI LAYER</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The AI layer includes retrieval, confidence, and human review</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 CONFIDENCE</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83%</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Average confidence across the rule-labeled taxonomy.</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CLUSTER PURITY</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61%</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How often unsupervised clusters align with dominant business labels.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REVIEW QUEUE</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1</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Low-confidence meetings routed for human review before automation.</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Production AI path</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The current solution uses dependency-free TF-IDF retrieval as a RAG-style prototype. In production, I would replace this with embedding search, LLM extraction constrained to retrieved transcript evidence, confidence thresholds, and human review for ambiguous or high-risk account conversations.</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09</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EVAL</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gold-label harness turns this from analysis into an AI system</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CALL TYPE</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100%</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Accuracy on the curated validation slice.</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100%</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Accuracy on primary business taxonomy labels.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RISK F1</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100%</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High-risk detection precision/recall balance.</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Why this matters</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A senior AI system should not stop at generated charts. The solution includes a 20-meeting gold-label sample and reports accuracy plus precision/recall/F1. In production, this expands into a stratified validation set, reviewer agreement, regression tests, and drift monitoring.</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10</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OPERATING MODEL</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Trusted AI requires evidence, review loops, and quality guardrails</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SEMANTIC RETRIEVAL</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Embeddings</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Use real embeddings to retrieve transcript evidence for leadership questions.</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REVIEW WORKFLOW</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Human loop</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Route ambiguous or high-risk conversations to accountable owners.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QUALITY GUARDRAILS</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Eval</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Use gold labels and regression tests to monitor routing quality.</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Why this matters</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This is the production operating model: evidence-grounded retrieval, confidence thresholds, human review for sensitive decisions, and continuous evaluation as new transcripts arrive.</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11</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PRODUCTS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I translated transcript analysis into three AI-enabled operating workflows</a:t>
            </a:r>
            <a:endParaRPr lang="en-US" sz="2500" dirty="0"/>
          </a:p>
        </p:txBody>
      </p:sp>
      <p:sp>
        <p:nvSpPr>
          <p:cNvPr id="9" name="Shape 7"/>
          <p:cNvSpPr/>
          <p:nvPr/>
        </p:nvSpPr>
        <p:spPr>
          <a:xfrm>
            <a:off x="685800" y="164592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64592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SALES / CS</a:t>
            </a:r>
            <a:endParaRPr lang="en-US" sz="750" dirty="0"/>
          </a:p>
        </p:txBody>
      </p:sp>
      <p:sp>
        <p:nvSpPr>
          <p:cNvPr id="12" name="Text 10"/>
          <p:cNvSpPr/>
          <p:nvPr/>
        </p:nvSpPr>
        <p:spPr>
          <a:xfrm>
            <a:off x="90525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1</a:t>
            </a:r>
            <a:endParaRPr lang="en-US" sz="2500" dirty="0"/>
          </a:p>
        </p:txBody>
      </p:sp>
      <p:sp>
        <p:nvSpPr>
          <p:cNvPr id="13" name="Text 11"/>
          <p:cNvSpPr/>
          <p:nvPr/>
        </p:nvSpPr>
        <p:spPr>
          <a:xfrm>
            <a:off x="210312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Revenue risk signal: renewal language + competitor mentions + negative sentiment.</a:t>
            </a:r>
            <a:endParaRPr lang="en-US" sz="1040" dirty="0"/>
          </a:p>
        </p:txBody>
      </p:sp>
      <p:sp>
        <p:nvSpPr>
          <p:cNvPr id="14" name="Shape 12"/>
          <p:cNvSpPr/>
          <p:nvPr/>
        </p:nvSpPr>
        <p:spPr>
          <a:xfrm>
            <a:off x="4434840" y="164592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645920"/>
            <a:ext cx="3337560" cy="73152"/>
          </a:xfrm>
          <a:prstGeom prst="rect">
            <a:avLst/>
          </a:prstGeom>
          <a:solidFill>
            <a:srgbClr val="C18A2E"/>
          </a:solidFill>
          <a:ln w="12700">
            <a:solidFill>
              <a:srgbClr val="333333">
                <a:alpha val="0"/>
              </a:srgbClr>
            </a:solidFill>
            <a:prstDash val="solid"/>
          </a:ln>
        </p:spPr>
      </p:sp>
      <p:sp>
        <p:nvSpPr>
          <p:cNvPr id="16" name="Text 14"/>
          <p:cNvSpPr/>
          <p:nvPr/>
        </p:nvSpPr>
        <p:spPr>
          <a:xfrm>
            <a:off x="465429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PRODUCT</a:t>
            </a:r>
            <a:endParaRPr lang="en-US" sz="750" dirty="0"/>
          </a:p>
        </p:txBody>
      </p:sp>
      <p:sp>
        <p:nvSpPr>
          <p:cNvPr id="17" name="Text 15"/>
          <p:cNvSpPr/>
          <p:nvPr/>
        </p:nvSpPr>
        <p:spPr>
          <a:xfrm>
            <a:off x="465429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2</a:t>
            </a:r>
            <a:endParaRPr lang="en-US" sz="2500" dirty="0"/>
          </a:p>
        </p:txBody>
      </p:sp>
      <p:sp>
        <p:nvSpPr>
          <p:cNvPr id="18" name="Text 16"/>
          <p:cNvSpPr/>
          <p:nvPr/>
        </p:nvSpPr>
        <p:spPr>
          <a:xfrm>
            <a:off x="585216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Product gap backlog: repeated pain points with evidence, accounts, and urgency.</a:t>
            </a:r>
            <a:endParaRPr lang="en-US" sz="1040" dirty="0"/>
          </a:p>
        </p:txBody>
      </p:sp>
      <p:sp>
        <p:nvSpPr>
          <p:cNvPr id="19" name="Shape 17"/>
          <p:cNvSpPr/>
          <p:nvPr/>
        </p:nvSpPr>
        <p:spPr>
          <a:xfrm>
            <a:off x="8183880" y="164592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645920"/>
            <a:ext cx="3337560" cy="73152"/>
          </a:xfrm>
          <a:prstGeom prst="rect">
            <a:avLst/>
          </a:prstGeom>
          <a:solidFill>
            <a:srgbClr val="4D7C5B"/>
          </a:solidFill>
          <a:ln w="12700">
            <a:solidFill>
              <a:srgbClr val="333333">
                <a:alpha val="0"/>
              </a:srgbClr>
            </a:solidFill>
            <a:prstDash val="solid"/>
          </a:ln>
        </p:spPr>
      </p:sp>
      <p:sp>
        <p:nvSpPr>
          <p:cNvPr id="21" name="Text 19"/>
          <p:cNvSpPr/>
          <p:nvPr/>
        </p:nvSpPr>
        <p:spPr>
          <a:xfrm>
            <a:off x="840333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ENGINEERING</a:t>
            </a:r>
            <a:endParaRPr lang="en-US" sz="750" dirty="0"/>
          </a:p>
        </p:txBody>
      </p:sp>
      <p:sp>
        <p:nvSpPr>
          <p:cNvPr id="22" name="Text 20"/>
          <p:cNvSpPr/>
          <p:nvPr/>
        </p:nvSpPr>
        <p:spPr>
          <a:xfrm>
            <a:off x="840333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3</a:t>
            </a:r>
            <a:endParaRPr lang="en-US" sz="2500" dirty="0"/>
          </a:p>
        </p:txBody>
      </p:sp>
      <p:sp>
        <p:nvSpPr>
          <p:cNvPr id="23" name="Text 21"/>
          <p:cNvSpPr/>
          <p:nvPr/>
        </p:nvSpPr>
        <p:spPr>
          <a:xfrm>
            <a:off x="960120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Incident learning loop: connect support pain to post-incident and roadmap follow-through.</a:t>
            </a:r>
            <a:endParaRPr lang="en-US" sz="1040" dirty="0"/>
          </a:p>
        </p:txBody>
      </p:sp>
      <p:sp>
        <p:nvSpPr>
          <p:cNvPr id="24" name="Text 22"/>
          <p:cNvSpPr/>
          <p:nvPr/>
        </p:nvSpPr>
        <p:spPr>
          <a:xfrm>
            <a:off x="914400" y="3840480"/>
            <a:ext cx="9875520" cy="822960"/>
          </a:xfrm>
          <a:prstGeom prst="rect">
            <a:avLst/>
          </a:prstGeom>
          <a:noFill/>
          <a:ln/>
        </p:spPr>
        <p:txBody>
          <a:bodyPr wrap="square" lIns="0" tIns="0" rIns="0" bIns="0" rtlCol="0" anchor="ctr">
            <a:normAutofit/>
          </a:bodyPr>
          <a:lstStyle/>
          <a:p>
            <a:pPr algn="ctr" indent="0" marL="0">
              <a:buNone/>
            </a:pPr>
            <a:r>
              <a:rPr lang="en-US" sz="2200" b="1" dirty="0">
                <a:solidFill>
                  <a:srgbClr val="182322"/>
                </a:solidFill>
              </a:rPr>
              <a:t>My design goal was to move beyond summarization: extract evidence, score risk, route the right owner, and create review loops that leaders can trust.</a:t>
            </a:r>
            <a:endParaRPr lang="en-US" sz="2200" dirty="0"/>
          </a:p>
        </p:txBody>
      </p:sp>
      <p:sp>
        <p:nvSpPr>
          <p:cNvPr id="25" name="Shape 23"/>
          <p:cNvSpPr/>
          <p:nvPr/>
        </p:nvSpPr>
        <p:spPr>
          <a:xfrm>
            <a:off x="566928" y="6327648"/>
            <a:ext cx="10927080" cy="0"/>
          </a:xfrm>
          <a:prstGeom prst="line">
            <a:avLst/>
          </a:prstGeom>
          <a:noFill/>
          <a:ln w="9525">
            <a:solidFill>
              <a:srgbClr val="D5CCBA">
                <a:alpha val="75000"/>
              </a:srgbClr>
            </a:solidFill>
            <a:prstDash val="solid"/>
          </a:ln>
        </p:spPr>
      </p:sp>
      <p:sp>
        <p:nvSpPr>
          <p:cNvPr id="26" name="Text 24"/>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12</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NEXT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Recommended executive decisions</a:t>
            </a:r>
            <a:endParaRPr lang="en-US" sz="2500" dirty="0"/>
          </a:p>
        </p:txBody>
      </p:sp>
      <p:sp>
        <p:nvSpPr>
          <p:cNvPr id="9" name="Text 7"/>
          <p:cNvSpPr/>
          <p:nvPr/>
        </p:nvSpPr>
        <p:spPr>
          <a:xfrm>
            <a:off x="822960" y="1691640"/>
            <a:ext cx="5852160" cy="2194560"/>
          </a:xfrm>
          <a:prstGeom prst="rect">
            <a:avLst/>
          </a:prstGeom>
          <a:noFill/>
          <a:ln/>
        </p:spPr>
        <p:txBody>
          <a:bodyPr wrap="square" lIns="508" tIns="508" rIns="508" bIns="508" rtlCol="0" anchor="ctr">
            <a:normAutofit/>
          </a:bodyPr>
          <a:lstStyle/>
          <a:p>
            <a:r>
              <a:rPr lang="en-US" sz="1800" dirty="0">
                <a:solidFill>
                  <a:srgbClr val="182322"/>
                </a:solidFill>
              </a:rPr>
              <a:t>Prioritize Detect reliability as the first operating review because it carries the highest customer and commercial risk.</a:t>
            </a:r>
            <a:endParaRPr lang="en-US" sz="1800" dirty="0"/>
          </a:p>
          <a:p>
            <a:r>
              <a:rPr lang="en-US" sz="1800" dirty="0">
                <a:solidFill>
                  <a:srgbClr val="182322"/>
                </a:solidFill>
              </a:rPr>
              <a:t>Stand up account-level revenue risk signals for renewal and competitive calls.</a:t>
            </a:r>
            <a:endParaRPr lang="en-US" sz="1800" dirty="0"/>
          </a:p>
          <a:p>
            <a:r>
              <a:rPr lang="en-US" sz="1800" dirty="0">
                <a:solidFill>
                  <a:srgbClr val="182322"/>
                </a:solidFill>
              </a:rPr>
              <a:t>Convert repeated product gaps into owner-ready roadmap items with transcript evidence.</a:t>
            </a:r>
            <a:endParaRPr lang="en-US" sz="1800" dirty="0"/>
          </a:p>
          <a:p>
            <a:r>
              <a:rPr lang="en-US" sz="1800" dirty="0">
                <a:solidFill>
                  <a:srgbClr val="182322"/>
                </a:solidFill>
              </a:rPr>
              <a:t>Adopt a human-in-the-loop governance model before automating customer-impacting actions.</a:t>
            </a:r>
            <a:endParaRPr lang="en-US" sz="1800" dirty="0"/>
          </a:p>
        </p:txBody>
      </p:sp>
      <p:sp>
        <p:nvSpPr>
          <p:cNvPr id="10" name="Shape 8"/>
          <p:cNvSpPr/>
          <p:nvPr/>
        </p:nvSpPr>
        <p:spPr>
          <a:xfrm>
            <a:off x="7086600" y="1572768"/>
            <a:ext cx="3794760" cy="3703320"/>
          </a:xfrm>
          <a:prstGeom prst="roundRect">
            <a:avLst>
              <a:gd name="adj" fmla="val 1975"/>
            </a:avLst>
          </a:prstGeom>
          <a:solidFill>
            <a:srgbClr val="FFFFFF"/>
          </a:solidFill>
          <a:ln w="12700">
            <a:solidFill>
              <a:srgbClr val="D5CCBA"/>
            </a:solidFill>
            <a:prstDash val="solid"/>
          </a:ln>
        </p:spPr>
      </p:sp>
      <p:sp>
        <p:nvSpPr>
          <p:cNvPr id="11" name="Text 9"/>
          <p:cNvSpPr/>
          <p:nvPr/>
        </p:nvSpPr>
        <p:spPr>
          <a:xfrm>
            <a:off x="7388352" y="1847088"/>
            <a:ext cx="2788920" cy="310896"/>
          </a:xfrm>
          <a:prstGeom prst="rect">
            <a:avLst/>
          </a:prstGeom>
          <a:noFill/>
          <a:ln/>
        </p:spPr>
        <p:txBody>
          <a:bodyPr wrap="square" lIns="0" tIns="0" rIns="0" bIns="0" rtlCol="0" anchor="ctr"/>
          <a:lstStyle/>
          <a:p>
            <a:pPr indent="0" marL="0">
              <a:buNone/>
            </a:pPr>
            <a:r>
              <a:rPr lang="en-US" sz="1700" b="1" dirty="0">
                <a:solidFill>
                  <a:srgbClr val="182322"/>
                </a:solidFill>
              </a:rPr>
              <a:t>Decision asks</a:t>
            </a:r>
            <a:endParaRPr lang="en-US" sz="1700" dirty="0"/>
          </a:p>
        </p:txBody>
      </p:sp>
      <p:sp>
        <p:nvSpPr>
          <p:cNvPr id="12" name="Text 10"/>
          <p:cNvSpPr/>
          <p:nvPr/>
        </p:nvSpPr>
        <p:spPr>
          <a:xfrm>
            <a:off x="7388352" y="2487168"/>
            <a:ext cx="3154680" cy="2057400"/>
          </a:xfrm>
          <a:prstGeom prst="rect">
            <a:avLst/>
          </a:prstGeom>
          <a:noFill/>
          <a:ln/>
        </p:spPr>
        <p:txBody>
          <a:bodyPr wrap="square" lIns="0" tIns="0" rIns="0" bIns="0" rtlCol="0" anchor="ctr">
            <a:normAutofit/>
          </a:bodyPr>
          <a:lstStyle/>
          <a:p>
            <a:pPr indent="0" marL="0">
              <a:buNone/>
            </a:pPr>
            <a:r>
              <a:rPr lang="en-US" sz="1300" dirty="0">
                <a:solidFill>
                  <a:srgbClr val="182322"/>
                </a:solidFill>
              </a:rPr>
              <a:t>Owner: Detect reliability signal</a:t>
            </a:r>
            <a:endParaRPr lang="en-US" sz="1300" dirty="0"/>
          </a:p>
          <a:p>
            <a:pPr indent="0" marL="0">
              <a:buNone/>
            </a:pPr>
            <a:endParaRPr lang="en-US" sz="1300" dirty="0"/>
          </a:p>
          <a:p>
            <a:pPr indent="0" marL="0">
              <a:buNone/>
            </a:pPr>
            <a:r>
              <a:rPr lang="en-US" sz="1300" dirty="0">
                <a:solidFill>
                  <a:srgbClr val="182322"/>
                </a:solidFill>
              </a:rPr>
              <a:t>Thresholds: Product, CS, and Engineering</a:t>
            </a:r>
            <a:endParaRPr lang="en-US" sz="1300" dirty="0"/>
          </a:p>
          <a:p>
            <a:pPr indent="0" marL="0">
              <a:buNone/>
            </a:pPr>
            <a:endParaRPr lang="en-US" sz="1300" dirty="0"/>
          </a:p>
          <a:p>
            <a:pPr indent="0" marL="0">
              <a:buNone/>
            </a:pPr>
            <a:r>
              <a:rPr lang="en-US" sz="1300" dirty="0">
                <a:solidFill>
                  <a:srgbClr val="182322"/>
                </a:solidFill>
              </a:rPr>
              <a:t>Eval: expand gold-label coverage</a:t>
            </a:r>
            <a:endParaRPr lang="en-US" sz="1300" dirty="0"/>
          </a:p>
          <a:p>
            <a:pPr indent="0" marL="0">
              <a:buNone/>
            </a:pPr>
            <a:endParaRPr lang="en-US" sz="1300" dirty="0"/>
          </a:p>
          <a:p>
            <a:pPr indent="0" marL="0">
              <a:buNone/>
            </a:pPr>
            <a:r>
              <a:rPr lang="en-US" sz="1300" dirty="0">
                <a:solidFill>
                  <a:srgbClr val="182322"/>
                </a:solidFill>
              </a:rPr>
              <a:t>Pilot: retrieval-backed CS reviews</a:t>
            </a:r>
            <a:endParaRPr lang="en-US" sz="1300" dirty="0"/>
          </a:p>
        </p:txBody>
      </p:sp>
      <p:sp>
        <p:nvSpPr>
          <p:cNvPr id="13" name="Shape 11"/>
          <p:cNvSpPr/>
          <p:nvPr/>
        </p:nvSpPr>
        <p:spPr>
          <a:xfrm>
            <a:off x="566928" y="6327648"/>
            <a:ext cx="10927080" cy="0"/>
          </a:xfrm>
          <a:prstGeom prst="line">
            <a:avLst/>
          </a:prstGeom>
          <a:noFill/>
          <a:ln w="9525">
            <a:solidFill>
              <a:srgbClr val="D5CCBA">
                <a:alpha val="75000"/>
              </a:srgbClr>
            </a:solidFill>
            <a:prstDash val="solid"/>
          </a:ln>
        </p:spPr>
      </p:sp>
      <p:sp>
        <p:nvSpPr>
          <p:cNvPr id="14" name="Text 12"/>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AegisCloud assessment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Transcript Intelligence Leadership Deck</dc:title>
  <dc:subject>Transcript Intelligence Take-Home</dc:subject>
  <dc:creator>Srikaveri</dc:creator>
  <cp:lastModifiedBy>Srikaveri</cp:lastModifiedBy>
  <cp:revision>1</cp:revision>
  <dcterms:created xsi:type="dcterms:W3CDTF">2026-05-04T17:14:04Z</dcterms:created>
  <dcterms:modified xsi:type="dcterms:W3CDTF">2026-05-04T17:14:04Z</dcterms:modified>
</cp:coreProperties>
</file>