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18A2E"/>
          </a:solidFill>
          <a:ln w="12700">
            <a:solidFill>
              <a:srgbClr val="333333">
                <a:alpha val="0"/>
              </a:srgbClr>
            </a:solidFill>
            <a:prstDash val="solid"/>
          </a:ln>
        </p:spPr>
      </p:sp>
      <p:sp>
        <p:nvSpPr>
          <p:cNvPr id="3" name="Shape 1"/>
          <p:cNvSpPr/>
          <p:nvPr/>
        </p:nvSpPr>
        <p:spPr>
          <a:xfrm>
            <a:off x="8321040" y="0"/>
            <a:ext cx="3886200" cy="6858000"/>
          </a:xfrm>
          <a:prstGeom prst="rect">
            <a:avLst/>
          </a:prstGeom>
          <a:solidFill>
            <a:srgbClr val="234542"/>
          </a:solidFill>
          <a:ln w="12700">
            <a:solidFill>
              <a:srgbClr val="333333">
                <a:alpha val="0"/>
              </a:srgbClr>
            </a:solidFill>
            <a:prstDash val="solid"/>
          </a:ln>
        </p:spPr>
      </p:sp>
      <p:sp>
        <p:nvSpPr>
          <p:cNvPr id="4" name="Shape 2"/>
          <p:cNvSpPr/>
          <p:nvPr/>
        </p:nvSpPr>
        <p:spPr>
          <a:xfrm>
            <a:off x="7635240" y="365760"/>
            <a:ext cx="3749040" cy="3749040"/>
          </a:xfrm>
          <a:prstGeom prst="arc">
            <a:avLst/>
          </a:prstGeom>
          <a:noFill/>
          <a:ln w="25400">
            <a:solidFill>
              <a:srgbClr val="7FA9A6">
                <a:alpha val="65000"/>
              </a:srgbClr>
            </a:solidFill>
            <a:prstDash val="solid"/>
          </a:ln>
        </p:spPr>
      </p:sp>
      <p:sp>
        <p:nvSpPr>
          <p:cNvPr id="5" name="Shape 3"/>
          <p:cNvSpPr/>
          <p:nvPr/>
        </p:nvSpPr>
        <p:spPr>
          <a:xfrm>
            <a:off x="8366760" y="1143000"/>
            <a:ext cx="2880360" cy="2880360"/>
          </a:xfrm>
          <a:prstGeom prst="arc">
            <a:avLst/>
          </a:prstGeom>
          <a:noFill/>
          <a:ln w="25400">
            <a:solidFill>
              <a:srgbClr val="C18A2E">
                <a:alpha val="80000"/>
              </a:srgbClr>
            </a:solidFill>
            <a:prstDash val="solid"/>
          </a:ln>
        </p:spPr>
      </p:sp>
      <p:sp>
        <p:nvSpPr>
          <p:cNvPr id="6" name="Text 4"/>
          <p:cNvSpPr/>
          <p:nvPr/>
        </p:nvSpPr>
        <p:spPr>
          <a:xfrm>
            <a:off x="658368" y="685800"/>
            <a:ext cx="6217920" cy="132588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Transcript</a:t>
            </a:r>
            <a:endParaRPr lang="en-US" sz="4200" dirty="0"/>
          </a:p>
          <a:p>
            <a:pPr indent="0" marL="0">
              <a:buNone/>
            </a:pPr>
            <a:r>
              <a:rPr lang="en-US" sz="4200" b="1" dirty="0">
                <a:solidFill>
                  <a:srgbClr val="FFFFFF"/>
                </a:solidFill>
                <a:latin typeface="Aptos Display" pitchFamily="34" charset="0"/>
                <a:ea typeface="Aptos Display" pitchFamily="34" charset="-122"/>
                <a:cs typeface="Aptos Display" pitchFamily="34" charset="-120"/>
              </a:rPr>
              <a:t>Intelligence</a:t>
            </a:r>
            <a:endParaRPr lang="en-US" sz="4200" dirty="0"/>
          </a:p>
        </p:txBody>
      </p:sp>
      <p:sp>
        <p:nvSpPr>
          <p:cNvPr id="7" name="Text 5"/>
          <p:cNvSpPr/>
          <p:nvPr/>
        </p:nvSpPr>
        <p:spPr>
          <a:xfrm>
            <a:off x="694944" y="2212848"/>
            <a:ext cx="6217920" cy="384048"/>
          </a:xfrm>
          <a:prstGeom prst="rect">
            <a:avLst/>
          </a:prstGeom>
          <a:noFill/>
          <a:ln/>
        </p:spPr>
        <p:txBody>
          <a:bodyPr wrap="square" lIns="0" tIns="0" rIns="0" bIns="0" rtlCol="0" anchor="ctr">
            <a:normAutofit/>
          </a:bodyPr>
          <a:lstStyle/>
          <a:p>
            <a:pPr indent="0" marL="0">
              <a:buNone/>
            </a:pPr>
            <a:r>
              <a:rPr lang="en-US" sz="1800" dirty="0">
                <a:solidFill>
                  <a:srgbClr val="DCE9E5"/>
                </a:solidFill>
              </a:rPr>
              <a:t>A leadership-ready AI analysis of 100 enterprise call transcripts</a:t>
            </a:r>
            <a:endParaRPr lang="en-US" sz="1800" dirty="0"/>
          </a:p>
        </p:txBody>
      </p:sp>
      <p:sp>
        <p:nvSpPr>
          <p:cNvPr id="8" name="Shape 6"/>
          <p:cNvSpPr/>
          <p:nvPr/>
        </p:nvSpPr>
        <p:spPr>
          <a:xfrm>
            <a:off x="694944" y="2880360"/>
            <a:ext cx="1691640" cy="310896"/>
          </a:xfrm>
          <a:prstGeom prst="roundRect">
            <a:avLst>
              <a:gd name="adj" fmla="val 17647"/>
            </a:avLst>
          </a:prstGeom>
          <a:solidFill>
            <a:srgbClr val="236A70">
              <a:alpha val="95000"/>
            </a:srgbClr>
          </a:solidFill>
          <a:ln w="12700">
            <a:solidFill>
              <a:srgbClr val="236A70">
                <a:alpha val="0"/>
              </a:srgbClr>
            </a:solidFill>
            <a:prstDash val="solid"/>
          </a:ln>
        </p:spPr>
      </p:sp>
      <p:sp>
        <p:nvSpPr>
          <p:cNvPr id="9" name="Text 7"/>
          <p:cNvSpPr/>
          <p:nvPr/>
        </p:nvSpPr>
        <p:spPr>
          <a:xfrm>
            <a:off x="786384" y="2967228"/>
            <a:ext cx="15087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EXPLAINABLE BASELINE</a:t>
            </a:r>
            <a:endParaRPr lang="en-US" sz="750" dirty="0"/>
          </a:p>
        </p:txBody>
      </p:sp>
      <p:sp>
        <p:nvSpPr>
          <p:cNvPr id="10" name="Shape 8"/>
          <p:cNvSpPr/>
          <p:nvPr/>
        </p:nvSpPr>
        <p:spPr>
          <a:xfrm>
            <a:off x="2560320" y="2880360"/>
            <a:ext cx="1920240" cy="310896"/>
          </a:xfrm>
          <a:prstGeom prst="roundRect">
            <a:avLst>
              <a:gd name="adj" fmla="val 17647"/>
            </a:avLst>
          </a:prstGeom>
          <a:solidFill>
            <a:srgbClr val="C18A2E">
              <a:alpha val="95000"/>
            </a:srgbClr>
          </a:solidFill>
          <a:ln w="12700">
            <a:solidFill>
              <a:srgbClr val="C18A2E">
                <a:alpha val="0"/>
              </a:srgbClr>
            </a:solidFill>
            <a:prstDash val="solid"/>
          </a:ln>
        </p:spPr>
      </p:sp>
      <p:sp>
        <p:nvSpPr>
          <p:cNvPr id="11" name="Text 9"/>
          <p:cNvSpPr/>
          <p:nvPr/>
        </p:nvSpPr>
        <p:spPr>
          <a:xfrm>
            <a:off x="2651760" y="2967228"/>
            <a:ext cx="17373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RETRIEVAL + EVALUATION</a:t>
            </a:r>
            <a:endParaRPr lang="en-US" sz="750" dirty="0"/>
          </a:p>
        </p:txBody>
      </p:sp>
      <p:sp>
        <p:nvSpPr>
          <p:cNvPr id="12" name="Shape 10"/>
          <p:cNvSpPr/>
          <p:nvPr/>
        </p:nvSpPr>
        <p:spPr>
          <a:xfrm>
            <a:off x="4645152" y="2880360"/>
            <a:ext cx="1463040" cy="310896"/>
          </a:xfrm>
          <a:prstGeom prst="roundRect">
            <a:avLst>
              <a:gd name="adj" fmla="val 17647"/>
            </a:avLst>
          </a:prstGeom>
          <a:solidFill>
            <a:srgbClr val="4D7C5B">
              <a:alpha val="95000"/>
            </a:srgbClr>
          </a:solidFill>
          <a:ln w="12700">
            <a:solidFill>
              <a:srgbClr val="4D7C5B">
                <a:alpha val="0"/>
              </a:srgbClr>
            </a:solidFill>
            <a:prstDash val="solid"/>
          </a:ln>
        </p:spPr>
      </p:sp>
      <p:sp>
        <p:nvSpPr>
          <p:cNvPr id="13" name="Text 11"/>
          <p:cNvSpPr/>
          <p:nvPr/>
        </p:nvSpPr>
        <p:spPr>
          <a:xfrm>
            <a:off x="4736592" y="2967228"/>
            <a:ext cx="12801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PRODUCTION PATH</a:t>
            </a:r>
            <a:endParaRPr lang="en-US" sz="750" dirty="0"/>
          </a:p>
        </p:txBody>
      </p:sp>
      <p:sp>
        <p:nvSpPr>
          <p:cNvPr id="14" name="Shape 12"/>
          <p:cNvSpPr/>
          <p:nvPr/>
        </p:nvSpPr>
        <p:spPr>
          <a:xfrm>
            <a:off x="694944" y="47091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694944" y="4709160"/>
            <a:ext cx="3337560" cy="73152"/>
          </a:xfrm>
          <a:prstGeom prst="rect">
            <a:avLst/>
          </a:prstGeom>
          <a:solidFill>
            <a:srgbClr val="7FA9A6"/>
          </a:solidFill>
          <a:ln w="12700">
            <a:solidFill>
              <a:srgbClr val="333333">
                <a:alpha val="0"/>
              </a:srgbClr>
            </a:solidFill>
            <a:prstDash val="solid"/>
          </a:ln>
        </p:spPr>
      </p:sp>
      <p:sp>
        <p:nvSpPr>
          <p:cNvPr id="16" name="Text 14"/>
          <p:cNvSpPr/>
          <p:nvPr/>
        </p:nvSpPr>
        <p:spPr>
          <a:xfrm>
            <a:off x="914400"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MEETINGS</a:t>
            </a:r>
            <a:endParaRPr lang="en-US" sz="750" dirty="0"/>
          </a:p>
        </p:txBody>
      </p:sp>
      <p:sp>
        <p:nvSpPr>
          <p:cNvPr id="17" name="Text 15"/>
          <p:cNvSpPr/>
          <p:nvPr/>
        </p:nvSpPr>
        <p:spPr>
          <a:xfrm>
            <a:off x="914400"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7FA9A6"/>
                </a:solidFill>
              </a:rPr>
              <a:t>100</a:t>
            </a:r>
            <a:endParaRPr lang="en-US" sz="2500" dirty="0"/>
          </a:p>
        </p:txBody>
      </p:sp>
      <p:sp>
        <p:nvSpPr>
          <p:cNvPr id="18" name="Text 16"/>
          <p:cNvSpPr/>
          <p:nvPr/>
        </p:nvSpPr>
        <p:spPr>
          <a:xfrm>
            <a:off x="2112264"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Support, external customer, and internal calls.</a:t>
            </a:r>
            <a:endParaRPr lang="en-US" sz="1040" dirty="0"/>
          </a:p>
        </p:txBody>
      </p:sp>
      <p:sp>
        <p:nvSpPr>
          <p:cNvPr id="19" name="Shape 17"/>
          <p:cNvSpPr/>
          <p:nvPr/>
        </p:nvSpPr>
        <p:spPr>
          <a:xfrm>
            <a:off x="3886200" y="47091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3886200" y="47091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4105656"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THEMES</a:t>
            </a:r>
            <a:endParaRPr lang="en-US" sz="750" dirty="0"/>
          </a:p>
        </p:txBody>
      </p:sp>
      <p:sp>
        <p:nvSpPr>
          <p:cNvPr id="22" name="Text 20"/>
          <p:cNvSpPr/>
          <p:nvPr/>
        </p:nvSpPr>
        <p:spPr>
          <a:xfrm>
            <a:off x="4105656"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7</a:t>
            </a:r>
            <a:endParaRPr lang="en-US" sz="2500" dirty="0"/>
          </a:p>
        </p:txBody>
      </p:sp>
      <p:sp>
        <p:nvSpPr>
          <p:cNvPr id="23" name="Text 21"/>
          <p:cNvSpPr/>
          <p:nvPr/>
        </p:nvSpPr>
        <p:spPr>
          <a:xfrm>
            <a:off x="5303520"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Business-oriented routing taxonomy.</a:t>
            </a:r>
            <a:endParaRPr lang="en-US" sz="1040" dirty="0"/>
          </a:p>
        </p:txBody>
      </p:sp>
      <p:sp>
        <p:nvSpPr>
          <p:cNvPr id="24" name="Text 22"/>
          <p:cNvSpPr/>
          <p:nvPr/>
        </p:nvSpPr>
        <p:spPr>
          <a:xfrm>
            <a:off x="8732520" y="5349240"/>
            <a:ext cx="2560320" cy="256032"/>
          </a:xfrm>
          <a:prstGeom prst="rect">
            <a:avLst/>
          </a:prstGeom>
          <a:noFill/>
          <a:ln/>
        </p:spPr>
        <p:txBody>
          <a:bodyPr wrap="square" lIns="0" tIns="0" rIns="0" bIns="0" rtlCol="0" anchor="ctr"/>
          <a:lstStyle/>
          <a:p>
            <a:pPr indent="0" marL="0">
              <a:buNone/>
            </a:pPr>
            <a:r>
              <a:rPr lang="en-US" sz="1100" b="1" dirty="0">
                <a:solidFill>
                  <a:srgbClr val="FFFFFF"/>
                </a:solidFill>
              </a:rPr>
              <a:t>Senior AI Engineer take-home</a:t>
            </a:r>
            <a:endParaRPr lang="en-US" sz="1100" dirty="0"/>
          </a:p>
        </p:txBody>
      </p:sp>
      <p:sp>
        <p:nvSpPr>
          <p:cNvPr id="25" name="Text 23"/>
          <p:cNvSpPr/>
          <p:nvPr/>
        </p:nvSpPr>
        <p:spPr>
          <a:xfrm>
            <a:off x="8732520" y="5650992"/>
            <a:ext cx="2560320" cy="438912"/>
          </a:xfrm>
          <a:prstGeom prst="rect">
            <a:avLst/>
          </a:prstGeom>
          <a:noFill/>
          <a:ln/>
        </p:spPr>
        <p:txBody>
          <a:bodyPr wrap="square" lIns="0" tIns="0" rIns="0" bIns="0" rtlCol="0" anchor="ctr">
            <a:normAutofit/>
          </a:bodyPr>
          <a:lstStyle/>
          <a:p>
            <a:pPr indent="0" marL="0">
              <a:buNone/>
            </a:pPr>
            <a:r>
              <a:rPr lang="en-US" sz="1000" dirty="0">
                <a:solidFill>
                  <a:srgbClr val="DCE9E5"/>
                </a:solidFill>
              </a:rPr>
              <a:t>Pipeline | RAG-style retrieval | gold-label eval | FastAPI review app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CORPUS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transcript corpus is an operating signal, not just meeting notes</a:t>
            </a:r>
            <a:endParaRPr lang="en-US" sz="2500" dirty="0"/>
          </a:p>
        </p:txBody>
      </p:sp>
      <p:sp>
        <p:nvSpPr>
          <p:cNvPr id="9" name="Text 7"/>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82322"/>
                </a:solidFill>
              </a:rPr>
              <a:t>Support calls reveal acute pain: outages, latency, connector bugs, billing disputes.</a:t>
            </a:r>
            <a:endParaRPr lang="en-US" sz="1800" dirty="0"/>
          </a:p>
          <a:p>
            <a:r>
              <a:rPr lang="en-US" sz="1800" dirty="0">
                <a:solidFill>
                  <a:srgbClr val="182322"/>
                </a:solidFill>
              </a:rPr>
              <a:t>External customer calls reveal commercial risk: renewals, trust, competitive evaluations, roadmap confidence.</a:t>
            </a:r>
            <a:endParaRPr lang="en-US" sz="1800" dirty="0"/>
          </a:p>
          <a:p>
            <a:r>
              <a:rPr lang="en-US" sz="1800" dirty="0">
                <a:solidFill>
                  <a:srgbClr val="182322"/>
                </a:solidFill>
              </a:rPr>
              <a:t>Internal calls reveal whether the organization is closing the loop on customer pain.</a:t>
            </a:r>
            <a:endParaRPr lang="en-US" sz="1800" dirty="0"/>
          </a:p>
        </p:txBody>
      </p:sp>
      <p:sp>
        <p:nvSpPr>
          <p:cNvPr id="10" name="Shape 8"/>
          <p:cNvSpPr/>
          <p:nvPr/>
        </p:nvSpPr>
        <p:spPr>
          <a:xfrm>
            <a:off x="6766560" y="1554480"/>
            <a:ext cx="3337560" cy="1097280"/>
          </a:xfrm>
          <a:prstGeom prst="roundRect">
            <a:avLst>
              <a:gd name="adj" fmla="val 6667"/>
            </a:avLst>
          </a:prstGeom>
          <a:solidFill>
            <a:srgbClr val="FFFFFF"/>
          </a:solidFill>
          <a:ln w="12700">
            <a:solidFill>
              <a:srgbClr val="D5CCBA"/>
            </a:solidFill>
            <a:prstDash val="solid"/>
          </a:ln>
        </p:spPr>
      </p:sp>
      <p:sp>
        <p:nvSpPr>
          <p:cNvPr id="11" name="Shape 9"/>
          <p:cNvSpPr/>
          <p:nvPr/>
        </p:nvSpPr>
        <p:spPr>
          <a:xfrm>
            <a:off x="6766560" y="1554480"/>
            <a:ext cx="3337560" cy="73152"/>
          </a:xfrm>
          <a:prstGeom prst="rect">
            <a:avLst/>
          </a:prstGeom>
          <a:solidFill>
            <a:srgbClr val="A14C43"/>
          </a:solidFill>
          <a:ln w="12700">
            <a:solidFill>
              <a:srgbClr val="333333">
                <a:alpha val="0"/>
              </a:srgbClr>
            </a:solidFill>
            <a:prstDash val="solid"/>
          </a:ln>
        </p:spPr>
      </p:sp>
      <p:sp>
        <p:nvSpPr>
          <p:cNvPr id="12" name="Text 10"/>
          <p:cNvSpPr/>
          <p:nvPr/>
        </p:nvSpPr>
        <p:spPr>
          <a:xfrm>
            <a:off x="6986016" y="173736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CUSTOMER SUPPORT</a:t>
            </a:r>
            <a:endParaRPr lang="en-US" sz="750" dirty="0"/>
          </a:p>
        </p:txBody>
      </p:sp>
      <p:sp>
        <p:nvSpPr>
          <p:cNvPr id="13" name="Text 11"/>
          <p:cNvSpPr/>
          <p:nvPr/>
        </p:nvSpPr>
        <p:spPr>
          <a:xfrm>
            <a:off x="6986016" y="1938528"/>
            <a:ext cx="1234440" cy="365760"/>
          </a:xfrm>
          <a:prstGeom prst="rect">
            <a:avLst/>
          </a:prstGeom>
          <a:noFill/>
          <a:ln/>
        </p:spPr>
        <p:txBody>
          <a:bodyPr wrap="square" lIns="0" tIns="0" rIns="0" bIns="0" rtlCol="0" anchor="ctr">
            <a:normAutofit/>
          </a:bodyPr>
          <a:lstStyle/>
          <a:p>
            <a:pPr indent="0" marL="0">
              <a:buNone/>
            </a:pPr>
            <a:r>
              <a:rPr lang="en-US" sz="2500" b="1" dirty="0">
                <a:solidFill>
                  <a:srgbClr val="A14C43"/>
                </a:solidFill>
              </a:rPr>
              <a:t>31</a:t>
            </a:r>
            <a:endParaRPr lang="en-US" sz="2500" dirty="0"/>
          </a:p>
        </p:txBody>
      </p:sp>
      <p:sp>
        <p:nvSpPr>
          <p:cNvPr id="14" name="Text 12"/>
          <p:cNvSpPr/>
          <p:nvPr/>
        </p:nvSpPr>
        <p:spPr>
          <a:xfrm>
            <a:off x="8183880" y="194767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Highest negative utterance share.</a:t>
            </a:r>
            <a:endParaRPr lang="en-US" sz="1040" dirty="0"/>
          </a:p>
        </p:txBody>
      </p:sp>
      <p:sp>
        <p:nvSpPr>
          <p:cNvPr id="15" name="Shape 13"/>
          <p:cNvSpPr/>
          <p:nvPr/>
        </p:nvSpPr>
        <p:spPr>
          <a:xfrm>
            <a:off x="6766560" y="2788920"/>
            <a:ext cx="3337560" cy="1097280"/>
          </a:xfrm>
          <a:prstGeom prst="roundRect">
            <a:avLst>
              <a:gd name="adj" fmla="val 6667"/>
            </a:avLst>
          </a:prstGeom>
          <a:solidFill>
            <a:srgbClr val="FFFFFF"/>
          </a:solidFill>
          <a:ln w="12700">
            <a:solidFill>
              <a:srgbClr val="D5CCBA"/>
            </a:solidFill>
            <a:prstDash val="solid"/>
          </a:ln>
        </p:spPr>
      </p:sp>
      <p:sp>
        <p:nvSpPr>
          <p:cNvPr id="16" name="Shape 14"/>
          <p:cNvSpPr/>
          <p:nvPr/>
        </p:nvSpPr>
        <p:spPr>
          <a:xfrm>
            <a:off x="6766560" y="2788920"/>
            <a:ext cx="3337560" cy="73152"/>
          </a:xfrm>
          <a:prstGeom prst="rect">
            <a:avLst/>
          </a:prstGeom>
          <a:solidFill>
            <a:srgbClr val="236A70"/>
          </a:solidFill>
          <a:ln w="12700">
            <a:solidFill>
              <a:srgbClr val="333333">
                <a:alpha val="0"/>
              </a:srgbClr>
            </a:solidFill>
            <a:prstDash val="solid"/>
          </a:ln>
        </p:spPr>
      </p:sp>
      <p:sp>
        <p:nvSpPr>
          <p:cNvPr id="17" name="Text 15"/>
          <p:cNvSpPr/>
          <p:nvPr/>
        </p:nvSpPr>
        <p:spPr>
          <a:xfrm>
            <a:off x="6986016" y="2971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EXTERNAL CUSTOMER</a:t>
            </a:r>
            <a:endParaRPr lang="en-US" sz="750" dirty="0"/>
          </a:p>
        </p:txBody>
      </p:sp>
      <p:sp>
        <p:nvSpPr>
          <p:cNvPr id="18" name="Text 16"/>
          <p:cNvSpPr/>
          <p:nvPr/>
        </p:nvSpPr>
        <p:spPr>
          <a:xfrm>
            <a:off x="6986016" y="3172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39</a:t>
            </a:r>
            <a:endParaRPr lang="en-US" sz="2500" dirty="0"/>
          </a:p>
        </p:txBody>
      </p:sp>
      <p:sp>
        <p:nvSpPr>
          <p:cNvPr id="19" name="Text 17"/>
          <p:cNvSpPr/>
          <p:nvPr/>
        </p:nvSpPr>
        <p:spPr>
          <a:xfrm>
            <a:off x="8183880" y="3182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Lower sentiment risk, higher revenue context.</a:t>
            </a:r>
            <a:endParaRPr lang="en-US" sz="1040" dirty="0"/>
          </a:p>
        </p:txBody>
      </p:sp>
      <p:sp>
        <p:nvSpPr>
          <p:cNvPr id="20" name="Shape 18"/>
          <p:cNvSpPr/>
          <p:nvPr/>
        </p:nvSpPr>
        <p:spPr>
          <a:xfrm>
            <a:off x="6766560" y="4023360"/>
            <a:ext cx="3337560" cy="1097280"/>
          </a:xfrm>
          <a:prstGeom prst="roundRect">
            <a:avLst>
              <a:gd name="adj" fmla="val 6667"/>
            </a:avLst>
          </a:prstGeom>
          <a:solidFill>
            <a:srgbClr val="FFFFFF"/>
          </a:solidFill>
          <a:ln w="12700">
            <a:solidFill>
              <a:srgbClr val="D5CCBA"/>
            </a:solidFill>
            <a:prstDash val="solid"/>
          </a:ln>
        </p:spPr>
      </p:sp>
      <p:sp>
        <p:nvSpPr>
          <p:cNvPr id="21" name="Shape 19"/>
          <p:cNvSpPr/>
          <p:nvPr/>
        </p:nvSpPr>
        <p:spPr>
          <a:xfrm>
            <a:off x="6766560" y="4023360"/>
            <a:ext cx="3337560" cy="73152"/>
          </a:xfrm>
          <a:prstGeom prst="rect">
            <a:avLst/>
          </a:prstGeom>
          <a:solidFill>
            <a:srgbClr val="C18A2E"/>
          </a:solidFill>
          <a:ln w="12700">
            <a:solidFill>
              <a:srgbClr val="333333">
                <a:alpha val="0"/>
              </a:srgbClr>
            </a:solidFill>
            <a:prstDash val="solid"/>
          </a:ln>
        </p:spPr>
      </p:sp>
      <p:sp>
        <p:nvSpPr>
          <p:cNvPr id="22" name="Text 20"/>
          <p:cNvSpPr/>
          <p:nvPr/>
        </p:nvSpPr>
        <p:spPr>
          <a:xfrm>
            <a:off x="6986016" y="42062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INTERNAL</a:t>
            </a:r>
            <a:endParaRPr lang="en-US" sz="750" dirty="0"/>
          </a:p>
        </p:txBody>
      </p:sp>
      <p:sp>
        <p:nvSpPr>
          <p:cNvPr id="23" name="Text 21"/>
          <p:cNvSpPr/>
          <p:nvPr/>
        </p:nvSpPr>
        <p:spPr>
          <a:xfrm>
            <a:off x="6986016" y="44074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30</a:t>
            </a:r>
            <a:endParaRPr lang="en-US" sz="2500" dirty="0"/>
          </a:p>
        </p:txBody>
      </p:sp>
      <p:sp>
        <p:nvSpPr>
          <p:cNvPr id="24" name="Text 22"/>
          <p:cNvSpPr/>
          <p:nvPr/>
        </p:nvSpPr>
        <p:spPr>
          <a:xfrm>
            <a:off x="8183880" y="44165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Prioritization and execution signal.</a:t>
            </a:r>
            <a:endParaRPr lang="en-US" sz="104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PIPELINE</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transparent hybrid classifier is the right first system</a:t>
            </a:r>
            <a:endParaRPr lang="en-US" sz="2500" dirty="0"/>
          </a:p>
        </p:txBody>
      </p:sp>
      <p:sp>
        <p:nvSpPr>
          <p:cNvPr id="9" name="Shape 7"/>
          <p:cNvSpPr/>
          <p:nvPr/>
        </p:nvSpPr>
        <p:spPr>
          <a:xfrm>
            <a:off x="640080" y="1536192"/>
            <a:ext cx="5212080" cy="1325880"/>
          </a:xfrm>
          <a:prstGeom prst="roundRect">
            <a:avLst>
              <a:gd name="adj" fmla="val 5517"/>
            </a:avLst>
          </a:prstGeom>
          <a:solidFill>
            <a:srgbClr val="FFFFFF"/>
          </a:solidFill>
          <a:ln w="12700">
            <a:solidFill>
              <a:srgbClr val="D5CCBA"/>
            </a:solidFill>
            <a:prstDash val="solid"/>
          </a:ln>
        </p:spPr>
      </p:sp>
      <p:sp>
        <p:nvSpPr>
          <p:cNvPr id="10" name="Shape 8"/>
          <p:cNvSpPr/>
          <p:nvPr/>
        </p:nvSpPr>
        <p:spPr>
          <a:xfrm>
            <a:off x="640080" y="1536192"/>
            <a:ext cx="73152" cy="1325880"/>
          </a:xfrm>
          <a:prstGeom prst="rect">
            <a:avLst/>
          </a:prstGeom>
          <a:solidFill>
            <a:srgbClr val="236A70"/>
          </a:solidFill>
          <a:ln w="12700">
            <a:solidFill>
              <a:srgbClr val="333333">
                <a:alpha val="0"/>
              </a:srgbClr>
            </a:solidFill>
            <a:prstDash val="solid"/>
          </a:ln>
        </p:spPr>
      </p:sp>
      <p:sp>
        <p:nvSpPr>
          <p:cNvPr id="11" name="Text 9"/>
          <p:cNvSpPr/>
          <p:nvPr/>
        </p:nvSpPr>
        <p:spPr>
          <a:xfrm>
            <a:off x="896112" y="1755648"/>
            <a:ext cx="4709160" cy="237744"/>
          </a:xfrm>
          <a:prstGeom prst="rect">
            <a:avLst/>
          </a:prstGeom>
          <a:noFill/>
          <a:ln/>
        </p:spPr>
        <p:txBody>
          <a:bodyPr wrap="square" lIns="0" tIns="0" rIns="0" bIns="0" rtlCol="0" anchor="ctr"/>
          <a:lstStyle/>
          <a:p>
            <a:pPr indent="0" marL="0">
              <a:buNone/>
            </a:pPr>
            <a:r>
              <a:rPr lang="en-US" sz="1350" b="1" dirty="0">
                <a:solidFill>
                  <a:srgbClr val="236A70"/>
                </a:solidFill>
              </a:rPr>
              <a:t>Pipeline</a:t>
            </a:r>
            <a:endParaRPr lang="en-US" sz="1350" dirty="0"/>
          </a:p>
        </p:txBody>
      </p:sp>
      <p:sp>
        <p:nvSpPr>
          <p:cNvPr id="12" name="Text 10"/>
          <p:cNvSpPr/>
          <p:nvPr/>
        </p:nvSpPr>
        <p:spPr>
          <a:xfrm>
            <a:off x="896112" y="2157984"/>
            <a:ext cx="4709160" cy="539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Raw JSON folders -&gt; summaries/topics/key moments -&gt; rule-scored call type, theme, product surface, sentiment, risk -&gt; CSV/JSON/HTML/deck outputs</a:t>
            </a:r>
            <a:endParaRPr lang="en-US" sz="1450" dirty="0"/>
          </a:p>
        </p:txBody>
      </p:sp>
      <p:sp>
        <p:nvSpPr>
          <p:cNvPr id="13" name="Text 11"/>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82322"/>
                </a:solidFill>
              </a:rPr>
              <a:t>Explainable enough for product and engineering Q&amp;A.</a:t>
            </a:r>
            <a:endParaRPr lang="en-US" sz="1600" dirty="0"/>
          </a:p>
          <a:p>
            <a:r>
              <a:rPr lang="en-US" sz="1600" dirty="0">
                <a:solidFill>
                  <a:srgbClr val="182322"/>
                </a:solidFill>
              </a:rPr>
              <a:t>Repeatable with no external services or API keys.</a:t>
            </a:r>
            <a:endParaRPr lang="en-US" sz="1600" dirty="0"/>
          </a:p>
          <a:p>
            <a:r>
              <a:rPr lang="en-US" sz="1600" dirty="0">
                <a:solidFill>
                  <a:srgbClr val="182322"/>
                </a:solidFill>
              </a:rPr>
              <a:t>Easy to replace theme rules with embeddings or LLM labels later while keeping audit guardrails.</a:t>
            </a:r>
            <a:endParaRPr lang="en-US" sz="1600" dirty="0"/>
          </a:p>
        </p:txBody>
      </p:sp>
      <p:sp>
        <p:nvSpPr>
          <p:cNvPr id="14" name="Shape 12"/>
          <p:cNvSpPr/>
          <p:nvPr/>
        </p:nvSpPr>
        <p:spPr>
          <a:xfrm>
            <a:off x="6400800" y="1572768"/>
            <a:ext cx="4297680" cy="3383280"/>
          </a:xfrm>
          <a:prstGeom prst="roundRect">
            <a:avLst>
              <a:gd name="adj" fmla="val 2162"/>
            </a:avLst>
          </a:prstGeom>
          <a:solidFill>
            <a:srgbClr val="FFFFFF"/>
          </a:solidFill>
          <a:ln w="12700">
            <a:solidFill>
              <a:srgbClr val="D5CCBA"/>
            </a:solidFill>
            <a:prstDash val="solid"/>
          </a:ln>
        </p:spPr>
      </p:sp>
      <p:sp>
        <p:nvSpPr>
          <p:cNvPr id="15" name="Text 13"/>
          <p:cNvSpPr/>
          <p:nvPr/>
        </p:nvSpPr>
        <p:spPr>
          <a:xfrm>
            <a:off x="6720840" y="1847088"/>
            <a:ext cx="2194560" cy="292608"/>
          </a:xfrm>
          <a:prstGeom prst="rect">
            <a:avLst/>
          </a:prstGeom>
          <a:noFill/>
          <a:ln/>
        </p:spPr>
        <p:txBody>
          <a:bodyPr wrap="square" lIns="0" tIns="0" rIns="0" bIns="0" rtlCol="0" anchor="ctr"/>
          <a:lstStyle/>
          <a:p>
            <a:pPr indent="0" marL="0">
              <a:buNone/>
            </a:pPr>
            <a:r>
              <a:rPr lang="en-US" sz="1800" b="1" dirty="0">
                <a:solidFill>
                  <a:srgbClr val="182322"/>
                </a:solidFill>
              </a:rPr>
              <a:t>Core outputs</a:t>
            </a:r>
            <a:endParaRPr lang="en-US" sz="1800" dirty="0"/>
          </a:p>
        </p:txBody>
      </p:sp>
      <p:sp>
        <p:nvSpPr>
          <p:cNvPr id="16" name="Text 14"/>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82322"/>
                </a:solidFill>
              </a:rPr>
              <a:t>meeting_analysis.csv</a:t>
            </a:r>
            <a:endParaRPr lang="en-US" sz="1500" dirty="0"/>
          </a:p>
          <a:p>
            <a:pPr indent="0" marL="0">
              <a:buNone/>
            </a:pPr>
            <a:r>
              <a:rPr lang="en-US" sz="1500" dirty="0">
                <a:solidFill>
                  <a:srgbClr val="182322"/>
                </a:solidFill>
              </a:rPr>
              <a:t>summary_metrics.json</a:t>
            </a:r>
            <a:endParaRPr lang="en-US" sz="1500" dirty="0"/>
          </a:p>
          <a:p>
            <a:pPr indent="0" marL="0">
              <a:buNone/>
            </a:pPr>
            <a:r>
              <a:rPr lang="en-US" sz="1500" dirty="0">
                <a:solidFill>
                  <a:srgbClr val="182322"/>
                </a:solidFill>
              </a:rPr>
              <a:t>analysis_report.md</a:t>
            </a:r>
            <a:endParaRPr lang="en-US" sz="1500" dirty="0"/>
          </a:p>
          <a:p>
            <a:pPr indent="0" marL="0">
              <a:buNone/>
            </a:pPr>
            <a:r>
              <a:rPr lang="en-US" sz="1500" dirty="0">
                <a:solidFill>
                  <a:srgbClr val="182322"/>
                </a:solidFill>
              </a:rPr>
              <a:t>dashboard.html</a:t>
            </a:r>
            <a:endParaRPr lang="en-US" sz="1500" dirty="0"/>
          </a:p>
          <a:p>
            <a:pPr indent="0" marL="0">
              <a:buNone/>
            </a:pPr>
            <a:r>
              <a:rPr lang="en-US" sz="1500" dirty="0">
                <a:solidFill>
                  <a:srgbClr val="182322"/>
                </a:solidFill>
              </a:rPr>
              <a:t>Transcript_Intelligence_Leadership_Deck.pptx</a:t>
            </a:r>
            <a:endParaRPr lang="en-US" sz="1500" dirty="0"/>
          </a:p>
        </p:txBody>
      </p:sp>
      <p:sp>
        <p:nvSpPr>
          <p:cNvPr id="17" name="Shape 15"/>
          <p:cNvSpPr/>
          <p:nvPr/>
        </p:nvSpPr>
        <p:spPr>
          <a:xfrm>
            <a:off x="566928" y="6327648"/>
            <a:ext cx="10927080" cy="0"/>
          </a:xfrm>
          <a:prstGeom prst="line">
            <a:avLst/>
          </a:prstGeom>
          <a:noFill/>
          <a:ln w="9525">
            <a:solidFill>
              <a:srgbClr val="D5CCBA">
                <a:alpha val="75000"/>
              </a:srgbClr>
            </a:solidFill>
            <a:prstDash val="solid"/>
          </a:ln>
        </p:spPr>
      </p:sp>
      <p:sp>
        <p:nvSpPr>
          <p:cNvPr id="18" name="Text 1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03</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THEMES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500" dirty="0"/>
          </a:p>
        </p:txBody>
      </p:sp>
      <p:sp>
        <p:nvSpPr>
          <p:cNvPr id="9" name="Text 7"/>
          <p:cNvSpPr/>
          <p:nvPr/>
        </p:nvSpPr>
        <p:spPr>
          <a:xfrm>
            <a:off x="658368"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Incident &amp; Reliability</a:t>
            </a:r>
            <a:endParaRPr lang="en-US" sz="920" dirty="0"/>
          </a:p>
        </p:txBody>
      </p:sp>
      <p:sp>
        <p:nvSpPr>
          <p:cNvPr id="10" name="Shape 8"/>
          <p:cNvSpPr/>
          <p:nvPr/>
        </p:nvSpPr>
        <p:spPr>
          <a:xfrm>
            <a:off x="3017520" y="1554480"/>
            <a:ext cx="384048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17520" y="1554480"/>
            <a:ext cx="4069080" cy="164592"/>
          </a:xfrm>
          <a:prstGeom prst="roundRect">
            <a:avLst>
              <a:gd name="adj" fmla="val 22222"/>
            </a:avLst>
          </a:prstGeom>
          <a:solidFill>
            <a:srgbClr val="236A70"/>
          </a:solidFill>
          <a:ln w="12700">
            <a:solidFill>
              <a:srgbClr val="236A70">
                <a:alpha val="0"/>
              </a:srgbClr>
            </a:solidFill>
            <a:prstDash val="solid"/>
          </a:ln>
        </p:spPr>
      </p:sp>
      <p:sp>
        <p:nvSpPr>
          <p:cNvPr id="12" name="Text 10"/>
          <p:cNvSpPr/>
          <p:nvPr/>
        </p:nvSpPr>
        <p:spPr>
          <a:xfrm>
            <a:off x="6483096"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24</a:t>
            </a:r>
            <a:endParaRPr lang="en-US" sz="840" dirty="0"/>
          </a:p>
        </p:txBody>
      </p:sp>
      <p:sp>
        <p:nvSpPr>
          <p:cNvPr id="13" name="Text 11"/>
          <p:cNvSpPr/>
          <p:nvPr/>
        </p:nvSpPr>
        <p:spPr>
          <a:xfrm>
            <a:off x="658368" y="214100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Compliance &amp; Audit</a:t>
            </a:r>
            <a:endParaRPr lang="en-US" sz="920" dirty="0"/>
          </a:p>
        </p:txBody>
      </p:sp>
      <p:sp>
        <p:nvSpPr>
          <p:cNvPr id="14" name="Shape 12"/>
          <p:cNvSpPr/>
          <p:nvPr/>
        </p:nvSpPr>
        <p:spPr>
          <a:xfrm>
            <a:off x="3017520" y="2168434"/>
            <a:ext cx="384048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17520" y="2168434"/>
            <a:ext cx="3729990" cy="164592"/>
          </a:xfrm>
          <a:prstGeom prst="roundRect">
            <a:avLst>
              <a:gd name="adj" fmla="val 22222"/>
            </a:avLst>
          </a:prstGeom>
          <a:solidFill>
            <a:srgbClr val="236A70"/>
          </a:solidFill>
          <a:ln w="12700">
            <a:solidFill>
              <a:srgbClr val="236A70">
                <a:alpha val="0"/>
              </a:srgbClr>
            </a:solidFill>
            <a:prstDash val="solid"/>
          </a:ln>
        </p:spPr>
      </p:sp>
      <p:sp>
        <p:nvSpPr>
          <p:cNvPr id="16" name="Text 14"/>
          <p:cNvSpPr/>
          <p:nvPr/>
        </p:nvSpPr>
        <p:spPr>
          <a:xfrm>
            <a:off x="6483096" y="216386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22</a:t>
            </a:r>
            <a:endParaRPr lang="en-US" sz="840" dirty="0"/>
          </a:p>
        </p:txBody>
      </p:sp>
      <p:sp>
        <p:nvSpPr>
          <p:cNvPr id="17" name="Text 15"/>
          <p:cNvSpPr/>
          <p:nvPr/>
        </p:nvSpPr>
        <p:spPr>
          <a:xfrm>
            <a:off x="658368" y="27549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Renewal &amp; Commercial Risk</a:t>
            </a:r>
            <a:endParaRPr lang="en-US" sz="920" dirty="0"/>
          </a:p>
        </p:txBody>
      </p:sp>
      <p:sp>
        <p:nvSpPr>
          <p:cNvPr id="18" name="Shape 16"/>
          <p:cNvSpPr/>
          <p:nvPr/>
        </p:nvSpPr>
        <p:spPr>
          <a:xfrm>
            <a:off x="3017520" y="2782389"/>
            <a:ext cx="384048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17520" y="2782389"/>
            <a:ext cx="2882265" cy="164592"/>
          </a:xfrm>
          <a:prstGeom prst="roundRect">
            <a:avLst>
              <a:gd name="adj" fmla="val 22222"/>
            </a:avLst>
          </a:prstGeom>
          <a:solidFill>
            <a:srgbClr val="236A70"/>
          </a:solidFill>
          <a:ln w="12700">
            <a:solidFill>
              <a:srgbClr val="236A70">
                <a:alpha val="0"/>
              </a:srgbClr>
            </a:solidFill>
            <a:prstDash val="solid"/>
          </a:ln>
        </p:spPr>
      </p:sp>
      <p:sp>
        <p:nvSpPr>
          <p:cNvPr id="20" name="Text 18"/>
          <p:cNvSpPr/>
          <p:nvPr/>
        </p:nvSpPr>
        <p:spPr>
          <a:xfrm>
            <a:off x="6027801" y="27778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17</a:t>
            </a:r>
            <a:endParaRPr lang="en-US" sz="840" dirty="0"/>
          </a:p>
        </p:txBody>
      </p:sp>
      <p:sp>
        <p:nvSpPr>
          <p:cNvPr id="21" name="Text 19"/>
          <p:cNvSpPr/>
          <p:nvPr/>
        </p:nvSpPr>
        <p:spPr>
          <a:xfrm>
            <a:off x="658368" y="336891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 &amp; Access</a:t>
            </a:r>
            <a:endParaRPr lang="en-US" sz="920" dirty="0"/>
          </a:p>
        </p:txBody>
      </p:sp>
      <p:sp>
        <p:nvSpPr>
          <p:cNvPr id="22" name="Shape 20"/>
          <p:cNvSpPr/>
          <p:nvPr/>
        </p:nvSpPr>
        <p:spPr>
          <a:xfrm>
            <a:off x="3017520" y="3396343"/>
            <a:ext cx="384048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17520" y="3396343"/>
            <a:ext cx="2034540" cy="164592"/>
          </a:xfrm>
          <a:prstGeom prst="roundRect">
            <a:avLst>
              <a:gd name="adj" fmla="val 22222"/>
            </a:avLst>
          </a:prstGeom>
          <a:solidFill>
            <a:srgbClr val="236A70"/>
          </a:solidFill>
          <a:ln w="12700">
            <a:solidFill>
              <a:srgbClr val="236A70">
                <a:alpha val="0"/>
              </a:srgbClr>
            </a:solidFill>
            <a:prstDash val="solid"/>
          </a:ln>
        </p:spPr>
      </p:sp>
      <p:sp>
        <p:nvSpPr>
          <p:cNvPr id="24" name="Text 22"/>
          <p:cNvSpPr/>
          <p:nvPr/>
        </p:nvSpPr>
        <p:spPr>
          <a:xfrm>
            <a:off x="5180076" y="339177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12</a:t>
            </a:r>
            <a:endParaRPr lang="en-US" sz="840" dirty="0"/>
          </a:p>
        </p:txBody>
      </p:sp>
      <p:sp>
        <p:nvSpPr>
          <p:cNvPr id="25" name="Text 23"/>
          <p:cNvSpPr/>
          <p:nvPr/>
        </p:nvSpPr>
        <p:spPr>
          <a:xfrm>
            <a:off x="658368" y="39828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Product Feedback &amp; Roadmap</a:t>
            </a:r>
            <a:endParaRPr lang="en-US" sz="920" dirty="0"/>
          </a:p>
        </p:txBody>
      </p:sp>
      <p:sp>
        <p:nvSpPr>
          <p:cNvPr id="26" name="Shape 24"/>
          <p:cNvSpPr/>
          <p:nvPr/>
        </p:nvSpPr>
        <p:spPr>
          <a:xfrm>
            <a:off x="3017520" y="4010297"/>
            <a:ext cx="384048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17520" y="4010297"/>
            <a:ext cx="1864995" cy="164592"/>
          </a:xfrm>
          <a:prstGeom prst="roundRect">
            <a:avLst>
              <a:gd name="adj" fmla="val 22222"/>
            </a:avLst>
          </a:prstGeom>
          <a:solidFill>
            <a:srgbClr val="236A70"/>
          </a:solidFill>
          <a:ln w="12700">
            <a:solidFill>
              <a:srgbClr val="236A70">
                <a:alpha val="0"/>
              </a:srgbClr>
            </a:solidFill>
            <a:prstDash val="solid"/>
          </a:ln>
        </p:spPr>
      </p:sp>
      <p:sp>
        <p:nvSpPr>
          <p:cNvPr id="28" name="Text 26"/>
          <p:cNvSpPr/>
          <p:nvPr/>
        </p:nvSpPr>
        <p:spPr>
          <a:xfrm>
            <a:off x="5010531" y="40057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11</a:t>
            </a:r>
            <a:endParaRPr lang="en-US" sz="840" dirty="0"/>
          </a:p>
        </p:txBody>
      </p:sp>
      <p:sp>
        <p:nvSpPr>
          <p:cNvPr id="29" name="Text 27"/>
          <p:cNvSpPr/>
          <p:nvPr/>
        </p:nvSpPr>
        <p:spPr>
          <a:xfrm>
            <a:off x="658368" y="459681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Backup &amp; Recovery</a:t>
            </a:r>
            <a:endParaRPr lang="en-US" sz="920" dirty="0"/>
          </a:p>
        </p:txBody>
      </p:sp>
      <p:sp>
        <p:nvSpPr>
          <p:cNvPr id="30" name="Shape 28"/>
          <p:cNvSpPr/>
          <p:nvPr/>
        </p:nvSpPr>
        <p:spPr>
          <a:xfrm>
            <a:off x="3017520" y="4624251"/>
            <a:ext cx="384048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17520" y="4624251"/>
            <a:ext cx="1356360" cy="164592"/>
          </a:xfrm>
          <a:prstGeom prst="roundRect">
            <a:avLst>
              <a:gd name="adj" fmla="val 22222"/>
            </a:avLst>
          </a:prstGeom>
          <a:solidFill>
            <a:srgbClr val="236A70"/>
          </a:solidFill>
          <a:ln w="12700">
            <a:solidFill>
              <a:srgbClr val="236A70">
                <a:alpha val="0"/>
              </a:srgbClr>
            </a:solidFill>
            <a:prstDash val="solid"/>
          </a:ln>
        </p:spPr>
      </p:sp>
      <p:sp>
        <p:nvSpPr>
          <p:cNvPr id="32" name="Text 30"/>
          <p:cNvSpPr/>
          <p:nvPr/>
        </p:nvSpPr>
        <p:spPr>
          <a:xfrm>
            <a:off x="4501896" y="461967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a:t>
            </a:r>
            <a:endParaRPr lang="en-US" sz="840" dirty="0"/>
          </a:p>
        </p:txBody>
      </p:sp>
      <p:sp>
        <p:nvSpPr>
          <p:cNvPr id="33" name="Text 31"/>
          <p:cNvSpPr/>
          <p:nvPr/>
        </p:nvSpPr>
        <p:spPr>
          <a:xfrm>
            <a:off x="658368" y="521077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Competitive &amp; Market</a:t>
            </a:r>
            <a:endParaRPr lang="en-US" sz="920" dirty="0"/>
          </a:p>
        </p:txBody>
      </p:sp>
      <p:sp>
        <p:nvSpPr>
          <p:cNvPr id="34" name="Shape 32"/>
          <p:cNvSpPr/>
          <p:nvPr/>
        </p:nvSpPr>
        <p:spPr>
          <a:xfrm>
            <a:off x="3017520" y="5238206"/>
            <a:ext cx="384048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17520" y="5238206"/>
            <a:ext cx="1017270" cy="164592"/>
          </a:xfrm>
          <a:prstGeom prst="roundRect">
            <a:avLst>
              <a:gd name="adj" fmla="val 22222"/>
            </a:avLst>
          </a:prstGeom>
          <a:solidFill>
            <a:srgbClr val="236A70"/>
          </a:solidFill>
          <a:ln w="12700">
            <a:solidFill>
              <a:srgbClr val="236A70">
                <a:alpha val="0"/>
              </a:srgbClr>
            </a:solidFill>
            <a:prstDash val="solid"/>
          </a:ln>
        </p:spPr>
      </p:sp>
      <p:sp>
        <p:nvSpPr>
          <p:cNvPr id="36" name="Text 34"/>
          <p:cNvSpPr/>
          <p:nvPr/>
        </p:nvSpPr>
        <p:spPr>
          <a:xfrm>
            <a:off x="4162806" y="523363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6</a:t>
            </a:r>
            <a:endParaRPr lang="en-US" sz="840" dirty="0"/>
          </a:p>
        </p:txBody>
      </p:sp>
      <p:sp>
        <p:nvSpPr>
          <p:cNvPr id="37" name="Shape 35"/>
          <p:cNvSpPr/>
          <p:nvPr/>
        </p:nvSpPr>
        <p:spPr>
          <a:xfrm>
            <a:off x="7635240" y="1645920"/>
            <a:ext cx="3337560" cy="2194560"/>
          </a:xfrm>
          <a:prstGeom prst="roundRect">
            <a:avLst>
              <a:gd name="adj" fmla="val 3333"/>
            </a:avLst>
          </a:prstGeom>
          <a:solidFill>
            <a:srgbClr val="FFFFFF"/>
          </a:solidFill>
          <a:ln w="12700">
            <a:solidFill>
              <a:srgbClr val="D5CCBA"/>
            </a:solidFill>
            <a:prstDash val="solid"/>
          </a:ln>
        </p:spPr>
      </p:sp>
      <p:sp>
        <p:nvSpPr>
          <p:cNvPr id="38" name="Shape 36"/>
          <p:cNvSpPr/>
          <p:nvPr/>
        </p:nvSpPr>
        <p:spPr>
          <a:xfrm>
            <a:off x="7635240" y="1645920"/>
            <a:ext cx="73152" cy="2194560"/>
          </a:xfrm>
          <a:prstGeom prst="rect">
            <a:avLst/>
          </a:prstGeom>
          <a:solidFill>
            <a:srgbClr val="236A70"/>
          </a:solidFill>
          <a:ln w="12700">
            <a:solidFill>
              <a:srgbClr val="333333">
                <a:alpha val="0"/>
              </a:srgbClr>
            </a:solidFill>
            <a:prstDash val="solid"/>
          </a:ln>
        </p:spPr>
      </p:sp>
      <p:sp>
        <p:nvSpPr>
          <p:cNvPr id="39" name="Text 37"/>
          <p:cNvSpPr/>
          <p:nvPr/>
        </p:nvSpPr>
        <p:spPr>
          <a:xfrm>
            <a:off x="7891272" y="1865376"/>
            <a:ext cx="2834640" cy="237744"/>
          </a:xfrm>
          <a:prstGeom prst="rect">
            <a:avLst/>
          </a:prstGeom>
          <a:noFill/>
          <a:ln/>
        </p:spPr>
        <p:txBody>
          <a:bodyPr wrap="square" lIns="0" tIns="0" rIns="0" bIns="0" rtlCol="0" anchor="ctr"/>
          <a:lstStyle/>
          <a:p>
            <a:pPr indent="0" marL="0">
              <a:buNone/>
            </a:pPr>
            <a:r>
              <a:rPr lang="en-US" sz="1350" b="1" dirty="0">
                <a:solidFill>
                  <a:srgbClr val="236A70"/>
                </a:solidFill>
              </a:rPr>
              <a:t>Interpretation</a:t>
            </a:r>
            <a:endParaRPr lang="en-US" sz="1350" dirty="0"/>
          </a:p>
        </p:txBody>
      </p:sp>
      <p:sp>
        <p:nvSpPr>
          <p:cNvPr id="40" name="Text 38"/>
          <p:cNvSpPr/>
          <p:nvPr/>
        </p:nvSpPr>
        <p:spPr>
          <a:xfrm>
            <a:off x="7891272" y="2267712"/>
            <a:ext cx="2834640" cy="14081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Incident &amp; Reliability reaches the risk ceiling because it combines urgent language, customer impact, and technical follow-up. Compliance is frequent, but many conversations are planned reviews or launch/adoption work.</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04</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SENTIMENT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Sentiment trends separate acute support pain from commercial risk</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10" name="Shape 8"/>
          <p:cNvSpPr/>
          <p:nvPr/>
        </p:nvSpPr>
        <p:spPr>
          <a:xfrm>
            <a:off x="3044952" y="1554480"/>
            <a:ext cx="347472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03320" cy="164592"/>
          </a:xfrm>
          <a:prstGeom prst="roundRect">
            <a:avLst>
              <a:gd name="adj" fmla="val 22222"/>
            </a:avLst>
          </a:prstGeom>
          <a:solidFill>
            <a:srgbClr val="A14C43"/>
          </a:solidFill>
          <a:ln w="12700">
            <a:solidFill>
              <a:srgbClr val="A14C43">
                <a:alpha val="0"/>
              </a:srgbClr>
            </a:solidFill>
            <a:prstDash val="solid"/>
          </a:ln>
        </p:spPr>
      </p:sp>
      <p:sp>
        <p:nvSpPr>
          <p:cNvPr id="12" name="Text 10"/>
          <p:cNvSpPr/>
          <p:nvPr/>
        </p:nvSpPr>
        <p:spPr>
          <a:xfrm>
            <a:off x="614476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27.1%</a:t>
            </a:r>
            <a:endParaRPr lang="en-US" sz="840" dirty="0"/>
          </a:p>
        </p:txBody>
      </p:sp>
      <p:sp>
        <p:nvSpPr>
          <p:cNvPr id="13" name="Text 11"/>
          <p:cNvSpPr/>
          <p:nvPr/>
        </p:nvSpPr>
        <p:spPr>
          <a:xfrm>
            <a:off x="685800" y="22585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14" name="Shape 12"/>
          <p:cNvSpPr/>
          <p:nvPr/>
        </p:nvSpPr>
        <p:spPr>
          <a:xfrm>
            <a:off x="3044952" y="2286000"/>
            <a:ext cx="347472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286000"/>
            <a:ext cx="1298212" cy="164592"/>
          </a:xfrm>
          <a:prstGeom prst="roundRect">
            <a:avLst>
              <a:gd name="adj" fmla="val 22222"/>
            </a:avLst>
          </a:prstGeom>
          <a:solidFill>
            <a:srgbClr val="A14C43"/>
          </a:solidFill>
          <a:ln w="12700">
            <a:solidFill>
              <a:srgbClr val="A14C43">
                <a:alpha val="0"/>
              </a:srgbClr>
            </a:solidFill>
            <a:prstDash val="solid"/>
          </a:ln>
        </p:spPr>
      </p:sp>
      <p:sp>
        <p:nvSpPr>
          <p:cNvPr id="16" name="Text 14"/>
          <p:cNvSpPr/>
          <p:nvPr/>
        </p:nvSpPr>
        <p:spPr>
          <a:xfrm>
            <a:off x="4471180" y="22814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9.5%</a:t>
            </a:r>
            <a:endParaRPr lang="en-US" sz="840" dirty="0"/>
          </a:p>
        </p:txBody>
      </p:sp>
      <p:sp>
        <p:nvSpPr>
          <p:cNvPr id="17" name="Text 15"/>
          <p:cNvSpPr/>
          <p:nvPr/>
        </p:nvSpPr>
        <p:spPr>
          <a:xfrm>
            <a:off x="685800" y="29900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18" name="Shape 16"/>
          <p:cNvSpPr/>
          <p:nvPr/>
        </p:nvSpPr>
        <p:spPr>
          <a:xfrm>
            <a:off x="3044952" y="3017520"/>
            <a:ext cx="347472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3017520"/>
            <a:ext cx="2309450" cy="164592"/>
          </a:xfrm>
          <a:prstGeom prst="roundRect">
            <a:avLst>
              <a:gd name="adj" fmla="val 22222"/>
            </a:avLst>
          </a:prstGeom>
          <a:solidFill>
            <a:srgbClr val="A14C43"/>
          </a:solidFill>
          <a:ln w="12700">
            <a:solidFill>
              <a:srgbClr val="A14C43">
                <a:alpha val="0"/>
              </a:srgbClr>
            </a:solidFill>
            <a:prstDash val="solid"/>
          </a:ln>
        </p:spPr>
      </p:sp>
      <p:sp>
        <p:nvSpPr>
          <p:cNvPr id="20" name="Text 18"/>
          <p:cNvSpPr/>
          <p:nvPr/>
        </p:nvSpPr>
        <p:spPr>
          <a:xfrm>
            <a:off x="5482418" y="30129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16.9%</a:t>
            </a:r>
            <a:endParaRPr lang="en-US" sz="840" dirty="0"/>
          </a:p>
        </p:txBody>
      </p:sp>
      <p:sp>
        <p:nvSpPr>
          <p:cNvPr id="21" name="Text 19"/>
          <p:cNvSpPr/>
          <p:nvPr/>
        </p:nvSpPr>
        <p:spPr>
          <a:xfrm>
            <a:off x="685800" y="40873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22" name="Shape 20"/>
          <p:cNvSpPr/>
          <p:nvPr/>
        </p:nvSpPr>
        <p:spPr>
          <a:xfrm>
            <a:off x="3044952" y="4114800"/>
            <a:ext cx="347472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4114800"/>
            <a:ext cx="2658794"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831762" y="41102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2.8</a:t>
            </a:r>
            <a:endParaRPr lang="en-US" sz="840" dirty="0"/>
          </a:p>
        </p:txBody>
      </p:sp>
      <p:sp>
        <p:nvSpPr>
          <p:cNvPr id="25" name="Text 23"/>
          <p:cNvSpPr/>
          <p:nvPr/>
        </p:nvSpPr>
        <p:spPr>
          <a:xfrm>
            <a:off x="685800" y="460552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26" name="Shape 24"/>
          <p:cNvSpPr/>
          <p:nvPr/>
        </p:nvSpPr>
        <p:spPr>
          <a:xfrm>
            <a:off x="3044952" y="4632960"/>
            <a:ext cx="347472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4632960"/>
            <a:ext cx="3703320"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6144768" y="462838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3.9</a:t>
            </a:r>
            <a:endParaRPr lang="en-US" sz="840" dirty="0"/>
          </a:p>
        </p:txBody>
      </p:sp>
      <p:sp>
        <p:nvSpPr>
          <p:cNvPr id="29" name="Text 27"/>
          <p:cNvSpPr/>
          <p:nvPr/>
        </p:nvSpPr>
        <p:spPr>
          <a:xfrm>
            <a:off x="685800" y="51236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30" name="Shape 28"/>
          <p:cNvSpPr/>
          <p:nvPr/>
        </p:nvSpPr>
        <p:spPr>
          <a:xfrm>
            <a:off x="3044952" y="5151120"/>
            <a:ext cx="347472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5151120"/>
            <a:ext cx="324752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6144768" y="51465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3.42</a:t>
            </a:r>
            <a:endParaRPr lang="en-US" sz="840" dirty="0"/>
          </a:p>
        </p:txBody>
      </p:sp>
      <p:sp>
        <p:nvSpPr>
          <p:cNvPr id="33" name="Shape 31"/>
          <p:cNvSpPr/>
          <p:nvPr/>
        </p:nvSpPr>
        <p:spPr>
          <a:xfrm>
            <a:off x="7498080" y="1645920"/>
            <a:ext cx="3474720" cy="2286000"/>
          </a:xfrm>
          <a:prstGeom prst="roundRect">
            <a:avLst>
              <a:gd name="adj" fmla="val 3200"/>
            </a:avLst>
          </a:prstGeom>
          <a:solidFill>
            <a:srgbClr val="FFFFFF"/>
          </a:solidFill>
          <a:ln w="12700">
            <a:solidFill>
              <a:srgbClr val="D5CCBA"/>
            </a:solidFill>
            <a:prstDash val="solid"/>
          </a:ln>
        </p:spPr>
      </p:sp>
      <p:sp>
        <p:nvSpPr>
          <p:cNvPr id="34" name="Shape 32"/>
          <p:cNvSpPr/>
          <p:nvPr/>
        </p:nvSpPr>
        <p:spPr>
          <a:xfrm>
            <a:off x="7498080" y="1645920"/>
            <a:ext cx="73152" cy="2286000"/>
          </a:xfrm>
          <a:prstGeom prst="rect">
            <a:avLst/>
          </a:prstGeom>
          <a:solidFill>
            <a:srgbClr val="236A70"/>
          </a:solidFill>
          <a:ln w="12700">
            <a:solidFill>
              <a:srgbClr val="333333">
                <a:alpha val="0"/>
              </a:srgbClr>
            </a:solidFill>
            <a:prstDash val="solid"/>
          </a:ln>
        </p:spPr>
      </p:sp>
      <p:sp>
        <p:nvSpPr>
          <p:cNvPr id="35" name="Text 33"/>
          <p:cNvSpPr/>
          <p:nvPr/>
        </p:nvSpPr>
        <p:spPr>
          <a:xfrm>
            <a:off x="7754112" y="186537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it means</a:t>
            </a:r>
            <a:endParaRPr lang="en-US" sz="1350" dirty="0"/>
          </a:p>
        </p:txBody>
      </p:sp>
      <p:sp>
        <p:nvSpPr>
          <p:cNvPr id="36" name="Text 34"/>
          <p:cNvSpPr/>
          <p:nvPr/>
        </p:nvSpPr>
        <p:spPr>
          <a:xfrm>
            <a:off x="7754112" y="2267712"/>
            <a:ext cx="2971800" cy="14996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450" dirty="0"/>
          </a:p>
        </p:txBody>
      </p:sp>
      <p:sp>
        <p:nvSpPr>
          <p:cNvPr id="37" name="Shape 35"/>
          <p:cNvSpPr/>
          <p:nvPr/>
        </p:nvSpPr>
        <p:spPr>
          <a:xfrm>
            <a:off x="566928" y="6327648"/>
            <a:ext cx="10927080" cy="0"/>
          </a:xfrm>
          <a:prstGeom prst="line">
            <a:avLst/>
          </a:prstGeom>
          <a:noFill/>
          <a:ln w="9525">
            <a:solidFill>
              <a:srgbClr val="D5CCBA">
                <a:alpha val="75000"/>
              </a:srgbClr>
            </a:solidFill>
            <a:prstDash val="solid"/>
          </a:ln>
        </p:spPr>
      </p:sp>
      <p:sp>
        <p:nvSpPr>
          <p:cNvPr id="38" name="Text 3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05</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Product risk concentrates around Detect, then Protect and Identity</a:t>
            </a:r>
            <a:endParaRPr lang="en-US" sz="2500" dirty="0"/>
          </a:p>
        </p:txBody>
      </p:sp>
      <p:sp>
        <p:nvSpPr>
          <p:cNvPr id="9" name="Text 7"/>
          <p:cNvSpPr/>
          <p:nvPr/>
        </p:nvSpPr>
        <p:spPr>
          <a:xfrm>
            <a:off x="777240" y="16184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Comply</a:t>
            </a:r>
            <a:endParaRPr lang="en-US" sz="920" dirty="0"/>
          </a:p>
        </p:txBody>
      </p:sp>
      <p:sp>
        <p:nvSpPr>
          <p:cNvPr id="10" name="Shape 8"/>
          <p:cNvSpPr/>
          <p:nvPr/>
        </p:nvSpPr>
        <p:spPr>
          <a:xfrm>
            <a:off x="3136392" y="1645920"/>
            <a:ext cx="329184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136392" y="1645920"/>
            <a:ext cx="3241630" cy="164592"/>
          </a:xfrm>
          <a:prstGeom prst="roundRect">
            <a:avLst>
              <a:gd name="adj" fmla="val 22222"/>
            </a:avLst>
          </a:prstGeom>
          <a:solidFill>
            <a:srgbClr val="C18A2E"/>
          </a:solidFill>
          <a:ln w="12700">
            <a:solidFill>
              <a:srgbClr val="C18A2E">
                <a:alpha val="0"/>
              </a:srgbClr>
            </a:solidFill>
            <a:prstDash val="solid"/>
          </a:ln>
        </p:spPr>
      </p:sp>
      <p:sp>
        <p:nvSpPr>
          <p:cNvPr id="12" name="Text 10"/>
          <p:cNvSpPr/>
          <p:nvPr/>
        </p:nvSpPr>
        <p:spPr>
          <a:xfrm>
            <a:off x="6053328" y="16413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8.72</a:t>
            </a:r>
            <a:endParaRPr lang="en-US" sz="840" dirty="0"/>
          </a:p>
        </p:txBody>
      </p:sp>
      <p:sp>
        <p:nvSpPr>
          <p:cNvPr id="13" name="Text 11"/>
          <p:cNvSpPr/>
          <p:nvPr/>
        </p:nvSpPr>
        <p:spPr>
          <a:xfrm>
            <a:off x="777240" y="23271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Detect</a:t>
            </a:r>
            <a:endParaRPr lang="en-US" sz="920" dirty="0"/>
          </a:p>
        </p:txBody>
      </p:sp>
      <p:sp>
        <p:nvSpPr>
          <p:cNvPr id="14" name="Shape 12"/>
          <p:cNvSpPr/>
          <p:nvPr/>
        </p:nvSpPr>
        <p:spPr>
          <a:xfrm>
            <a:off x="3136392" y="2354580"/>
            <a:ext cx="329184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136392" y="2354580"/>
            <a:ext cx="3520440" cy="164592"/>
          </a:xfrm>
          <a:prstGeom prst="roundRect">
            <a:avLst>
              <a:gd name="adj" fmla="val 22222"/>
            </a:avLst>
          </a:prstGeom>
          <a:solidFill>
            <a:srgbClr val="C18A2E"/>
          </a:solidFill>
          <a:ln w="12700">
            <a:solidFill>
              <a:srgbClr val="C18A2E">
                <a:alpha val="0"/>
              </a:srgbClr>
            </a:solidFill>
            <a:prstDash val="solid"/>
          </a:ln>
        </p:spPr>
      </p:sp>
      <p:sp>
        <p:nvSpPr>
          <p:cNvPr id="16" name="Text 14"/>
          <p:cNvSpPr/>
          <p:nvPr/>
        </p:nvSpPr>
        <p:spPr>
          <a:xfrm>
            <a:off x="6053328" y="23500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9.47</a:t>
            </a:r>
            <a:endParaRPr lang="en-US" sz="840" dirty="0"/>
          </a:p>
        </p:txBody>
      </p:sp>
      <p:sp>
        <p:nvSpPr>
          <p:cNvPr id="17" name="Text 15"/>
          <p:cNvSpPr/>
          <p:nvPr/>
        </p:nvSpPr>
        <p:spPr>
          <a:xfrm>
            <a:off x="777240" y="303580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a:t>
            </a:r>
            <a:endParaRPr lang="en-US" sz="920" dirty="0"/>
          </a:p>
        </p:txBody>
      </p:sp>
      <p:sp>
        <p:nvSpPr>
          <p:cNvPr id="18" name="Shape 16"/>
          <p:cNvSpPr/>
          <p:nvPr/>
        </p:nvSpPr>
        <p:spPr>
          <a:xfrm>
            <a:off x="3136392" y="3063240"/>
            <a:ext cx="329184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136392" y="3063240"/>
            <a:ext cx="3397764" cy="164592"/>
          </a:xfrm>
          <a:prstGeom prst="roundRect">
            <a:avLst>
              <a:gd name="adj" fmla="val 22222"/>
            </a:avLst>
          </a:prstGeom>
          <a:solidFill>
            <a:srgbClr val="C18A2E"/>
          </a:solidFill>
          <a:ln w="12700">
            <a:solidFill>
              <a:srgbClr val="C18A2E">
                <a:alpha val="0"/>
              </a:srgbClr>
            </a:solidFill>
            <a:prstDash val="solid"/>
          </a:ln>
        </p:spPr>
      </p:sp>
      <p:sp>
        <p:nvSpPr>
          <p:cNvPr id="20" name="Text 18"/>
          <p:cNvSpPr/>
          <p:nvPr/>
        </p:nvSpPr>
        <p:spPr>
          <a:xfrm>
            <a:off x="6053328" y="305866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9.14</a:t>
            </a:r>
            <a:endParaRPr lang="en-US" sz="840" dirty="0"/>
          </a:p>
        </p:txBody>
      </p:sp>
      <p:sp>
        <p:nvSpPr>
          <p:cNvPr id="21" name="Text 19"/>
          <p:cNvSpPr/>
          <p:nvPr/>
        </p:nvSpPr>
        <p:spPr>
          <a:xfrm>
            <a:off x="777240" y="37444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Protect</a:t>
            </a:r>
            <a:endParaRPr lang="en-US" sz="920" dirty="0"/>
          </a:p>
        </p:txBody>
      </p:sp>
      <p:sp>
        <p:nvSpPr>
          <p:cNvPr id="22" name="Shape 20"/>
          <p:cNvSpPr/>
          <p:nvPr/>
        </p:nvSpPr>
        <p:spPr>
          <a:xfrm>
            <a:off x="3136392" y="3771900"/>
            <a:ext cx="329184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136392" y="3771900"/>
            <a:ext cx="3390329" cy="164592"/>
          </a:xfrm>
          <a:prstGeom prst="roundRect">
            <a:avLst>
              <a:gd name="adj" fmla="val 22222"/>
            </a:avLst>
          </a:prstGeom>
          <a:solidFill>
            <a:srgbClr val="C18A2E"/>
          </a:solidFill>
          <a:ln w="12700">
            <a:solidFill>
              <a:srgbClr val="C18A2E">
                <a:alpha val="0"/>
              </a:srgbClr>
            </a:solidFill>
            <a:prstDash val="solid"/>
          </a:ln>
        </p:spPr>
      </p:sp>
      <p:sp>
        <p:nvSpPr>
          <p:cNvPr id="24" name="Text 22"/>
          <p:cNvSpPr/>
          <p:nvPr/>
        </p:nvSpPr>
        <p:spPr>
          <a:xfrm>
            <a:off x="6053328" y="37673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9.12</a:t>
            </a:r>
            <a:endParaRPr lang="en-US" sz="840" dirty="0"/>
          </a:p>
        </p:txBody>
      </p:sp>
      <p:sp>
        <p:nvSpPr>
          <p:cNvPr id="25" name="Shape 23"/>
          <p:cNvSpPr/>
          <p:nvPr/>
        </p:nvSpPr>
        <p:spPr>
          <a:xfrm>
            <a:off x="7315200" y="1691640"/>
            <a:ext cx="3474720" cy="2468880"/>
          </a:xfrm>
          <a:prstGeom prst="roundRect">
            <a:avLst>
              <a:gd name="adj" fmla="val 2963"/>
            </a:avLst>
          </a:prstGeom>
          <a:solidFill>
            <a:srgbClr val="FFFFFF"/>
          </a:solidFill>
          <a:ln w="12700">
            <a:solidFill>
              <a:srgbClr val="D5CCBA"/>
            </a:solidFill>
            <a:prstDash val="solid"/>
          </a:ln>
        </p:spPr>
      </p:sp>
      <p:sp>
        <p:nvSpPr>
          <p:cNvPr id="26" name="Shape 24"/>
          <p:cNvSpPr/>
          <p:nvPr/>
        </p:nvSpPr>
        <p:spPr>
          <a:xfrm>
            <a:off x="7315200" y="1691640"/>
            <a:ext cx="73152" cy="2468880"/>
          </a:xfrm>
          <a:prstGeom prst="rect">
            <a:avLst/>
          </a:prstGeom>
          <a:solidFill>
            <a:srgbClr val="236A70"/>
          </a:solidFill>
          <a:ln w="12700">
            <a:solidFill>
              <a:srgbClr val="333333">
                <a:alpha val="0"/>
              </a:srgbClr>
            </a:solidFill>
            <a:prstDash val="solid"/>
          </a:ln>
        </p:spPr>
      </p:sp>
      <p:sp>
        <p:nvSpPr>
          <p:cNvPr id="27" name="Text 25"/>
          <p:cNvSpPr/>
          <p:nvPr/>
        </p:nvSpPr>
        <p:spPr>
          <a:xfrm>
            <a:off x="7571232" y="191109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Recommendation</a:t>
            </a:r>
            <a:endParaRPr lang="en-US" sz="1350" dirty="0"/>
          </a:p>
        </p:txBody>
      </p:sp>
      <p:sp>
        <p:nvSpPr>
          <p:cNvPr id="28" name="Text 26"/>
          <p:cNvSpPr/>
          <p:nvPr/>
        </p:nvSpPr>
        <p:spPr>
          <a:xfrm>
            <a:off x="7571232" y="2313432"/>
            <a:ext cx="2971800" cy="1682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Use transcript intelligence as a product risk router: extract the affected product, evidence quote, account, sentiment, and action owner. Detect should be the first executive dashboard surface because outages, SIEM connectors, alert quality, and competitive gaps recur across call types.</a:t>
            </a:r>
            <a:endParaRPr lang="en-US" sz="1450" dirty="0"/>
          </a:p>
        </p:txBody>
      </p:sp>
      <p:sp>
        <p:nvSpPr>
          <p:cNvPr id="29" name="Shape 27"/>
          <p:cNvSpPr/>
          <p:nvPr/>
        </p:nvSpPr>
        <p:spPr>
          <a:xfrm>
            <a:off x="566928" y="6327648"/>
            <a:ext cx="10927080" cy="0"/>
          </a:xfrm>
          <a:prstGeom prst="line">
            <a:avLst/>
          </a:prstGeom>
          <a:noFill/>
          <a:ln w="9525">
            <a:solidFill>
              <a:srgbClr val="D5CCBA">
                <a:alpha val="75000"/>
              </a:srgbClr>
            </a:solidFill>
            <a:prstDash val="solid"/>
          </a:ln>
        </p:spPr>
      </p:sp>
      <p:sp>
        <p:nvSpPr>
          <p:cNvPr id="30" name="Text 28"/>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06</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RISK</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Highest-risk meetings show the decisions leaders should force</a:t>
            </a:r>
            <a:endParaRPr lang="en-US" sz="2500" dirty="0"/>
          </a:p>
        </p:txBody>
      </p:sp>
      <p:sp>
        <p:nvSpPr>
          <p:cNvPr id="9" name="Text 7"/>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10" name="Text 8"/>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11" name="Text 9"/>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12" name="Text 10"/>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13" name="Shape 11"/>
          <p:cNvSpPr/>
          <p:nvPr/>
        </p:nvSpPr>
        <p:spPr>
          <a:xfrm>
            <a:off x="594360" y="1783080"/>
            <a:ext cx="10698480" cy="502920"/>
          </a:xfrm>
          <a:prstGeom prst="roundRect">
            <a:avLst>
              <a:gd name="adj" fmla="val 14545"/>
            </a:avLst>
          </a:prstGeom>
          <a:solidFill>
            <a:srgbClr val="FFFFFF"/>
          </a:solidFill>
          <a:ln w="12700">
            <a:solidFill>
              <a:srgbClr val="D5CCBA"/>
            </a:solidFill>
            <a:prstDash val="solid"/>
          </a:ln>
        </p:spPr>
      </p:sp>
      <p:sp>
        <p:nvSpPr>
          <p:cNvPr id="14" name="Text 12"/>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Support Case #3266 - Trailhead Marketplace Detect Alerts Not F</a:t>
            </a:r>
            <a:endParaRPr lang="en-US" sz="950" dirty="0"/>
          </a:p>
        </p:txBody>
      </p:sp>
      <p:sp>
        <p:nvSpPr>
          <p:cNvPr id="15" name="Text 13"/>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16" name="Text 14"/>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17" name="Text 15"/>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18" name="Shape 16"/>
          <p:cNvSpPr/>
          <p:nvPr/>
        </p:nvSpPr>
        <p:spPr>
          <a:xfrm>
            <a:off x="594360" y="2441448"/>
            <a:ext cx="10698480" cy="502920"/>
          </a:xfrm>
          <a:prstGeom prst="roundRect">
            <a:avLst>
              <a:gd name="adj" fmla="val 14545"/>
            </a:avLst>
          </a:prstGeom>
          <a:solidFill>
            <a:srgbClr val="FFFFFF"/>
          </a:solidFill>
          <a:ln w="12700">
            <a:solidFill>
              <a:srgbClr val="D5CCBA"/>
            </a:solidFill>
            <a:prstDash val="solid"/>
          </a:ln>
        </p:spPr>
      </p:sp>
      <p:sp>
        <p:nvSpPr>
          <p:cNvPr id="19" name="Text 17"/>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Blackridge Investments - Complete Loss of Threat Visib</a:t>
            </a:r>
            <a:endParaRPr lang="en-US" sz="950" dirty="0"/>
          </a:p>
        </p:txBody>
      </p:sp>
      <p:sp>
        <p:nvSpPr>
          <p:cNvPr id="20" name="Text 18"/>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1" name="Text 19"/>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2" name="Text 20"/>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3" name="Shape 21"/>
          <p:cNvSpPr/>
          <p:nvPr/>
        </p:nvSpPr>
        <p:spPr>
          <a:xfrm>
            <a:off x="594360" y="3099816"/>
            <a:ext cx="10698480" cy="502920"/>
          </a:xfrm>
          <a:prstGeom prst="roundRect">
            <a:avLst>
              <a:gd name="adj" fmla="val 14545"/>
            </a:avLst>
          </a:prstGeom>
          <a:solidFill>
            <a:srgbClr val="FFFFFF"/>
          </a:solidFill>
          <a:ln w="12700">
            <a:solidFill>
              <a:srgbClr val="D5CCBA"/>
            </a:solidFill>
            <a:prstDash val="solid"/>
          </a:ln>
        </p:spPr>
      </p:sp>
      <p:sp>
        <p:nvSpPr>
          <p:cNvPr id="24" name="Text 22"/>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Customer Impact Assessment</a:t>
            </a:r>
            <a:endParaRPr lang="en-US" sz="950" dirty="0"/>
          </a:p>
        </p:txBody>
      </p:sp>
      <p:sp>
        <p:nvSpPr>
          <p:cNvPr id="25" name="Text 23"/>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6" name="Text 24"/>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7" name="Text 25"/>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8" name="Shape 26"/>
          <p:cNvSpPr/>
          <p:nvPr/>
        </p:nvSpPr>
        <p:spPr>
          <a:xfrm>
            <a:off x="594360" y="3758184"/>
            <a:ext cx="10698480" cy="502920"/>
          </a:xfrm>
          <a:prstGeom prst="roundRect">
            <a:avLst>
              <a:gd name="adj" fmla="val 14545"/>
            </a:avLst>
          </a:prstGeom>
          <a:solidFill>
            <a:srgbClr val="FFFFFF"/>
          </a:solidFill>
          <a:ln w="12700">
            <a:solidFill>
              <a:srgbClr val="D5CCBA"/>
            </a:solidFill>
            <a:prstDash val="solid"/>
          </a:ln>
        </p:spPr>
      </p:sp>
      <p:sp>
        <p:nvSpPr>
          <p:cNvPr id="29" name="Text 27"/>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Escalation Bridge</a:t>
            </a:r>
            <a:endParaRPr lang="en-US" sz="950" dirty="0"/>
          </a:p>
        </p:txBody>
      </p:sp>
      <p:sp>
        <p:nvSpPr>
          <p:cNvPr id="30" name="Text 28"/>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1" name="Text 29"/>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2" name="Text 30"/>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3" name="Shape 31"/>
          <p:cNvSpPr/>
          <p:nvPr/>
        </p:nvSpPr>
        <p:spPr>
          <a:xfrm>
            <a:off x="594360" y="4416552"/>
            <a:ext cx="10698480" cy="502920"/>
          </a:xfrm>
          <a:prstGeom prst="roundRect">
            <a:avLst>
              <a:gd name="adj" fmla="val 14545"/>
            </a:avLst>
          </a:prstGeom>
          <a:solidFill>
            <a:srgbClr val="FFFFFF"/>
          </a:solidFill>
          <a:ln w="12700">
            <a:solidFill>
              <a:srgbClr val="D5CCBA"/>
            </a:solidFill>
            <a:prstDash val="solid"/>
          </a:ln>
        </p:spPr>
      </p:sp>
      <p:sp>
        <p:nvSpPr>
          <p:cNvPr id="34" name="Text 32"/>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Detect Pipeline Failure - War Room</a:t>
            </a:r>
            <a:endParaRPr lang="en-US" sz="950" dirty="0"/>
          </a:p>
        </p:txBody>
      </p:sp>
      <p:sp>
        <p:nvSpPr>
          <p:cNvPr id="35" name="Text 33"/>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6" name="Text 34"/>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7" name="Text 35"/>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8" name="Shape 36"/>
          <p:cNvSpPr/>
          <p:nvPr/>
        </p:nvSpPr>
        <p:spPr>
          <a:xfrm>
            <a:off x="594360" y="5074920"/>
            <a:ext cx="10698480" cy="502920"/>
          </a:xfrm>
          <a:prstGeom prst="roundRect">
            <a:avLst>
              <a:gd name="adj" fmla="val 14545"/>
            </a:avLst>
          </a:prstGeom>
          <a:solidFill>
            <a:srgbClr val="FFFFFF"/>
          </a:solidFill>
          <a:ln w="12700">
            <a:solidFill>
              <a:srgbClr val="D5CCBA"/>
            </a:solidFill>
            <a:prstDash val="solid"/>
          </a:ln>
        </p:spPr>
      </p:sp>
      <p:sp>
        <p:nvSpPr>
          <p:cNvPr id="39" name="Text 37"/>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Cobalt Software - Aegis Detect Dashboard Down</a:t>
            </a:r>
            <a:endParaRPr lang="en-US" sz="950" dirty="0"/>
          </a:p>
        </p:txBody>
      </p:sp>
      <p:sp>
        <p:nvSpPr>
          <p:cNvPr id="40" name="Text 38"/>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41" name="Text 39"/>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42" name="Text 40"/>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43" name="Shape 41"/>
          <p:cNvSpPr/>
          <p:nvPr/>
        </p:nvSpPr>
        <p:spPr>
          <a:xfrm>
            <a:off x="566928" y="6327648"/>
            <a:ext cx="10927080" cy="0"/>
          </a:xfrm>
          <a:prstGeom prst="line">
            <a:avLst/>
          </a:prstGeom>
          <a:noFill/>
          <a:ln w="9525">
            <a:solidFill>
              <a:srgbClr val="D5CCBA">
                <a:alpha val="75000"/>
              </a:srgbClr>
            </a:solidFill>
            <a:prstDash val="solid"/>
          </a:ln>
        </p:spPr>
      </p:sp>
      <p:sp>
        <p:nvSpPr>
          <p:cNvPr id="44" name="Text 4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07</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DISCOVERY</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C5: Pci</a:t>
            </a:r>
            <a:endParaRPr lang="en-US" sz="920" dirty="0"/>
          </a:p>
        </p:txBody>
      </p:sp>
      <p:sp>
        <p:nvSpPr>
          <p:cNvPr id="10" name="Shape 8"/>
          <p:cNvSpPr/>
          <p:nvPr/>
        </p:nvSpPr>
        <p:spPr>
          <a:xfrm>
            <a:off x="3044952" y="1554480"/>
            <a:ext cx="356616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94760" cy="164592"/>
          </a:xfrm>
          <a:prstGeom prst="roundRect">
            <a:avLst>
              <a:gd name="adj" fmla="val 22222"/>
            </a:avLst>
          </a:prstGeom>
          <a:solidFill>
            <a:srgbClr val="4D7C5B"/>
          </a:solidFill>
          <a:ln w="12700">
            <a:solidFill>
              <a:srgbClr val="4D7C5B">
                <a:alpha val="0"/>
              </a:srgbClr>
            </a:solidFill>
            <a:prstDash val="solid"/>
          </a:ln>
        </p:spPr>
      </p:sp>
      <p:sp>
        <p:nvSpPr>
          <p:cNvPr id="12" name="Text 10"/>
          <p:cNvSpPr/>
          <p:nvPr/>
        </p:nvSpPr>
        <p:spPr>
          <a:xfrm>
            <a:off x="623620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21</a:t>
            </a:r>
            <a:endParaRPr lang="en-US" sz="840" dirty="0"/>
          </a:p>
        </p:txBody>
      </p:sp>
      <p:sp>
        <p:nvSpPr>
          <p:cNvPr id="13" name="Text 11"/>
          <p:cNvSpPr/>
          <p:nvPr/>
        </p:nvSpPr>
        <p:spPr>
          <a:xfrm>
            <a:off x="685800" y="208875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C2: Failure</a:t>
            </a:r>
            <a:endParaRPr lang="en-US" sz="920" dirty="0"/>
          </a:p>
        </p:txBody>
      </p:sp>
      <p:sp>
        <p:nvSpPr>
          <p:cNvPr id="14" name="Shape 12"/>
          <p:cNvSpPr/>
          <p:nvPr/>
        </p:nvSpPr>
        <p:spPr>
          <a:xfrm>
            <a:off x="3044952" y="2116183"/>
            <a:ext cx="356616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116183"/>
            <a:ext cx="3252651" cy="164592"/>
          </a:xfrm>
          <a:prstGeom prst="roundRect">
            <a:avLst>
              <a:gd name="adj" fmla="val 22222"/>
            </a:avLst>
          </a:prstGeom>
          <a:solidFill>
            <a:srgbClr val="4D7C5B"/>
          </a:solidFill>
          <a:ln w="12700">
            <a:solidFill>
              <a:srgbClr val="4D7C5B">
                <a:alpha val="0"/>
              </a:srgbClr>
            </a:solidFill>
            <a:prstDash val="solid"/>
          </a:ln>
        </p:spPr>
      </p:sp>
      <p:sp>
        <p:nvSpPr>
          <p:cNvPr id="16" name="Text 14"/>
          <p:cNvSpPr/>
          <p:nvPr/>
        </p:nvSpPr>
        <p:spPr>
          <a:xfrm>
            <a:off x="6236208" y="211161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17" name="Text 15"/>
          <p:cNvSpPr/>
          <p:nvPr/>
        </p:nvSpPr>
        <p:spPr>
          <a:xfrm>
            <a:off x="685800" y="265045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C6: Renewal</a:t>
            </a:r>
            <a:endParaRPr lang="en-US" sz="920" dirty="0"/>
          </a:p>
        </p:txBody>
      </p:sp>
      <p:sp>
        <p:nvSpPr>
          <p:cNvPr id="18" name="Shape 16"/>
          <p:cNvSpPr/>
          <p:nvPr/>
        </p:nvSpPr>
        <p:spPr>
          <a:xfrm>
            <a:off x="3044952" y="2677886"/>
            <a:ext cx="356616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2677886"/>
            <a:ext cx="3252651" cy="164592"/>
          </a:xfrm>
          <a:prstGeom prst="roundRect">
            <a:avLst>
              <a:gd name="adj" fmla="val 22222"/>
            </a:avLst>
          </a:prstGeom>
          <a:solidFill>
            <a:srgbClr val="4D7C5B"/>
          </a:solidFill>
          <a:ln w="12700">
            <a:solidFill>
              <a:srgbClr val="4D7C5B">
                <a:alpha val="0"/>
              </a:srgbClr>
            </a:solidFill>
            <a:prstDash val="solid"/>
          </a:ln>
        </p:spPr>
      </p:sp>
      <p:sp>
        <p:nvSpPr>
          <p:cNvPr id="20" name="Text 18"/>
          <p:cNvSpPr/>
          <p:nvPr/>
        </p:nvSpPr>
        <p:spPr>
          <a:xfrm>
            <a:off x="6236208" y="267331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21" name="Text 19"/>
          <p:cNvSpPr/>
          <p:nvPr/>
        </p:nvSpPr>
        <p:spPr>
          <a:xfrm>
            <a:off x="685800" y="32121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C0: Outage</a:t>
            </a:r>
            <a:endParaRPr lang="en-US" sz="920" dirty="0"/>
          </a:p>
        </p:txBody>
      </p:sp>
      <p:sp>
        <p:nvSpPr>
          <p:cNvPr id="22" name="Shape 20"/>
          <p:cNvSpPr/>
          <p:nvPr/>
        </p:nvSpPr>
        <p:spPr>
          <a:xfrm>
            <a:off x="3044952" y="3239589"/>
            <a:ext cx="356616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3239589"/>
            <a:ext cx="2349137"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522105" y="32350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5" name="Text 23"/>
          <p:cNvSpPr/>
          <p:nvPr/>
        </p:nvSpPr>
        <p:spPr>
          <a:xfrm>
            <a:off x="685800" y="377385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C1: Mfa</a:t>
            </a:r>
            <a:endParaRPr lang="en-US" sz="920" dirty="0"/>
          </a:p>
        </p:txBody>
      </p:sp>
      <p:sp>
        <p:nvSpPr>
          <p:cNvPr id="26" name="Shape 24"/>
          <p:cNvSpPr/>
          <p:nvPr/>
        </p:nvSpPr>
        <p:spPr>
          <a:xfrm>
            <a:off x="3044952" y="3801291"/>
            <a:ext cx="356616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3801291"/>
            <a:ext cx="2349137"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5522105" y="379671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9" name="Text 27"/>
          <p:cNvSpPr/>
          <p:nvPr/>
        </p:nvSpPr>
        <p:spPr>
          <a:xfrm>
            <a:off x="685800" y="433556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C4: Data</a:t>
            </a:r>
            <a:endParaRPr lang="en-US" sz="920" dirty="0"/>
          </a:p>
        </p:txBody>
      </p:sp>
      <p:sp>
        <p:nvSpPr>
          <p:cNvPr id="30" name="Shape 28"/>
          <p:cNvSpPr/>
          <p:nvPr/>
        </p:nvSpPr>
        <p:spPr>
          <a:xfrm>
            <a:off x="3044952" y="4362994"/>
            <a:ext cx="356616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4362994"/>
            <a:ext cx="234913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5522105" y="435842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33" name="Text 31"/>
          <p:cNvSpPr/>
          <p:nvPr/>
        </p:nvSpPr>
        <p:spPr>
          <a:xfrm>
            <a:off x="685800" y="48972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C3: Control</a:t>
            </a:r>
            <a:endParaRPr lang="en-US" sz="920" dirty="0"/>
          </a:p>
        </p:txBody>
      </p:sp>
      <p:sp>
        <p:nvSpPr>
          <p:cNvPr id="34" name="Shape 32"/>
          <p:cNvSpPr/>
          <p:nvPr/>
        </p:nvSpPr>
        <p:spPr>
          <a:xfrm>
            <a:off x="3044952" y="4924697"/>
            <a:ext cx="356616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44952" y="4924697"/>
            <a:ext cx="722811" cy="164592"/>
          </a:xfrm>
          <a:prstGeom prst="roundRect">
            <a:avLst>
              <a:gd name="adj" fmla="val 22222"/>
            </a:avLst>
          </a:prstGeom>
          <a:solidFill>
            <a:srgbClr val="4D7C5B"/>
          </a:solidFill>
          <a:ln w="12700">
            <a:solidFill>
              <a:srgbClr val="4D7C5B">
                <a:alpha val="0"/>
              </a:srgbClr>
            </a:solidFill>
            <a:prstDash val="solid"/>
          </a:ln>
        </p:spPr>
      </p:sp>
      <p:sp>
        <p:nvSpPr>
          <p:cNvPr id="36" name="Text 34"/>
          <p:cNvSpPr/>
          <p:nvPr/>
        </p:nvSpPr>
        <p:spPr>
          <a:xfrm>
            <a:off x="3895779" y="49201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4</a:t>
            </a:r>
            <a:endParaRPr lang="en-US" sz="840" dirty="0"/>
          </a:p>
        </p:txBody>
      </p:sp>
      <p:sp>
        <p:nvSpPr>
          <p:cNvPr id="37" name="Shape 35"/>
          <p:cNvSpPr/>
          <p:nvPr/>
        </p:nvSpPr>
        <p:spPr>
          <a:xfrm>
            <a:off x="7452360" y="1600200"/>
            <a:ext cx="3474720" cy="2651760"/>
          </a:xfrm>
          <a:prstGeom prst="roundRect">
            <a:avLst>
              <a:gd name="adj" fmla="val 2759"/>
            </a:avLst>
          </a:prstGeom>
          <a:solidFill>
            <a:srgbClr val="FFFFFF"/>
          </a:solidFill>
          <a:ln w="12700">
            <a:solidFill>
              <a:srgbClr val="D5CCBA"/>
            </a:solidFill>
            <a:prstDash val="solid"/>
          </a:ln>
        </p:spPr>
      </p:sp>
      <p:sp>
        <p:nvSpPr>
          <p:cNvPr id="38" name="Shape 36"/>
          <p:cNvSpPr/>
          <p:nvPr/>
        </p:nvSpPr>
        <p:spPr>
          <a:xfrm>
            <a:off x="7452360" y="1600200"/>
            <a:ext cx="73152" cy="2651760"/>
          </a:xfrm>
          <a:prstGeom prst="rect">
            <a:avLst/>
          </a:prstGeom>
          <a:solidFill>
            <a:srgbClr val="236A70"/>
          </a:solidFill>
          <a:ln w="12700">
            <a:solidFill>
              <a:srgbClr val="333333">
                <a:alpha val="0"/>
              </a:srgbClr>
            </a:solidFill>
            <a:prstDash val="solid"/>
          </a:ln>
        </p:spPr>
      </p:sp>
      <p:sp>
        <p:nvSpPr>
          <p:cNvPr id="39" name="Text 37"/>
          <p:cNvSpPr/>
          <p:nvPr/>
        </p:nvSpPr>
        <p:spPr>
          <a:xfrm>
            <a:off x="7708392" y="181965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the experiment adds</a:t>
            </a:r>
            <a:endParaRPr lang="en-US" sz="1350" dirty="0"/>
          </a:p>
        </p:txBody>
      </p:sp>
      <p:sp>
        <p:nvSpPr>
          <p:cNvPr id="40" name="Text 38"/>
          <p:cNvSpPr/>
          <p:nvPr/>
        </p:nvSpPr>
        <p:spPr>
          <a:xfrm>
            <a:off x="7708392" y="2221992"/>
            <a:ext cx="2971800" cy="18653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08</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AI LAYER</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AI layer includes retrieval, confidence, and human review</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 CONFIDENCE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83%</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Average confidence across the rule-labeled taxonomy.</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CLUSTER PURITY</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61%</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How often unsupervised clusters align with dominant business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QUEUE</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Low-confidence meetings routed for human review before automation.</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Production AI path</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current repo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09</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EVAL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gold-label harness turns this from analysis into an AI system</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CALL TYPE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100%</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the curated validation slice.</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100%</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primary business taxonomy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RISK F1</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100%</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High-risk detection precision/recall balance.</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A senior AI system should not stop at generated charts. The repo now includes a 20-meeting gold-label sample and reports accuracy plus precision/recall/F1. In production, this expands into a stratified validation set, reviewer agreement, regression tests, and drift monitoring.</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10</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PLATFORM</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Production extensions: real embeddings, API service, and tests</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EMBEDDINGS</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OpenAI</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Optional real retrieval via text-embedding-3-small when OPENAI_API_KEY is set.</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API</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FastAPI</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Review endpoints for summary, meetings, retrieval examples, and human-review queue.</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TESTS</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6</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Unit coverage for classifier, routing, gold eval, and vector similarity behavior.</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repo remains easy to run locally, but the architecture now has clear production interfaces: swap TF-IDF retrieval for embeddings, expose review workflows through an API, and protect behavior with tests and gold-label regression checks.</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Three insight products would make this valuable beyond analysis</a:t>
            </a:r>
            <a:endParaRPr lang="en-US" sz="2500" dirty="0"/>
          </a:p>
        </p:txBody>
      </p:sp>
      <p:sp>
        <p:nvSpPr>
          <p:cNvPr id="9" name="Shape 7"/>
          <p:cNvSpPr/>
          <p:nvPr/>
        </p:nvSpPr>
        <p:spPr>
          <a:xfrm>
            <a:off x="685800" y="164592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64592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SALES / CS</a:t>
            </a:r>
            <a:endParaRPr lang="en-US" sz="750" dirty="0"/>
          </a:p>
        </p:txBody>
      </p:sp>
      <p:sp>
        <p:nvSpPr>
          <p:cNvPr id="12" name="Text 10"/>
          <p:cNvSpPr/>
          <p:nvPr/>
        </p:nvSpPr>
        <p:spPr>
          <a:xfrm>
            <a:off x="90525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a:t>
            </a:r>
            <a:endParaRPr lang="en-US" sz="2500" dirty="0"/>
          </a:p>
        </p:txBody>
      </p:sp>
      <p:sp>
        <p:nvSpPr>
          <p:cNvPr id="13" name="Text 11"/>
          <p:cNvSpPr/>
          <p:nvPr/>
        </p:nvSpPr>
        <p:spPr>
          <a:xfrm>
            <a:off x="210312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Revenue risk heatmap: renewal language + competitor mentions + negative sentiment.</a:t>
            </a:r>
            <a:endParaRPr lang="en-US" sz="1040" dirty="0"/>
          </a:p>
        </p:txBody>
      </p:sp>
      <p:sp>
        <p:nvSpPr>
          <p:cNvPr id="14" name="Shape 12"/>
          <p:cNvSpPr/>
          <p:nvPr/>
        </p:nvSpPr>
        <p:spPr>
          <a:xfrm>
            <a:off x="4434840" y="164592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645920"/>
            <a:ext cx="3337560" cy="73152"/>
          </a:xfrm>
          <a:prstGeom prst="rect">
            <a:avLst/>
          </a:prstGeom>
          <a:solidFill>
            <a:srgbClr val="C18A2E"/>
          </a:solidFill>
          <a:ln w="12700">
            <a:solidFill>
              <a:srgbClr val="333333">
                <a:alpha val="0"/>
              </a:srgbClr>
            </a:solidFill>
            <a:prstDash val="solid"/>
          </a:ln>
        </p:spPr>
      </p:sp>
      <p:sp>
        <p:nvSpPr>
          <p:cNvPr id="16" name="Text 14"/>
          <p:cNvSpPr/>
          <p:nvPr/>
        </p:nvSpPr>
        <p:spPr>
          <a:xfrm>
            <a:off x="465429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PRODUCT</a:t>
            </a:r>
            <a:endParaRPr lang="en-US" sz="750" dirty="0"/>
          </a:p>
        </p:txBody>
      </p:sp>
      <p:sp>
        <p:nvSpPr>
          <p:cNvPr id="17" name="Text 15"/>
          <p:cNvSpPr/>
          <p:nvPr/>
        </p:nvSpPr>
        <p:spPr>
          <a:xfrm>
            <a:off x="465429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2</a:t>
            </a:r>
            <a:endParaRPr lang="en-US" sz="2500" dirty="0"/>
          </a:p>
        </p:txBody>
      </p:sp>
      <p:sp>
        <p:nvSpPr>
          <p:cNvPr id="18" name="Text 16"/>
          <p:cNvSpPr/>
          <p:nvPr/>
        </p:nvSpPr>
        <p:spPr>
          <a:xfrm>
            <a:off x="585216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Product gap backlog: repeated pain points with quotes, accounts, and urgency.</a:t>
            </a:r>
            <a:endParaRPr lang="en-US" sz="1040" dirty="0"/>
          </a:p>
        </p:txBody>
      </p:sp>
      <p:sp>
        <p:nvSpPr>
          <p:cNvPr id="19" name="Shape 17"/>
          <p:cNvSpPr/>
          <p:nvPr/>
        </p:nvSpPr>
        <p:spPr>
          <a:xfrm>
            <a:off x="8183880" y="164592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645920"/>
            <a:ext cx="3337560" cy="73152"/>
          </a:xfrm>
          <a:prstGeom prst="rect">
            <a:avLst/>
          </a:prstGeom>
          <a:solidFill>
            <a:srgbClr val="4D7C5B"/>
          </a:solidFill>
          <a:ln w="12700">
            <a:solidFill>
              <a:srgbClr val="333333">
                <a:alpha val="0"/>
              </a:srgbClr>
            </a:solidFill>
            <a:prstDash val="solid"/>
          </a:ln>
        </p:spPr>
      </p:sp>
      <p:sp>
        <p:nvSpPr>
          <p:cNvPr id="21" name="Text 19"/>
          <p:cNvSpPr/>
          <p:nvPr/>
        </p:nvSpPr>
        <p:spPr>
          <a:xfrm>
            <a:off x="840333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ENGINEERING</a:t>
            </a:r>
            <a:endParaRPr lang="en-US" sz="750" dirty="0"/>
          </a:p>
        </p:txBody>
      </p:sp>
      <p:sp>
        <p:nvSpPr>
          <p:cNvPr id="22" name="Text 20"/>
          <p:cNvSpPr/>
          <p:nvPr/>
        </p:nvSpPr>
        <p:spPr>
          <a:xfrm>
            <a:off x="840333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3</a:t>
            </a:r>
            <a:endParaRPr lang="en-US" sz="2500" dirty="0"/>
          </a:p>
        </p:txBody>
      </p:sp>
      <p:sp>
        <p:nvSpPr>
          <p:cNvPr id="23" name="Text 21"/>
          <p:cNvSpPr/>
          <p:nvPr/>
        </p:nvSpPr>
        <p:spPr>
          <a:xfrm>
            <a:off x="960120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Incident learning loop: connect support pain to post-incident and sprint-planning follow-through.</a:t>
            </a:r>
            <a:endParaRPr lang="en-US" sz="1040" dirty="0"/>
          </a:p>
        </p:txBody>
      </p:sp>
      <p:sp>
        <p:nvSpPr>
          <p:cNvPr id="24" name="Text 22"/>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82322"/>
                </a:solidFill>
              </a:rPr>
              <a:t>These are stakeholder workflows, not charts. The product should help each leader decide what to do next and where to look for evidence.</a:t>
            </a:r>
            <a:endParaRPr lang="en-US" sz="220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NEXT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Recommended next build</a:t>
            </a:r>
            <a:endParaRPr lang="en-US" sz="2500" dirty="0"/>
          </a:p>
        </p:txBody>
      </p:sp>
      <p:sp>
        <p:nvSpPr>
          <p:cNvPr id="9" name="Text 7"/>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82322"/>
                </a:solidFill>
              </a:rPr>
              <a:t>Ship a theme and risk dashboard for Detect reliability first.</a:t>
            </a:r>
            <a:endParaRPr lang="en-US" sz="1800" dirty="0"/>
          </a:p>
          <a:p>
            <a:r>
              <a:rPr lang="en-US" sz="1800" dirty="0">
                <a:solidFill>
                  <a:srgbClr val="182322"/>
                </a:solidFill>
              </a:rPr>
              <a:t>Add account-level revenue risk overlays for renewal and competitive calls.</a:t>
            </a:r>
            <a:endParaRPr lang="en-US" sz="1800" dirty="0"/>
          </a:p>
          <a:p>
            <a:r>
              <a:rPr lang="en-US" sz="1800" dirty="0">
                <a:solidFill>
                  <a:srgbClr val="182322"/>
                </a:solidFill>
              </a:rPr>
              <a:t>Add owner extraction so action items become trackable workflow, not static notes.</a:t>
            </a:r>
            <a:endParaRPr lang="en-US" sz="1800" dirty="0"/>
          </a:p>
          <a:p>
            <a:r>
              <a:rPr lang="en-US" sz="1800" dirty="0">
                <a:solidFill>
                  <a:srgbClr val="182322"/>
                </a:solidFill>
              </a:rPr>
              <a:t>Upgrade classifier with embeddings or LLM labels, keeping the rule layer as explainable QA.</a:t>
            </a:r>
            <a:endParaRPr lang="en-US" sz="1800" dirty="0"/>
          </a:p>
        </p:txBody>
      </p:sp>
      <p:sp>
        <p:nvSpPr>
          <p:cNvPr id="10" name="Shape 8"/>
          <p:cNvSpPr/>
          <p:nvPr/>
        </p:nvSpPr>
        <p:spPr>
          <a:xfrm>
            <a:off x="7315200" y="1645920"/>
            <a:ext cx="3291840" cy="3108960"/>
          </a:xfrm>
          <a:prstGeom prst="roundRect">
            <a:avLst>
              <a:gd name="adj" fmla="val 2353"/>
            </a:avLst>
          </a:prstGeom>
          <a:solidFill>
            <a:srgbClr val="FFFFFF"/>
          </a:solidFill>
          <a:ln w="12700">
            <a:solidFill>
              <a:srgbClr val="D5CCBA"/>
            </a:solidFill>
            <a:prstDash val="solid"/>
          </a:ln>
        </p:spPr>
      </p:sp>
      <p:sp>
        <p:nvSpPr>
          <p:cNvPr id="11" name="Text 9"/>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82322"/>
                </a:solidFill>
              </a:rPr>
              <a:t>Demo path</a:t>
            </a:r>
            <a:endParaRPr lang="en-US" sz="1800" dirty="0"/>
          </a:p>
        </p:txBody>
      </p:sp>
      <p:sp>
        <p:nvSpPr>
          <p:cNvPr id="12" name="Text 10"/>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82322"/>
                </a:solidFill>
              </a:rPr>
              <a:t>1. Run src/analyze_transcripts.py</a:t>
            </a:r>
            <a:endParaRPr lang="en-US" sz="1500" dirty="0"/>
          </a:p>
          <a:p>
            <a:pPr indent="0" marL="0">
              <a:buNone/>
            </a:pPr>
            <a:r>
              <a:rPr lang="en-US" sz="1500" dirty="0">
                <a:solidFill>
                  <a:srgbClr val="182322"/>
                </a:solidFill>
              </a:rPr>
              <a:t>2. Open outputs/dashboard.html</a:t>
            </a:r>
            <a:endParaRPr lang="en-US" sz="1500" dirty="0"/>
          </a:p>
          <a:p>
            <a:pPr indent="0" marL="0">
              <a:buNone/>
            </a:pPr>
            <a:r>
              <a:rPr lang="en-US" sz="1500" dirty="0">
                <a:solidFill>
                  <a:srgbClr val="182322"/>
                </a:solidFill>
              </a:rPr>
              <a:t>3. Review analysis_report.md</a:t>
            </a:r>
            <a:endParaRPr lang="en-US" sz="1500" dirty="0"/>
          </a:p>
          <a:p>
            <a:pPr indent="0" marL="0">
              <a:buNone/>
            </a:pPr>
            <a:r>
              <a:rPr lang="en-US" sz="1500" dirty="0">
                <a:solidFill>
                  <a:srgbClr val="182322"/>
                </a:solidFill>
              </a:rPr>
              <a:t>4. Walk through this deck</a:t>
            </a:r>
            <a:endParaRPr lang="en-US" sz="1500" dirty="0"/>
          </a:p>
          <a:p>
            <a:pPr indent="0" marL="0">
              <a:buNone/>
            </a:pPr>
            <a:r>
              <a:rPr lang="en-US" sz="1500" dirty="0">
                <a:solidFill>
                  <a:srgbClr val="182322"/>
                </a:solidFill>
              </a:rPr>
              <a:t>5. Show highest-risk CSV rows</a:t>
            </a:r>
            <a:endParaRPr lang="en-US" sz="1500" dirty="0"/>
          </a:p>
        </p:txBody>
      </p:sp>
      <p:sp>
        <p:nvSpPr>
          <p:cNvPr id="13" name="Shape 11"/>
          <p:cNvSpPr/>
          <p:nvPr/>
        </p:nvSpPr>
        <p:spPr>
          <a:xfrm>
            <a:off x="566928" y="6327648"/>
            <a:ext cx="10927080" cy="0"/>
          </a:xfrm>
          <a:prstGeom prst="line">
            <a:avLst/>
          </a:prstGeom>
          <a:noFill/>
          <a:ln w="9525">
            <a:solidFill>
              <a:srgbClr val="D5CCBA">
                <a:alpha val="75000"/>
              </a:srgbClr>
            </a:solidFill>
            <a:prstDash val="solid"/>
          </a:ln>
        </p:spPr>
      </p:sp>
      <p:sp>
        <p:nvSpPr>
          <p:cNvPr id="14" name="Text 1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2026-05-03T06:04:57Z</dcterms:created>
  <dcterms:modified xsi:type="dcterms:W3CDTF">2026-05-03T06:04:57Z</dcterms:modified>
</cp:coreProperties>
</file>