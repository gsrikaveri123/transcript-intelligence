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331"/>
        </a:solidFill>
      </p:bgPr>
    </p:bg>
    <p:spTree>
      <p:nvGrpSpPr>
        <p:cNvPr id="1" name=""/>
        <p:cNvGrpSpPr/>
        <p:nvPr/>
      </p:nvGrpSpPr>
      <p:grpSpPr>
        <a:xfrm>
          <a:off x="0" y="0"/>
          <a:ext cx="0" cy="0"/>
          <a:chOff x="0" y="0"/>
          <a:chExt cx="0" cy="0"/>
        </a:xfrm>
      </p:grpSpPr>
      <p:sp>
        <p:nvSpPr>
          <p:cNvPr id="2" name="Text 0"/>
          <p:cNvSpPr/>
          <p:nvPr/>
        </p:nvSpPr>
        <p:spPr>
          <a:xfrm>
            <a:off x="566928" y="566928"/>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Aptos Display" pitchFamily="34" charset="0"/>
                <a:ea typeface="Aptos Display" pitchFamily="34" charset="-122"/>
                <a:cs typeface="Aptos Display" pitchFamily="34" charset="-120"/>
              </a:rPr>
              <a:t>Transcript Intelligence</a:t>
            </a:r>
            <a:endParaRPr lang="en-US" sz="3400" dirty="0"/>
          </a:p>
        </p:txBody>
      </p:sp>
      <p:sp>
        <p:nvSpPr>
          <p:cNvPr id="3" name="Text 1"/>
          <p:cNvSpPr/>
          <p:nvPr/>
        </p:nvSpPr>
        <p:spPr>
          <a:xfrm>
            <a:off x="594360" y="1417320"/>
            <a:ext cx="8138160" cy="594360"/>
          </a:xfrm>
          <a:prstGeom prst="rect">
            <a:avLst/>
          </a:prstGeom>
          <a:noFill/>
          <a:ln/>
        </p:spPr>
        <p:txBody>
          <a:bodyPr wrap="square" lIns="0" tIns="0" rIns="0" bIns="0" rtlCol="0" anchor="ctr">
            <a:normAutofit/>
          </a:bodyPr>
          <a:lstStyle/>
          <a:p>
            <a:pPr indent="0" marL="0">
              <a:buNone/>
            </a:pPr>
            <a:r>
              <a:rPr lang="en-US" sz="2000" dirty="0">
                <a:solidFill>
                  <a:srgbClr val="DCE9E5"/>
                </a:solidFill>
              </a:rPr>
              <a:t>Turning 100 enterprise call transcripts into theme, sentiment, product-risk, and action signals for leadership.</a:t>
            </a:r>
            <a:endParaRPr lang="en-US" sz="2000" dirty="0"/>
          </a:p>
        </p:txBody>
      </p:sp>
      <p:sp>
        <p:nvSpPr>
          <p:cNvPr id="4" name="Shape 2"/>
          <p:cNvSpPr/>
          <p:nvPr/>
        </p:nvSpPr>
        <p:spPr>
          <a:xfrm>
            <a:off x="594360" y="2331720"/>
            <a:ext cx="2240280" cy="384048"/>
          </a:xfrm>
          <a:prstGeom prst="roundRect">
            <a:avLst>
              <a:gd name="adj" fmla="val 19048"/>
            </a:avLst>
          </a:prstGeom>
          <a:solidFill>
            <a:srgbClr val="2F6F73"/>
          </a:solidFill>
          <a:ln w="12700">
            <a:solidFill>
              <a:srgbClr val="2F6F73">
                <a:alpha val="0"/>
              </a:srgbClr>
            </a:solidFill>
            <a:prstDash val="solid"/>
          </a:ln>
        </p:spPr>
      </p:sp>
      <p:sp>
        <p:nvSpPr>
          <p:cNvPr id="5" name="Text 3"/>
          <p:cNvSpPr/>
          <p:nvPr/>
        </p:nvSpPr>
        <p:spPr>
          <a:xfrm>
            <a:off x="685800" y="2423160"/>
            <a:ext cx="205740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Hybrid explainable pipeline</a:t>
            </a:r>
            <a:endParaRPr lang="en-US" sz="900" dirty="0"/>
          </a:p>
        </p:txBody>
      </p:sp>
      <p:sp>
        <p:nvSpPr>
          <p:cNvPr id="6" name="Shape 4"/>
          <p:cNvSpPr/>
          <p:nvPr/>
        </p:nvSpPr>
        <p:spPr>
          <a:xfrm>
            <a:off x="2999232" y="2331720"/>
            <a:ext cx="2148840" cy="384048"/>
          </a:xfrm>
          <a:prstGeom prst="roundRect">
            <a:avLst>
              <a:gd name="adj" fmla="val 19048"/>
            </a:avLst>
          </a:prstGeom>
          <a:solidFill>
            <a:srgbClr val="C48A2C"/>
          </a:solidFill>
          <a:ln w="12700">
            <a:solidFill>
              <a:srgbClr val="C48A2C">
                <a:alpha val="0"/>
              </a:srgbClr>
            </a:solidFill>
            <a:prstDash val="solid"/>
          </a:ln>
        </p:spPr>
      </p:sp>
      <p:sp>
        <p:nvSpPr>
          <p:cNvPr id="7" name="Text 5"/>
          <p:cNvSpPr/>
          <p:nvPr/>
        </p:nvSpPr>
        <p:spPr>
          <a:xfrm>
            <a:off x="3090672" y="2423160"/>
            <a:ext cx="196596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Leadership-ready insights</a:t>
            </a:r>
            <a:endParaRPr lang="en-US" sz="900" dirty="0"/>
          </a:p>
        </p:txBody>
      </p:sp>
      <p:sp>
        <p:nvSpPr>
          <p:cNvPr id="8" name="Shape 6"/>
          <p:cNvSpPr/>
          <p:nvPr/>
        </p:nvSpPr>
        <p:spPr>
          <a:xfrm>
            <a:off x="5303520" y="2331720"/>
            <a:ext cx="1691640" cy="384048"/>
          </a:xfrm>
          <a:prstGeom prst="roundRect">
            <a:avLst>
              <a:gd name="adj" fmla="val 19048"/>
            </a:avLst>
          </a:prstGeom>
          <a:solidFill>
            <a:srgbClr val="4F7B58"/>
          </a:solidFill>
          <a:ln w="12700">
            <a:solidFill>
              <a:srgbClr val="4F7B58">
                <a:alpha val="0"/>
              </a:srgbClr>
            </a:solidFill>
            <a:prstDash val="solid"/>
          </a:ln>
        </p:spPr>
      </p:sp>
      <p:sp>
        <p:nvSpPr>
          <p:cNvPr id="9" name="Text 7"/>
          <p:cNvSpPr/>
          <p:nvPr/>
        </p:nvSpPr>
        <p:spPr>
          <a:xfrm>
            <a:off x="5394960" y="2423160"/>
            <a:ext cx="150876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rPr>
              <a:t>Reproducible repo</a:t>
            </a:r>
            <a:endParaRPr lang="en-US" sz="900" dirty="0"/>
          </a:p>
        </p:txBody>
      </p:sp>
      <p:sp>
        <p:nvSpPr>
          <p:cNvPr id="10" name="Shape 8"/>
          <p:cNvSpPr/>
          <p:nvPr/>
        </p:nvSpPr>
        <p:spPr>
          <a:xfrm>
            <a:off x="594360" y="3977640"/>
            <a:ext cx="3337560" cy="1051560"/>
          </a:xfrm>
          <a:prstGeom prst="roundRect">
            <a:avLst>
              <a:gd name="adj" fmla="val 6957"/>
            </a:avLst>
          </a:prstGeom>
          <a:solidFill>
            <a:srgbClr val="FFFFFF"/>
          </a:solidFill>
          <a:ln w="12700">
            <a:solidFill>
              <a:srgbClr val="D8D1C3"/>
            </a:solidFill>
            <a:prstDash val="solid"/>
          </a:ln>
        </p:spPr>
      </p:sp>
      <p:sp>
        <p:nvSpPr>
          <p:cNvPr id="11" name="Text 9"/>
          <p:cNvSpPr/>
          <p:nvPr/>
        </p:nvSpPr>
        <p:spPr>
          <a:xfrm>
            <a:off x="795528" y="4142232"/>
            <a:ext cx="1005840" cy="347472"/>
          </a:xfrm>
          <a:prstGeom prst="rect">
            <a:avLst/>
          </a:prstGeom>
          <a:noFill/>
          <a:ln/>
        </p:spPr>
        <p:txBody>
          <a:bodyPr wrap="square" lIns="0" tIns="0" rIns="0" bIns="0" rtlCol="0" anchor="ctr">
            <a:normAutofit/>
          </a:bodyPr>
          <a:lstStyle/>
          <a:p>
            <a:pPr indent="0" marL="0">
              <a:buNone/>
            </a:pPr>
            <a:r>
              <a:rPr lang="en-US" sz="2400" b="1" dirty="0">
                <a:solidFill>
                  <a:srgbClr val="FFFFFF"/>
                </a:solidFill>
              </a:rPr>
              <a:t>100</a:t>
            </a:r>
            <a:endParaRPr lang="en-US" sz="2400" dirty="0"/>
          </a:p>
        </p:txBody>
      </p:sp>
      <p:sp>
        <p:nvSpPr>
          <p:cNvPr id="12" name="Text 10"/>
          <p:cNvSpPr/>
          <p:nvPr/>
        </p:nvSpPr>
        <p:spPr>
          <a:xfrm>
            <a:off x="1801368" y="414223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meetings</a:t>
            </a:r>
            <a:endParaRPr lang="en-US" sz="900" dirty="0"/>
          </a:p>
        </p:txBody>
      </p:sp>
      <p:sp>
        <p:nvSpPr>
          <p:cNvPr id="13" name="Text 11"/>
          <p:cNvSpPr/>
          <p:nvPr/>
        </p:nvSpPr>
        <p:spPr>
          <a:xfrm>
            <a:off x="1801368" y="441655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Support, external customer, and internal conversations.</a:t>
            </a:r>
            <a:endParaRPr lang="en-US" sz="1100" dirty="0"/>
          </a:p>
        </p:txBody>
      </p:sp>
      <p:sp>
        <p:nvSpPr>
          <p:cNvPr id="14" name="Shape 12"/>
          <p:cNvSpPr/>
          <p:nvPr/>
        </p:nvSpPr>
        <p:spPr>
          <a:xfrm>
            <a:off x="4251960" y="3977640"/>
            <a:ext cx="3337560" cy="1051560"/>
          </a:xfrm>
          <a:prstGeom prst="roundRect">
            <a:avLst>
              <a:gd name="adj" fmla="val 6957"/>
            </a:avLst>
          </a:prstGeom>
          <a:solidFill>
            <a:srgbClr val="FFFFFF"/>
          </a:solidFill>
          <a:ln w="12700">
            <a:solidFill>
              <a:srgbClr val="D8D1C3"/>
            </a:solidFill>
            <a:prstDash val="solid"/>
          </a:ln>
        </p:spPr>
      </p:sp>
      <p:sp>
        <p:nvSpPr>
          <p:cNvPr id="15" name="Text 13"/>
          <p:cNvSpPr/>
          <p:nvPr/>
        </p:nvSpPr>
        <p:spPr>
          <a:xfrm>
            <a:off x="4453128" y="4142232"/>
            <a:ext cx="1005840" cy="347472"/>
          </a:xfrm>
          <a:prstGeom prst="rect">
            <a:avLst/>
          </a:prstGeom>
          <a:noFill/>
          <a:ln/>
        </p:spPr>
        <p:txBody>
          <a:bodyPr wrap="square" lIns="0" tIns="0" rIns="0" bIns="0" rtlCol="0" anchor="ctr">
            <a:normAutofit/>
          </a:bodyPr>
          <a:lstStyle/>
          <a:p>
            <a:pPr indent="0" marL="0">
              <a:buNone/>
            </a:pPr>
            <a:r>
              <a:rPr lang="en-US" sz="2400" b="1" dirty="0">
                <a:solidFill>
                  <a:srgbClr val="FFFFFF"/>
                </a:solidFill>
              </a:rPr>
              <a:t>7</a:t>
            </a:r>
            <a:endParaRPr lang="en-US" sz="2400" dirty="0"/>
          </a:p>
        </p:txBody>
      </p:sp>
      <p:sp>
        <p:nvSpPr>
          <p:cNvPr id="16" name="Text 14"/>
          <p:cNvSpPr/>
          <p:nvPr/>
        </p:nvSpPr>
        <p:spPr>
          <a:xfrm>
            <a:off x="5458968" y="414223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themes</a:t>
            </a:r>
            <a:endParaRPr lang="en-US" sz="900" dirty="0"/>
          </a:p>
        </p:txBody>
      </p:sp>
      <p:sp>
        <p:nvSpPr>
          <p:cNvPr id="17" name="Text 15"/>
          <p:cNvSpPr/>
          <p:nvPr/>
        </p:nvSpPr>
        <p:spPr>
          <a:xfrm>
            <a:off x="5458968" y="441655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Business-oriented categories for routing and prioritization.</a:t>
            </a:r>
            <a:endParaRPr lang="en-US" sz="1100" dirty="0"/>
          </a:p>
        </p:txBody>
      </p:sp>
      <p:sp>
        <p:nvSpPr>
          <p:cNvPr id="18" name="Shape 16"/>
          <p:cNvSpPr/>
          <p:nvPr/>
        </p:nvSpPr>
        <p:spPr>
          <a:xfrm>
            <a:off x="7909560" y="3977640"/>
            <a:ext cx="3337560" cy="1051560"/>
          </a:xfrm>
          <a:prstGeom prst="roundRect">
            <a:avLst>
              <a:gd name="adj" fmla="val 6957"/>
            </a:avLst>
          </a:prstGeom>
          <a:solidFill>
            <a:srgbClr val="FFFFFF"/>
          </a:solidFill>
          <a:ln w="12700">
            <a:solidFill>
              <a:srgbClr val="D8D1C3"/>
            </a:solidFill>
            <a:prstDash val="solid"/>
          </a:ln>
        </p:spPr>
      </p:sp>
      <p:sp>
        <p:nvSpPr>
          <p:cNvPr id="19" name="Text 17"/>
          <p:cNvSpPr/>
          <p:nvPr/>
        </p:nvSpPr>
        <p:spPr>
          <a:xfrm>
            <a:off x="8110728" y="4142232"/>
            <a:ext cx="1005840" cy="347472"/>
          </a:xfrm>
          <a:prstGeom prst="rect">
            <a:avLst/>
          </a:prstGeom>
          <a:noFill/>
          <a:ln/>
        </p:spPr>
        <p:txBody>
          <a:bodyPr wrap="square" lIns="0" tIns="0" rIns="0" bIns="0" rtlCol="0" anchor="ctr">
            <a:normAutofit/>
          </a:bodyPr>
          <a:lstStyle/>
          <a:p>
            <a:pPr indent="0" marL="0">
              <a:buNone/>
            </a:pPr>
            <a:r>
              <a:rPr lang="en-US" sz="2400" b="1" dirty="0">
                <a:solidFill>
                  <a:srgbClr val="FFFFFF"/>
                </a:solidFill>
              </a:rPr>
              <a:t>10/10</a:t>
            </a:r>
            <a:endParaRPr lang="en-US" sz="2400" dirty="0"/>
          </a:p>
        </p:txBody>
      </p:sp>
      <p:sp>
        <p:nvSpPr>
          <p:cNvPr id="20" name="Text 18"/>
          <p:cNvSpPr/>
          <p:nvPr/>
        </p:nvSpPr>
        <p:spPr>
          <a:xfrm>
            <a:off x="9116568" y="414223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highest risk</a:t>
            </a:r>
            <a:endParaRPr lang="en-US" sz="900" dirty="0"/>
          </a:p>
        </p:txBody>
      </p:sp>
      <p:sp>
        <p:nvSpPr>
          <p:cNvPr id="21" name="Text 19"/>
          <p:cNvSpPr/>
          <p:nvPr/>
        </p:nvSpPr>
        <p:spPr>
          <a:xfrm>
            <a:off x="9116568" y="441655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Reliability and competitive calls repeatedly hit the top risk band.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The transcript corpus is an operating signal, not just meeting notes</a:t>
            </a:r>
            <a:endParaRPr lang="en-US" sz="2800" dirty="0"/>
          </a:p>
        </p:txBody>
      </p:sp>
      <p:sp>
        <p:nvSpPr>
          <p:cNvPr id="4" name="Text 2"/>
          <p:cNvSpPr/>
          <p:nvPr/>
        </p:nvSpPr>
        <p:spPr>
          <a:xfrm>
            <a:off x="731520" y="1664208"/>
            <a:ext cx="5669280" cy="1828800"/>
          </a:xfrm>
          <a:prstGeom prst="rect">
            <a:avLst/>
          </a:prstGeom>
          <a:noFill/>
          <a:ln/>
        </p:spPr>
        <p:txBody>
          <a:bodyPr wrap="square" lIns="508" tIns="508" rIns="508" bIns="508" rtlCol="0" anchor="ctr">
            <a:normAutofit/>
          </a:bodyPr>
          <a:lstStyle/>
          <a:p>
            <a:r>
              <a:rPr lang="en-US" sz="1800" dirty="0">
                <a:solidFill>
                  <a:srgbClr val="172322"/>
                </a:solidFill>
              </a:rPr>
              <a:t>Support calls reveal acute pain: outages, latency, connector bugs, billing disputes.</a:t>
            </a:r>
            <a:endParaRPr lang="en-US" sz="1800" dirty="0"/>
          </a:p>
          <a:p>
            <a:r>
              <a:rPr lang="en-US" sz="1800" dirty="0">
                <a:solidFill>
                  <a:srgbClr val="172322"/>
                </a:solidFill>
              </a:rPr>
              <a:t>External customer calls reveal commercial risk: renewals, trust, competitive evaluations, roadmap confidence.</a:t>
            </a:r>
            <a:endParaRPr lang="en-US" sz="1800" dirty="0"/>
          </a:p>
          <a:p>
            <a:r>
              <a:rPr lang="en-US" sz="1800" dirty="0">
                <a:solidFill>
                  <a:srgbClr val="172322"/>
                </a:solidFill>
              </a:rPr>
              <a:t>Internal calls reveal whether the organization is closing the loop on customer pain.</a:t>
            </a:r>
            <a:endParaRPr lang="en-US" sz="1800" dirty="0"/>
          </a:p>
        </p:txBody>
      </p:sp>
      <p:sp>
        <p:nvSpPr>
          <p:cNvPr id="5" name="Shape 3"/>
          <p:cNvSpPr/>
          <p:nvPr/>
        </p:nvSpPr>
        <p:spPr>
          <a:xfrm>
            <a:off x="6766560" y="1554480"/>
            <a:ext cx="3337560" cy="1051560"/>
          </a:xfrm>
          <a:prstGeom prst="roundRect">
            <a:avLst>
              <a:gd name="adj" fmla="val 6957"/>
            </a:avLst>
          </a:prstGeom>
          <a:solidFill>
            <a:srgbClr val="FFFFFF"/>
          </a:solidFill>
          <a:ln w="12700">
            <a:solidFill>
              <a:srgbClr val="D8D1C3"/>
            </a:solidFill>
            <a:prstDash val="solid"/>
          </a:ln>
        </p:spPr>
      </p:sp>
      <p:sp>
        <p:nvSpPr>
          <p:cNvPr id="6" name="Text 4"/>
          <p:cNvSpPr/>
          <p:nvPr/>
        </p:nvSpPr>
        <p:spPr>
          <a:xfrm>
            <a:off x="6967728" y="1719072"/>
            <a:ext cx="1005840" cy="347472"/>
          </a:xfrm>
          <a:prstGeom prst="rect">
            <a:avLst/>
          </a:prstGeom>
          <a:noFill/>
          <a:ln/>
        </p:spPr>
        <p:txBody>
          <a:bodyPr wrap="square" lIns="0" tIns="0" rIns="0" bIns="0" rtlCol="0" anchor="ctr">
            <a:normAutofit/>
          </a:bodyPr>
          <a:lstStyle/>
          <a:p>
            <a:pPr indent="0" marL="0">
              <a:buNone/>
            </a:pPr>
            <a:r>
              <a:rPr lang="en-US" sz="2400" b="1" dirty="0">
                <a:solidFill>
                  <a:srgbClr val="9B4D45"/>
                </a:solidFill>
              </a:rPr>
              <a:t>31</a:t>
            </a:r>
            <a:endParaRPr lang="en-US" sz="2400" dirty="0"/>
          </a:p>
        </p:txBody>
      </p:sp>
      <p:sp>
        <p:nvSpPr>
          <p:cNvPr id="7" name="Text 5"/>
          <p:cNvSpPr/>
          <p:nvPr/>
        </p:nvSpPr>
        <p:spPr>
          <a:xfrm>
            <a:off x="7973568" y="171907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Customer support</a:t>
            </a:r>
            <a:endParaRPr lang="en-US" sz="900" dirty="0"/>
          </a:p>
        </p:txBody>
      </p:sp>
      <p:sp>
        <p:nvSpPr>
          <p:cNvPr id="8" name="Text 6"/>
          <p:cNvSpPr/>
          <p:nvPr/>
        </p:nvSpPr>
        <p:spPr>
          <a:xfrm>
            <a:off x="7973568" y="199339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Highest negative utterance share.</a:t>
            </a:r>
            <a:endParaRPr lang="en-US" sz="1100" dirty="0"/>
          </a:p>
        </p:txBody>
      </p:sp>
      <p:sp>
        <p:nvSpPr>
          <p:cNvPr id="9" name="Shape 7"/>
          <p:cNvSpPr/>
          <p:nvPr/>
        </p:nvSpPr>
        <p:spPr>
          <a:xfrm>
            <a:off x="6766560" y="2788920"/>
            <a:ext cx="3337560" cy="1051560"/>
          </a:xfrm>
          <a:prstGeom prst="roundRect">
            <a:avLst>
              <a:gd name="adj" fmla="val 6957"/>
            </a:avLst>
          </a:prstGeom>
          <a:solidFill>
            <a:srgbClr val="FFFFFF"/>
          </a:solidFill>
          <a:ln w="12700">
            <a:solidFill>
              <a:srgbClr val="D8D1C3"/>
            </a:solidFill>
            <a:prstDash val="solid"/>
          </a:ln>
        </p:spPr>
      </p:sp>
      <p:sp>
        <p:nvSpPr>
          <p:cNvPr id="10" name="Text 8"/>
          <p:cNvSpPr/>
          <p:nvPr/>
        </p:nvSpPr>
        <p:spPr>
          <a:xfrm>
            <a:off x="6967728" y="2953512"/>
            <a:ext cx="1005840" cy="347472"/>
          </a:xfrm>
          <a:prstGeom prst="rect">
            <a:avLst/>
          </a:prstGeom>
          <a:noFill/>
          <a:ln/>
        </p:spPr>
        <p:txBody>
          <a:bodyPr wrap="square" lIns="0" tIns="0" rIns="0" bIns="0" rtlCol="0" anchor="ctr">
            <a:normAutofit/>
          </a:bodyPr>
          <a:lstStyle/>
          <a:p>
            <a:pPr indent="0" marL="0">
              <a:buNone/>
            </a:pPr>
            <a:r>
              <a:rPr lang="en-US" sz="2400" b="1" dirty="0">
                <a:solidFill>
                  <a:srgbClr val="2F6F73"/>
                </a:solidFill>
              </a:rPr>
              <a:t>39</a:t>
            </a:r>
            <a:endParaRPr lang="en-US" sz="2400" dirty="0"/>
          </a:p>
        </p:txBody>
      </p:sp>
      <p:sp>
        <p:nvSpPr>
          <p:cNvPr id="11" name="Text 9"/>
          <p:cNvSpPr/>
          <p:nvPr/>
        </p:nvSpPr>
        <p:spPr>
          <a:xfrm>
            <a:off x="7973568" y="295351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External customer</a:t>
            </a:r>
            <a:endParaRPr lang="en-US" sz="900" dirty="0"/>
          </a:p>
        </p:txBody>
      </p:sp>
      <p:sp>
        <p:nvSpPr>
          <p:cNvPr id="12" name="Text 10"/>
          <p:cNvSpPr/>
          <p:nvPr/>
        </p:nvSpPr>
        <p:spPr>
          <a:xfrm>
            <a:off x="7973568" y="322783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Lower sentiment risk, higher revenue context.</a:t>
            </a:r>
            <a:endParaRPr lang="en-US" sz="1100" dirty="0"/>
          </a:p>
        </p:txBody>
      </p:sp>
      <p:sp>
        <p:nvSpPr>
          <p:cNvPr id="13" name="Shape 11"/>
          <p:cNvSpPr/>
          <p:nvPr/>
        </p:nvSpPr>
        <p:spPr>
          <a:xfrm>
            <a:off x="6766560" y="4023360"/>
            <a:ext cx="3337560" cy="1051560"/>
          </a:xfrm>
          <a:prstGeom prst="roundRect">
            <a:avLst>
              <a:gd name="adj" fmla="val 6957"/>
            </a:avLst>
          </a:prstGeom>
          <a:solidFill>
            <a:srgbClr val="FFFFFF"/>
          </a:solidFill>
          <a:ln w="12700">
            <a:solidFill>
              <a:srgbClr val="D8D1C3"/>
            </a:solidFill>
            <a:prstDash val="solid"/>
          </a:ln>
        </p:spPr>
      </p:sp>
      <p:sp>
        <p:nvSpPr>
          <p:cNvPr id="14" name="Text 12"/>
          <p:cNvSpPr/>
          <p:nvPr/>
        </p:nvSpPr>
        <p:spPr>
          <a:xfrm>
            <a:off x="6967728" y="4187952"/>
            <a:ext cx="1005840" cy="347472"/>
          </a:xfrm>
          <a:prstGeom prst="rect">
            <a:avLst/>
          </a:prstGeom>
          <a:noFill/>
          <a:ln/>
        </p:spPr>
        <p:txBody>
          <a:bodyPr wrap="square" lIns="0" tIns="0" rIns="0" bIns="0" rtlCol="0" anchor="ctr">
            <a:normAutofit/>
          </a:bodyPr>
          <a:lstStyle/>
          <a:p>
            <a:pPr indent="0" marL="0">
              <a:buNone/>
            </a:pPr>
            <a:r>
              <a:rPr lang="en-US" sz="2400" b="1" dirty="0">
                <a:solidFill>
                  <a:srgbClr val="C48A2C"/>
                </a:solidFill>
              </a:rPr>
              <a:t>30</a:t>
            </a:r>
            <a:endParaRPr lang="en-US" sz="2400" dirty="0"/>
          </a:p>
        </p:txBody>
      </p:sp>
      <p:sp>
        <p:nvSpPr>
          <p:cNvPr id="15" name="Text 13"/>
          <p:cNvSpPr/>
          <p:nvPr/>
        </p:nvSpPr>
        <p:spPr>
          <a:xfrm>
            <a:off x="7973568" y="418795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Internal</a:t>
            </a:r>
            <a:endParaRPr lang="en-US" sz="900" dirty="0"/>
          </a:p>
        </p:txBody>
      </p:sp>
      <p:sp>
        <p:nvSpPr>
          <p:cNvPr id="16" name="Text 14"/>
          <p:cNvSpPr/>
          <p:nvPr/>
        </p:nvSpPr>
        <p:spPr>
          <a:xfrm>
            <a:off x="7973568" y="446227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Prioritization and execution signal.</a:t>
            </a:r>
            <a:endParaRPr lang="en-US" sz="1100" dirty="0"/>
          </a:p>
        </p:txBody>
      </p:sp>
      <p:sp>
        <p:nvSpPr>
          <p:cNvPr id="17" name="Text 15"/>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A transparent hybrid classifier is the right first system</a:t>
            </a:r>
            <a:endParaRPr lang="en-US" sz="2800" dirty="0"/>
          </a:p>
        </p:txBody>
      </p:sp>
      <p:sp>
        <p:nvSpPr>
          <p:cNvPr id="4" name="Text 2"/>
          <p:cNvSpPr/>
          <p:nvPr/>
        </p:nvSpPr>
        <p:spPr>
          <a:xfrm>
            <a:off x="640080" y="1536192"/>
            <a:ext cx="5212080" cy="256032"/>
          </a:xfrm>
          <a:prstGeom prst="rect">
            <a:avLst/>
          </a:prstGeom>
          <a:noFill/>
          <a:ln/>
        </p:spPr>
        <p:txBody>
          <a:bodyPr wrap="square" lIns="0" tIns="0" rIns="0" bIns="0" rtlCol="0" anchor="ctr"/>
          <a:lstStyle/>
          <a:p>
            <a:pPr indent="0" marL="0">
              <a:buNone/>
            </a:pPr>
            <a:r>
              <a:rPr lang="en-US" sz="1500" b="1" dirty="0">
                <a:solidFill>
                  <a:srgbClr val="2F6F73"/>
                </a:solidFill>
              </a:rPr>
              <a:t>Pipeline</a:t>
            </a:r>
            <a:endParaRPr lang="en-US" sz="1500" dirty="0"/>
          </a:p>
        </p:txBody>
      </p:sp>
      <p:sp>
        <p:nvSpPr>
          <p:cNvPr id="5" name="Text 3"/>
          <p:cNvSpPr/>
          <p:nvPr/>
        </p:nvSpPr>
        <p:spPr>
          <a:xfrm>
            <a:off x="640080" y="1920240"/>
            <a:ext cx="5212080" cy="941832"/>
          </a:xfrm>
          <a:prstGeom prst="rect">
            <a:avLst/>
          </a:prstGeom>
          <a:noFill/>
          <a:ln/>
        </p:spPr>
        <p:txBody>
          <a:bodyPr wrap="square" lIns="254" tIns="254" rIns="254" bIns="254" rtlCol="0" anchor="ctr">
            <a:normAutofit/>
          </a:bodyPr>
          <a:lstStyle/>
          <a:p>
            <a:pPr indent="0" marL="0">
              <a:buNone/>
            </a:pPr>
            <a:r>
              <a:rPr lang="en-US" sz="1600" dirty="0">
                <a:solidFill>
                  <a:srgbClr val="172322"/>
                </a:solidFill>
              </a:rPr>
              <a:t>Raw JSON folders -&gt; summaries/topics/key moments -&gt; rule-scored call type, theme, product surface, sentiment, risk -&gt; CSV/JSON/HTML/deck outputs</a:t>
            </a:r>
            <a:endParaRPr lang="en-US" sz="1600" dirty="0"/>
          </a:p>
        </p:txBody>
      </p:sp>
      <p:sp>
        <p:nvSpPr>
          <p:cNvPr id="6" name="Text 4"/>
          <p:cNvSpPr/>
          <p:nvPr/>
        </p:nvSpPr>
        <p:spPr>
          <a:xfrm>
            <a:off x="640080" y="3364992"/>
            <a:ext cx="5394960" cy="1554480"/>
          </a:xfrm>
          <a:prstGeom prst="rect">
            <a:avLst/>
          </a:prstGeom>
          <a:noFill/>
          <a:ln/>
        </p:spPr>
        <p:txBody>
          <a:bodyPr wrap="square" lIns="508" tIns="508" rIns="508" bIns="508" rtlCol="0" anchor="ctr">
            <a:normAutofit/>
          </a:bodyPr>
          <a:lstStyle/>
          <a:p>
            <a:r>
              <a:rPr lang="en-US" sz="1600" dirty="0">
                <a:solidFill>
                  <a:srgbClr val="172322"/>
                </a:solidFill>
              </a:rPr>
              <a:t>Explainable enough for product and engineering Q&amp;A.</a:t>
            </a:r>
            <a:endParaRPr lang="en-US" sz="1600" dirty="0"/>
          </a:p>
          <a:p>
            <a:r>
              <a:rPr lang="en-US" sz="1600" dirty="0">
                <a:solidFill>
                  <a:srgbClr val="172322"/>
                </a:solidFill>
              </a:rPr>
              <a:t>Repeatable with no external services or API keys.</a:t>
            </a:r>
            <a:endParaRPr lang="en-US" sz="1600" dirty="0"/>
          </a:p>
          <a:p>
            <a:r>
              <a:rPr lang="en-US" sz="1600" dirty="0">
                <a:solidFill>
                  <a:srgbClr val="172322"/>
                </a:solidFill>
              </a:rPr>
              <a:t>Easy to replace theme rules with embeddings or LLM labels later while keeping audit guardrails.</a:t>
            </a:r>
            <a:endParaRPr lang="en-US" sz="1600" dirty="0"/>
          </a:p>
        </p:txBody>
      </p:sp>
      <p:sp>
        <p:nvSpPr>
          <p:cNvPr id="7" name="Shape 5"/>
          <p:cNvSpPr/>
          <p:nvPr/>
        </p:nvSpPr>
        <p:spPr>
          <a:xfrm>
            <a:off x="6400800" y="1572768"/>
            <a:ext cx="4297680" cy="3383280"/>
          </a:xfrm>
          <a:prstGeom prst="roundRect">
            <a:avLst>
              <a:gd name="adj" fmla="val 2162"/>
            </a:avLst>
          </a:prstGeom>
          <a:solidFill>
            <a:srgbClr val="FFFFFF"/>
          </a:solidFill>
          <a:ln w="12700">
            <a:solidFill>
              <a:srgbClr val="D8D1C3"/>
            </a:solidFill>
            <a:prstDash val="solid"/>
          </a:ln>
        </p:spPr>
      </p:sp>
      <p:sp>
        <p:nvSpPr>
          <p:cNvPr id="8" name="Text 6"/>
          <p:cNvSpPr/>
          <p:nvPr/>
        </p:nvSpPr>
        <p:spPr>
          <a:xfrm>
            <a:off x="6720840" y="1847088"/>
            <a:ext cx="2194560" cy="292608"/>
          </a:xfrm>
          <a:prstGeom prst="rect">
            <a:avLst/>
          </a:prstGeom>
          <a:noFill/>
          <a:ln/>
        </p:spPr>
        <p:txBody>
          <a:bodyPr wrap="square" lIns="0" tIns="0" rIns="0" bIns="0" rtlCol="0" anchor="ctr"/>
          <a:lstStyle/>
          <a:p>
            <a:pPr indent="0" marL="0">
              <a:buNone/>
            </a:pPr>
            <a:r>
              <a:rPr lang="en-US" sz="1800" b="1" dirty="0">
                <a:solidFill>
                  <a:srgbClr val="172322"/>
                </a:solidFill>
              </a:rPr>
              <a:t>Core outputs</a:t>
            </a:r>
            <a:endParaRPr lang="en-US" sz="1800" dirty="0"/>
          </a:p>
        </p:txBody>
      </p:sp>
      <p:sp>
        <p:nvSpPr>
          <p:cNvPr id="9" name="Text 7"/>
          <p:cNvSpPr/>
          <p:nvPr/>
        </p:nvSpPr>
        <p:spPr>
          <a:xfrm>
            <a:off x="6720840" y="2331720"/>
            <a:ext cx="3566160" cy="1645920"/>
          </a:xfrm>
          <a:prstGeom prst="rect">
            <a:avLst/>
          </a:prstGeom>
          <a:noFill/>
          <a:ln/>
        </p:spPr>
        <p:txBody>
          <a:bodyPr wrap="square" lIns="0" tIns="0" rIns="0" bIns="0" rtlCol="0" anchor="ctr">
            <a:normAutofit/>
          </a:bodyPr>
          <a:lstStyle/>
          <a:p>
            <a:pPr indent="0" marL="0">
              <a:buNone/>
            </a:pPr>
            <a:r>
              <a:rPr lang="en-US" sz="1500" dirty="0">
                <a:solidFill>
                  <a:srgbClr val="172322"/>
                </a:solidFill>
              </a:rPr>
              <a:t>meeting_analysis.csv</a:t>
            </a:r>
            <a:endParaRPr lang="en-US" sz="1500" dirty="0"/>
          </a:p>
          <a:p>
            <a:pPr indent="0" marL="0">
              <a:buNone/>
            </a:pPr>
            <a:r>
              <a:rPr lang="en-US" sz="1500" dirty="0">
                <a:solidFill>
                  <a:srgbClr val="172322"/>
                </a:solidFill>
              </a:rPr>
              <a:t>summary_metrics.json</a:t>
            </a:r>
            <a:endParaRPr lang="en-US" sz="1500" dirty="0"/>
          </a:p>
          <a:p>
            <a:pPr indent="0" marL="0">
              <a:buNone/>
            </a:pPr>
            <a:r>
              <a:rPr lang="en-US" sz="1500" dirty="0">
                <a:solidFill>
                  <a:srgbClr val="172322"/>
                </a:solidFill>
              </a:rPr>
              <a:t>analysis_report.md</a:t>
            </a:r>
            <a:endParaRPr lang="en-US" sz="1500" dirty="0"/>
          </a:p>
          <a:p>
            <a:pPr indent="0" marL="0">
              <a:buNone/>
            </a:pPr>
            <a:r>
              <a:rPr lang="en-US" sz="1500" dirty="0">
                <a:solidFill>
                  <a:srgbClr val="172322"/>
                </a:solidFill>
              </a:rPr>
              <a:t>dashboard.html</a:t>
            </a:r>
            <a:endParaRPr lang="en-US" sz="1500" dirty="0"/>
          </a:p>
          <a:p>
            <a:pPr indent="0" marL="0">
              <a:buNone/>
            </a:pPr>
            <a:r>
              <a:rPr lang="en-US" sz="1500" dirty="0">
                <a:solidFill>
                  <a:srgbClr val="172322"/>
                </a:solidFill>
              </a:rPr>
              <a:t>Transcript_Intelligence_Leadership_Deck.pptx</a:t>
            </a:r>
            <a:endParaRPr lang="en-US" sz="1500" dirty="0"/>
          </a:p>
        </p:txBody>
      </p:sp>
      <p:sp>
        <p:nvSpPr>
          <p:cNvPr id="10" name="Text 8"/>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Reliability is the largest high-risk signal; compliance is broad but healthier</a:t>
            </a:r>
            <a:endParaRPr lang="en-US" sz="2800" dirty="0"/>
          </a:p>
        </p:txBody>
      </p:sp>
      <p:sp>
        <p:nvSpPr>
          <p:cNvPr id="4" name="Text 2"/>
          <p:cNvSpPr/>
          <p:nvPr/>
        </p:nvSpPr>
        <p:spPr>
          <a:xfrm>
            <a:off x="658368" y="154533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5" name="Shape 3"/>
          <p:cNvSpPr/>
          <p:nvPr/>
        </p:nvSpPr>
        <p:spPr>
          <a:xfrm>
            <a:off x="3035808" y="1545336"/>
            <a:ext cx="4069080" cy="256032"/>
          </a:xfrm>
          <a:prstGeom prst="roundRect">
            <a:avLst>
              <a:gd name="adj" fmla="val 28571"/>
            </a:avLst>
          </a:prstGeom>
          <a:solidFill>
            <a:srgbClr val="2F6F73"/>
          </a:solidFill>
          <a:ln w="12700">
            <a:solidFill>
              <a:srgbClr val="2F6F73">
                <a:alpha val="0"/>
              </a:srgbClr>
            </a:solidFill>
            <a:prstDash val="solid"/>
          </a:ln>
        </p:spPr>
      </p:sp>
      <p:sp>
        <p:nvSpPr>
          <p:cNvPr id="6" name="Text 4"/>
          <p:cNvSpPr/>
          <p:nvPr/>
        </p:nvSpPr>
        <p:spPr>
          <a:xfrm>
            <a:off x="7214616" y="158191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28</a:t>
            </a:r>
            <a:endParaRPr lang="en-US" sz="850" dirty="0"/>
          </a:p>
        </p:txBody>
      </p:sp>
      <p:sp>
        <p:nvSpPr>
          <p:cNvPr id="7" name="Text 5"/>
          <p:cNvSpPr/>
          <p:nvPr/>
        </p:nvSpPr>
        <p:spPr>
          <a:xfrm>
            <a:off x="658368" y="2159290"/>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Compliance &amp; Audit</a:t>
            </a:r>
            <a:endParaRPr lang="en-US" sz="950" dirty="0"/>
          </a:p>
        </p:txBody>
      </p:sp>
      <p:sp>
        <p:nvSpPr>
          <p:cNvPr id="8" name="Shape 6"/>
          <p:cNvSpPr/>
          <p:nvPr/>
        </p:nvSpPr>
        <p:spPr>
          <a:xfrm>
            <a:off x="3035808" y="2159290"/>
            <a:ext cx="3197134" cy="256032"/>
          </a:xfrm>
          <a:prstGeom prst="roundRect">
            <a:avLst>
              <a:gd name="adj" fmla="val 28571"/>
            </a:avLst>
          </a:prstGeom>
          <a:solidFill>
            <a:srgbClr val="2F6F73"/>
          </a:solidFill>
          <a:ln w="12700">
            <a:solidFill>
              <a:srgbClr val="2F6F73">
                <a:alpha val="0"/>
              </a:srgbClr>
            </a:solidFill>
            <a:prstDash val="solid"/>
          </a:ln>
        </p:spPr>
      </p:sp>
      <p:sp>
        <p:nvSpPr>
          <p:cNvPr id="9" name="Text 7"/>
          <p:cNvSpPr/>
          <p:nvPr/>
        </p:nvSpPr>
        <p:spPr>
          <a:xfrm>
            <a:off x="6342670" y="2195866"/>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22</a:t>
            </a:r>
            <a:endParaRPr lang="en-US" sz="850" dirty="0"/>
          </a:p>
        </p:txBody>
      </p:sp>
      <p:sp>
        <p:nvSpPr>
          <p:cNvPr id="10" name="Text 8"/>
          <p:cNvSpPr/>
          <p:nvPr/>
        </p:nvSpPr>
        <p:spPr>
          <a:xfrm>
            <a:off x="658368" y="2773245"/>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Renewal &amp; Commercial Risk</a:t>
            </a:r>
            <a:endParaRPr lang="en-US" sz="950" dirty="0"/>
          </a:p>
        </p:txBody>
      </p:sp>
      <p:sp>
        <p:nvSpPr>
          <p:cNvPr id="11" name="Shape 9"/>
          <p:cNvSpPr/>
          <p:nvPr/>
        </p:nvSpPr>
        <p:spPr>
          <a:xfrm>
            <a:off x="3035808" y="2773245"/>
            <a:ext cx="2470513" cy="256032"/>
          </a:xfrm>
          <a:prstGeom prst="roundRect">
            <a:avLst>
              <a:gd name="adj" fmla="val 28571"/>
            </a:avLst>
          </a:prstGeom>
          <a:solidFill>
            <a:srgbClr val="2F6F73"/>
          </a:solidFill>
          <a:ln w="12700">
            <a:solidFill>
              <a:srgbClr val="2F6F73">
                <a:alpha val="0"/>
              </a:srgbClr>
            </a:solidFill>
            <a:prstDash val="solid"/>
          </a:ln>
        </p:spPr>
      </p:sp>
      <p:sp>
        <p:nvSpPr>
          <p:cNvPr id="12" name="Text 10"/>
          <p:cNvSpPr/>
          <p:nvPr/>
        </p:nvSpPr>
        <p:spPr>
          <a:xfrm>
            <a:off x="5616049" y="2809821"/>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17</a:t>
            </a:r>
            <a:endParaRPr lang="en-US" sz="850" dirty="0"/>
          </a:p>
        </p:txBody>
      </p:sp>
      <p:sp>
        <p:nvSpPr>
          <p:cNvPr id="13" name="Text 11"/>
          <p:cNvSpPr/>
          <p:nvPr/>
        </p:nvSpPr>
        <p:spPr>
          <a:xfrm>
            <a:off x="658368" y="3387199"/>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Product Feedback &amp; Roadmap</a:t>
            </a:r>
            <a:endParaRPr lang="en-US" sz="950" dirty="0"/>
          </a:p>
        </p:txBody>
      </p:sp>
      <p:sp>
        <p:nvSpPr>
          <p:cNvPr id="14" name="Shape 12"/>
          <p:cNvSpPr/>
          <p:nvPr/>
        </p:nvSpPr>
        <p:spPr>
          <a:xfrm>
            <a:off x="3035808" y="3387199"/>
            <a:ext cx="1598567" cy="256032"/>
          </a:xfrm>
          <a:prstGeom prst="roundRect">
            <a:avLst>
              <a:gd name="adj" fmla="val 28571"/>
            </a:avLst>
          </a:prstGeom>
          <a:solidFill>
            <a:srgbClr val="2F6F73"/>
          </a:solidFill>
          <a:ln w="12700">
            <a:solidFill>
              <a:srgbClr val="2F6F73">
                <a:alpha val="0"/>
              </a:srgbClr>
            </a:solidFill>
            <a:prstDash val="solid"/>
          </a:ln>
        </p:spPr>
      </p:sp>
      <p:sp>
        <p:nvSpPr>
          <p:cNvPr id="15" name="Text 13"/>
          <p:cNvSpPr/>
          <p:nvPr/>
        </p:nvSpPr>
        <p:spPr>
          <a:xfrm>
            <a:off x="4744103" y="3423775"/>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11</a:t>
            </a:r>
            <a:endParaRPr lang="en-US" sz="850" dirty="0"/>
          </a:p>
        </p:txBody>
      </p:sp>
      <p:sp>
        <p:nvSpPr>
          <p:cNvPr id="16" name="Text 14"/>
          <p:cNvSpPr/>
          <p:nvPr/>
        </p:nvSpPr>
        <p:spPr>
          <a:xfrm>
            <a:off x="658368" y="4001153"/>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Backup &amp; Recovery</a:t>
            </a:r>
            <a:endParaRPr lang="en-US" sz="950" dirty="0"/>
          </a:p>
        </p:txBody>
      </p:sp>
      <p:sp>
        <p:nvSpPr>
          <p:cNvPr id="17" name="Shape 15"/>
          <p:cNvSpPr/>
          <p:nvPr/>
        </p:nvSpPr>
        <p:spPr>
          <a:xfrm>
            <a:off x="3035808" y="4001153"/>
            <a:ext cx="1162594" cy="256032"/>
          </a:xfrm>
          <a:prstGeom prst="roundRect">
            <a:avLst>
              <a:gd name="adj" fmla="val 28571"/>
            </a:avLst>
          </a:prstGeom>
          <a:solidFill>
            <a:srgbClr val="2F6F73"/>
          </a:solidFill>
          <a:ln w="12700">
            <a:solidFill>
              <a:srgbClr val="2F6F73">
                <a:alpha val="0"/>
              </a:srgbClr>
            </a:solidFill>
            <a:prstDash val="solid"/>
          </a:ln>
        </p:spPr>
      </p:sp>
      <p:sp>
        <p:nvSpPr>
          <p:cNvPr id="18" name="Text 16"/>
          <p:cNvSpPr/>
          <p:nvPr/>
        </p:nvSpPr>
        <p:spPr>
          <a:xfrm>
            <a:off x="4308130" y="4037729"/>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8</a:t>
            </a:r>
            <a:endParaRPr lang="en-US" sz="850" dirty="0"/>
          </a:p>
        </p:txBody>
      </p:sp>
      <p:sp>
        <p:nvSpPr>
          <p:cNvPr id="19" name="Text 17"/>
          <p:cNvSpPr/>
          <p:nvPr/>
        </p:nvSpPr>
        <p:spPr>
          <a:xfrm>
            <a:off x="658368" y="4615107"/>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Identity &amp; Access</a:t>
            </a:r>
            <a:endParaRPr lang="en-US" sz="950" dirty="0"/>
          </a:p>
        </p:txBody>
      </p:sp>
      <p:sp>
        <p:nvSpPr>
          <p:cNvPr id="20" name="Shape 18"/>
          <p:cNvSpPr/>
          <p:nvPr/>
        </p:nvSpPr>
        <p:spPr>
          <a:xfrm>
            <a:off x="3035808" y="4615107"/>
            <a:ext cx="1162594" cy="256032"/>
          </a:xfrm>
          <a:prstGeom prst="roundRect">
            <a:avLst>
              <a:gd name="adj" fmla="val 28571"/>
            </a:avLst>
          </a:prstGeom>
          <a:solidFill>
            <a:srgbClr val="2F6F73"/>
          </a:solidFill>
          <a:ln w="12700">
            <a:solidFill>
              <a:srgbClr val="2F6F73">
                <a:alpha val="0"/>
              </a:srgbClr>
            </a:solidFill>
            <a:prstDash val="solid"/>
          </a:ln>
        </p:spPr>
      </p:sp>
      <p:sp>
        <p:nvSpPr>
          <p:cNvPr id="21" name="Text 19"/>
          <p:cNvSpPr/>
          <p:nvPr/>
        </p:nvSpPr>
        <p:spPr>
          <a:xfrm>
            <a:off x="4308130" y="4651683"/>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8</a:t>
            </a:r>
            <a:endParaRPr lang="en-US" sz="850" dirty="0"/>
          </a:p>
        </p:txBody>
      </p:sp>
      <p:sp>
        <p:nvSpPr>
          <p:cNvPr id="22" name="Text 20"/>
          <p:cNvSpPr/>
          <p:nvPr/>
        </p:nvSpPr>
        <p:spPr>
          <a:xfrm>
            <a:off x="658368" y="5229062"/>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Competitive &amp; Market</a:t>
            </a:r>
            <a:endParaRPr lang="en-US" sz="950" dirty="0"/>
          </a:p>
        </p:txBody>
      </p:sp>
      <p:sp>
        <p:nvSpPr>
          <p:cNvPr id="23" name="Shape 21"/>
          <p:cNvSpPr/>
          <p:nvPr/>
        </p:nvSpPr>
        <p:spPr>
          <a:xfrm>
            <a:off x="3035808" y="5229062"/>
            <a:ext cx="871946" cy="256032"/>
          </a:xfrm>
          <a:prstGeom prst="roundRect">
            <a:avLst>
              <a:gd name="adj" fmla="val 28571"/>
            </a:avLst>
          </a:prstGeom>
          <a:solidFill>
            <a:srgbClr val="2F6F73"/>
          </a:solidFill>
          <a:ln w="12700">
            <a:solidFill>
              <a:srgbClr val="2F6F73">
                <a:alpha val="0"/>
              </a:srgbClr>
            </a:solidFill>
            <a:prstDash val="solid"/>
          </a:ln>
        </p:spPr>
      </p:sp>
      <p:sp>
        <p:nvSpPr>
          <p:cNvPr id="24" name="Text 22"/>
          <p:cNvSpPr/>
          <p:nvPr/>
        </p:nvSpPr>
        <p:spPr>
          <a:xfrm>
            <a:off x="4017482" y="5265638"/>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6</a:t>
            </a:r>
            <a:endParaRPr lang="en-US" sz="850" dirty="0"/>
          </a:p>
        </p:txBody>
      </p:sp>
      <p:sp>
        <p:nvSpPr>
          <p:cNvPr id="25" name="Text 23"/>
          <p:cNvSpPr/>
          <p:nvPr/>
        </p:nvSpPr>
        <p:spPr>
          <a:xfrm>
            <a:off x="7635240" y="1645920"/>
            <a:ext cx="3337560" cy="256032"/>
          </a:xfrm>
          <a:prstGeom prst="rect">
            <a:avLst/>
          </a:prstGeom>
          <a:noFill/>
          <a:ln/>
        </p:spPr>
        <p:txBody>
          <a:bodyPr wrap="square" lIns="0" tIns="0" rIns="0" bIns="0" rtlCol="0" anchor="ctr"/>
          <a:lstStyle/>
          <a:p>
            <a:pPr indent="0" marL="0">
              <a:buNone/>
            </a:pPr>
            <a:r>
              <a:rPr lang="en-US" sz="1500" b="1" dirty="0">
                <a:solidFill>
                  <a:srgbClr val="2F6F73"/>
                </a:solidFill>
              </a:rPr>
              <a:t>Interpretation</a:t>
            </a:r>
            <a:endParaRPr lang="en-US" sz="1500" dirty="0"/>
          </a:p>
        </p:txBody>
      </p:sp>
      <p:sp>
        <p:nvSpPr>
          <p:cNvPr id="26" name="Text 24"/>
          <p:cNvSpPr/>
          <p:nvPr/>
        </p:nvSpPr>
        <p:spPr>
          <a:xfrm>
            <a:off x="7635240" y="2029968"/>
            <a:ext cx="3337560" cy="1810512"/>
          </a:xfrm>
          <a:prstGeom prst="rect">
            <a:avLst/>
          </a:prstGeom>
          <a:noFill/>
          <a:ln/>
        </p:spPr>
        <p:txBody>
          <a:bodyPr wrap="square" lIns="254" tIns="254" rIns="254" bIns="254" rtlCol="0" anchor="ctr">
            <a:normAutofit/>
          </a:bodyPr>
          <a:lstStyle/>
          <a:p>
            <a:pPr indent="0" marL="0">
              <a:buNone/>
            </a:pPr>
            <a:r>
              <a:rPr lang="en-US" sz="1600" dirty="0">
                <a:solidFill>
                  <a:srgbClr val="172322"/>
                </a:solidFill>
              </a:rPr>
              <a:t>Incident &amp; Reliability reaches the risk ceiling because it combines urgent language, customer impact, and technical follow-up. Compliance is frequent, but many conversations are planned reviews or launch/adoption work.</a:t>
            </a:r>
            <a:endParaRPr lang="en-US" sz="1600" dirty="0"/>
          </a:p>
        </p:txBody>
      </p:sp>
      <p:sp>
        <p:nvSpPr>
          <p:cNvPr id="27" name="Text 25"/>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Sentiment trends separate acute support pain from commercial risk</a:t>
            </a:r>
            <a:endParaRPr lang="en-US" sz="2800" dirty="0"/>
          </a:p>
        </p:txBody>
      </p:sp>
      <p:sp>
        <p:nvSpPr>
          <p:cNvPr id="4" name="Text 2"/>
          <p:cNvSpPr/>
          <p:nvPr/>
        </p:nvSpPr>
        <p:spPr>
          <a:xfrm>
            <a:off x="685800" y="154533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Customer support</a:t>
            </a:r>
            <a:endParaRPr lang="en-US" sz="950" dirty="0"/>
          </a:p>
        </p:txBody>
      </p:sp>
      <p:sp>
        <p:nvSpPr>
          <p:cNvPr id="5" name="Shape 3"/>
          <p:cNvSpPr/>
          <p:nvPr/>
        </p:nvSpPr>
        <p:spPr>
          <a:xfrm>
            <a:off x="3063240" y="1545336"/>
            <a:ext cx="3703320" cy="256032"/>
          </a:xfrm>
          <a:prstGeom prst="roundRect">
            <a:avLst>
              <a:gd name="adj" fmla="val 28571"/>
            </a:avLst>
          </a:prstGeom>
          <a:solidFill>
            <a:srgbClr val="9B4D45"/>
          </a:solidFill>
          <a:ln w="12700">
            <a:solidFill>
              <a:srgbClr val="9B4D45">
                <a:alpha val="0"/>
              </a:srgbClr>
            </a:solidFill>
            <a:prstDash val="solid"/>
          </a:ln>
        </p:spPr>
      </p:sp>
      <p:sp>
        <p:nvSpPr>
          <p:cNvPr id="6" name="Text 4"/>
          <p:cNvSpPr/>
          <p:nvPr/>
        </p:nvSpPr>
        <p:spPr>
          <a:xfrm>
            <a:off x="6876288" y="158191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27.1%</a:t>
            </a:r>
            <a:endParaRPr lang="en-US" sz="850" dirty="0"/>
          </a:p>
        </p:txBody>
      </p:sp>
      <p:sp>
        <p:nvSpPr>
          <p:cNvPr id="7" name="Text 5"/>
          <p:cNvSpPr/>
          <p:nvPr/>
        </p:nvSpPr>
        <p:spPr>
          <a:xfrm>
            <a:off x="685800" y="227685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External customer</a:t>
            </a:r>
            <a:endParaRPr lang="en-US" sz="950" dirty="0"/>
          </a:p>
        </p:txBody>
      </p:sp>
      <p:sp>
        <p:nvSpPr>
          <p:cNvPr id="8" name="Shape 6"/>
          <p:cNvSpPr/>
          <p:nvPr/>
        </p:nvSpPr>
        <p:spPr>
          <a:xfrm>
            <a:off x="3063240" y="2276856"/>
            <a:ext cx="1298212" cy="256032"/>
          </a:xfrm>
          <a:prstGeom prst="roundRect">
            <a:avLst>
              <a:gd name="adj" fmla="val 28571"/>
            </a:avLst>
          </a:prstGeom>
          <a:solidFill>
            <a:srgbClr val="9B4D45"/>
          </a:solidFill>
          <a:ln w="12700">
            <a:solidFill>
              <a:srgbClr val="9B4D45">
                <a:alpha val="0"/>
              </a:srgbClr>
            </a:solidFill>
            <a:prstDash val="solid"/>
          </a:ln>
        </p:spPr>
      </p:sp>
      <p:sp>
        <p:nvSpPr>
          <p:cNvPr id="9" name="Text 7"/>
          <p:cNvSpPr/>
          <p:nvPr/>
        </p:nvSpPr>
        <p:spPr>
          <a:xfrm>
            <a:off x="4471180" y="231343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9.5%</a:t>
            </a:r>
            <a:endParaRPr lang="en-US" sz="850" dirty="0"/>
          </a:p>
        </p:txBody>
      </p:sp>
      <p:sp>
        <p:nvSpPr>
          <p:cNvPr id="10" name="Text 8"/>
          <p:cNvSpPr/>
          <p:nvPr/>
        </p:nvSpPr>
        <p:spPr>
          <a:xfrm>
            <a:off x="685800" y="300837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Internal</a:t>
            </a:r>
            <a:endParaRPr lang="en-US" sz="950" dirty="0"/>
          </a:p>
        </p:txBody>
      </p:sp>
      <p:sp>
        <p:nvSpPr>
          <p:cNvPr id="11" name="Shape 9"/>
          <p:cNvSpPr/>
          <p:nvPr/>
        </p:nvSpPr>
        <p:spPr>
          <a:xfrm>
            <a:off x="3063240" y="3008376"/>
            <a:ext cx="2309450" cy="256032"/>
          </a:xfrm>
          <a:prstGeom prst="roundRect">
            <a:avLst>
              <a:gd name="adj" fmla="val 28571"/>
            </a:avLst>
          </a:prstGeom>
          <a:solidFill>
            <a:srgbClr val="9B4D45"/>
          </a:solidFill>
          <a:ln w="12700">
            <a:solidFill>
              <a:srgbClr val="9B4D45">
                <a:alpha val="0"/>
              </a:srgbClr>
            </a:solidFill>
            <a:prstDash val="solid"/>
          </a:ln>
        </p:spPr>
      </p:sp>
      <p:sp>
        <p:nvSpPr>
          <p:cNvPr id="12" name="Text 10"/>
          <p:cNvSpPr/>
          <p:nvPr/>
        </p:nvSpPr>
        <p:spPr>
          <a:xfrm>
            <a:off x="5482418" y="304495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16.9%</a:t>
            </a:r>
            <a:endParaRPr lang="en-US" sz="850" dirty="0"/>
          </a:p>
        </p:txBody>
      </p:sp>
      <p:sp>
        <p:nvSpPr>
          <p:cNvPr id="13" name="Text 11"/>
          <p:cNvSpPr/>
          <p:nvPr/>
        </p:nvSpPr>
        <p:spPr>
          <a:xfrm>
            <a:off x="685800" y="410565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Customer support</a:t>
            </a:r>
            <a:endParaRPr lang="en-US" sz="950" dirty="0"/>
          </a:p>
        </p:txBody>
      </p:sp>
      <p:sp>
        <p:nvSpPr>
          <p:cNvPr id="14" name="Shape 12"/>
          <p:cNvSpPr/>
          <p:nvPr/>
        </p:nvSpPr>
        <p:spPr>
          <a:xfrm>
            <a:off x="3063240" y="4105656"/>
            <a:ext cx="2658794" cy="256032"/>
          </a:xfrm>
          <a:prstGeom prst="roundRect">
            <a:avLst>
              <a:gd name="adj" fmla="val 28571"/>
            </a:avLst>
          </a:prstGeom>
          <a:solidFill>
            <a:srgbClr val="4F7B58"/>
          </a:solidFill>
          <a:ln w="12700">
            <a:solidFill>
              <a:srgbClr val="4F7B58">
                <a:alpha val="0"/>
              </a:srgbClr>
            </a:solidFill>
            <a:prstDash val="solid"/>
          </a:ln>
        </p:spPr>
      </p:sp>
      <p:sp>
        <p:nvSpPr>
          <p:cNvPr id="15" name="Text 13"/>
          <p:cNvSpPr/>
          <p:nvPr/>
        </p:nvSpPr>
        <p:spPr>
          <a:xfrm>
            <a:off x="5831762" y="414223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2.8</a:t>
            </a:r>
            <a:endParaRPr lang="en-US" sz="850" dirty="0"/>
          </a:p>
        </p:txBody>
      </p:sp>
      <p:sp>
        <p:nvSpPr>
          <p:cNvPr id="16" name="Text 14"/>
          <p:cNvSpPr/>
          <p:nvPr/>
        </p:nvSpPr>
        <p:spPr>
          <a:xfrm>
            <a:off x="685800" y="462381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External customer</a:t>
            </a:r>
            <a:endParaRPr lang="en-US" sz="950" dirty="0"/>
          </a:p>
        </p:txBody>
      </p:sp>
      <p:sp>
        <p:nvSpPr>
          <p:cNvPr id="17" name="Shape 15"/>
          <p:cNvSpPr/>
          <p:nvPr/>
        </p:nvSpPr>
        <p:spPr>
          <a:xfrm>
            <a:off x="3063240" y="4623816"/>
            <a:ext cx="3703320" cy="256032"/>
          </a:xfrm>
          <a:prstGeom prst="roundRect">
            <a:avLst>
              <a:gd name="adj" fmla="val 28571"/>
            </a:avLst>
          </a:prstGeom>
          <a:solidFill>
            <a:srgbClr val="4F7B58"/>
          </a:solidFill>
          <a:ln w="12700">
            <a:solidFill>
              <a:srgbClr val="4F7B58">
                <a:alpha val="0"/>
              </a:srgbClr>
            </a:solidFill>
            <a:prstDash val="solid"/>
          </a:ln>
        </p:spPr>
      </p:sp>
      <p:sp>
        <p:nvSpPr>
          <p:cNvPr id="18" name="Text 16"/>
          <p:cNvSpPr/>
          <p:nvPr/>
        </p:nvSpPr>
        <p:spPr>
          <a:xfrm>
            <a:off x="6876288" y="466039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3.9</a:t>
            </a:r>
            <a:endParaRPr lang="en-US" sz="850" dirty="0"/>
          </a:p>
        </p:txBody>
      </p:sp>
      <p:sp>
        <p:nvSpPr>
          <p:cNvPr id="19" name="Text 17"/>
          <p:cNvSpPr/>
          <p:nvPr/>
        </p:nvSpPr>
        <p:spPr>
          <a:xfrm>
            <a:off x="685800" y="514197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Internal</a:t>
            </a:r>
            <a:endParaRPr lang="en-US" sz="950" dirty="0"/>
          </a:p>
        </p:txBody>
      </p:sp>
      <p:sp>
        <p:nvSpPr>
          <p:cNvPr id="20" name="Shape 18"/>
          <p:cNvSpPr/>
          <p:nvPr/>
        </p:nvSpPr>
        <p:spPr>
          <a:xfrm>
            <a:off x="3063240" y="5141976"/>
            <a:ext cx="3247527" cy="256032"/>
          </a:xfrm>
          <a:prstGeom prst="roundRect">
            <a:avLst>
              <a:gd name="adj" fmla="val 28571"/>
            </a:avLst>
          </a:prstGeom>
          <a:solidFill>
            <a:srgbClr val="4F7B58"/>
          </a:solidFill>
          <a:ln w="12700">
            <a:solidFill>
              <a:srgbClr val="4F7B58">
                <a:alpha val="0"/>
              </a:srgbClr>
            </a:solidFill>
            <a:prstDash val="solid"/>
          </a:ln>
        </p:spPr>
      </p:sp>
      <p:sp>
        <p:nvSpPr>
          <p:cNvPr id="21" name="Text 19"/>
          <p:cNvSpPr/>
          <p:nvPr/>
        </p:nvSpPr>
        <p:spPr>
          <a:xfrm>
            <a:off x="6420495" y="517855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3.42</a:t>
            </a:r>
            <a:endParaRPr lang="en-US" sz="850" dirty="0"/>
          </a:p>
        </p:txBody>
      </p:sp>
      <p:sp>
        <p:nvSpPr>
          <p:cNvPr id="22" name="Text 20"/>
          <p:cNvSpPr/>
          <p:nvPr/>
        </p:nvSpPr>
        <p:spPr>
          <a:xfrm>
            <a:off x="7498080" y="1645920"/>
            <a:ext cx="3474720" cy="256032"/>
          </a:xfrm>
          <a:prstGeom prst="rect">
            <a:avLst/>
          </a:prstGeom>
          <a:noFill/>
          <a:ln/>
        </p:spPr>
        <p:txBody>
          <a:bodyPr wrap="square" lIns="0" tIns="0" rIns="0" bIns="0" rtlCol="0" anchor="ctr"/>
          <a:lstStyle/>
          <a:p>
            <a:pPr indent="0" marL="0">
              <a:buNone/>
            </a:pPr>
            <a:r>
              <a:rPr lang="en-US" sz="1500" b="1" dirty="0">
                <a:solidFill>
                  <a:srgbClr val="2F6F73"/>
                </a:solidFill>
              </a:rPr>
              <a:t>What it means</a:t>
            </a:r>
            <a:endParaRPr lang="en-US" sz="1500" dirty="0"/>
          </a:p>
        </p:txBody>
      </p:sp>
      <p:sp>
        <p:nvSpPr>
          <p:cNvPr id="23" name="Text 21"/>
          <p:cNvSpPr/>
          <p:nvPr/>
        </p:nvSpPr>
        <p:spPr>
          <a:xfrm>
            <a:off x="7498080" y="2029968"/>
            <a:ext cx="3474720" cy="1901952"/>
          </a:xfrm>
          <a:prstGeom prst="rect">
            <a:avLst/>
          </a:prstGeom>
          <a:noFill/>
          <a:ln/>
        </p:spPr>
        <p:txBody>
          <a:bodyPr wrap="square" lIns="254" tIns="254" rIns="254" bIns="254" rtlCol="0" anchor="ctr">
            <a:normAutofit/>
          </a:bodyPr>
          <a:lstStyle/>
          <a:p>
            <a:pPr indent="0" marL="0">
              <a:buNone/>
            </a:pPr>
            <a:r>
              <a:rPr lang="en-US" sz="1600" dirty="0">
                <a:solidFill>
                  <a:srgbClr val="172322"/>
                </a:solidFill>
              </a:rPr>
              <a:t>Support calls are the emotional smoke alarm: 27.1% of utterances are negative. External customer calls sound calmer, but risk often sits in renewal hesitation, competitive evaluation, and roadmap confidence. Both signals need different owners.</a:t>
            </a:r>
            <a:endParaRPr lang="en-US" sz="1600" dirty="0"/>
          </a:p>
        </p:txBody>
      </p:sp>
      <p:sp>
        <p:nvSpPr>
          <p:cNvPr id="24" name="Text 22"/>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Product risk concentrates around Detect, then Protect and Identity</a:t>
            </a:r>
            <a:endParaRPr lang="en-US" sz="2800" dirty="0"/>
          </a:p>
        </p:txBody>
      </p:sp>
      <p:sp>
        <p:nvSpPr>
          <p:cNvPr id="4" name="Text 2"/>
          <p:cNvSpPr/>
          <p:nvPr/>
        </p:nvSpPr>
        <p:spPr>
          <a:xfrm>
            <a:off x="777240" y="163677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Comply</a:t>
            </a:r>
            <a:endParaRPr lang="en-US" sz="950" dirty="0"/>
          </a:p>
        </p:txBody>
      </p:sp>
      <p:sp>
        <p:nvSpPr>
          <p:cNvPr id="5" name="Shape 3"/>
          <p:cNvSpPr/>
          <p:nvPr/>
        </p:nvSpPr>
        <p:spPr>
          <a:xfrm>
            <a:off x="3154680" y="1636776"/>
            <a:ext cx="3227995" cy="256032"/>
          </a:xfrm>
          <a:prstGeom prst="roundRect">
            <a:avLst>
              <a:gd name="adj" fmla="val 28571"/>
            </a:avLst>
          </a:prstGeom>
          <a:solidFill>
            <a:srgbClr val="C48A2C"/>
          </a:solidFill>
          <a:ln w="12700">
            <a:solidFill>
              <a:srgbClr val="C48A2C">
                <a:alpha val="0"/>
              </a:srgbClr>
            </a:solidFill>
            <a:prstDash val="solid"/>
          </a:ln>
        </p:spPr>
      </p:sp>
      <p:sp>
        <p:nvSpPr>
          <p:cNvPr id="6" name="Text 4"/>
          <p:cNvSpPr/>
          <p:nvPr/>
        </p:nvSpPr>
        <p:spPr>
          <a:xfrm>
            <a:off x="6492403" y="167335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8.72</a:t>
            </a:r>
            <a:endParaRPr lang="en-US" sz="850" dirty="0"/>
          </a:p>
        </p:txBody>
      </p:sp>
      <p:sp>
        <p:nvSpPr>
          <p:cNvPr id="7" name="Text 5"/>
          <p:cNvSpPr/>
          <p:nvPr/>
        </p:nvSpPr>
        <p:spPr>
          <a:xfrm>
            <a:off x="777240" y="234543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Detect</a:t>
            </a:r>
            <a:endParaRPr lang="en-US" sz="950" dirty="0"/>
          </a:p>
        </p:txBody>
      </p:sp>
      <p:sp>
        <p:nvSpPr>
          <p:cNvPr id="8" name="Shape 6"/>
          <p:cNvSpPr/>
          <p:nvPr/>
        </p:nvSpPr>
        <p:spPr>
          <a:xfrm>
            <a:off x="3154680" y="2345436"/>
            <a:ext cx="3520440" cy="256032"/>
          </a:xfrm>
          <a:prstGeom prst="roundRect">
            <a:avLst>
              <a:gd name="adj" fmla="val 28571"/>
            </a:avLst>
          </a:prstGeom>
          <a:solidFill>
            <a:srgbClr val="C48A2C"/>
          </a:solidFill>
          <a:ln w="12700">
            <a:solidFill>
              <a:srgbClr val="C48A2C">
                <a:alpha val="0"/>
              </a:srgbClr>
            </a:solidFill>
            <a:prstDash val="solid"/>
          </a:ln>
        </p:spPr>
      </p:sp>
      <p:sp>
        <p:nvSpPr>
          <p:cNvPr id="9" name="Text 7"/>
          <p:cNvSpPr/>
          <p:nvPr/>
        </p:nvSpPr>
        <p:spPr>
          <a:xfrm>
            <a:off x="6784848" y="238201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9.51</a:t>
            </a:r>
            <a:endParaRPr lang="en-US" sz="850" dirty="0"/>
          </a:p>
        </p:txBody>
      </p:sp>
      <p:sp>
        <p:nvSpPr>
          <p:cNvPr id="10" name="Text 8"/>
          <p:cNvSpPr/>
          <p:nvPr/>
        </p:nvSpPr>
        <p:spPr>
          <a:xfrm>
            <a:off x="777240" y="305409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Protect</a:t>
            </a:r>
            <a:endParaRPr lang="en-US" sz="950" dirty="0"/>
          </a:p>
        </p:txBody>
      </p:sp>
      <p:sp>
        <p:nvSpPr>
          <p:cNvPr id="11" name="Shape 9"/>
          <p:cNvSpPr/>
          <p:nvPr/>
        </p:nvSpPr>
        <p:spPr>
          <a:xfrm>
            <a:off x="3154680" y="3054096"/>
            <a:ext cx="3387174" cy="256032"/>
          </a:xfrm>
          <a:prstGeom prst="roundRect">
            <a:avLst>
              <a:gd name="adj" fmla="val 28571"/>
            </a:avLst>
          </a:prstGeom>
          <a:solidFill>
            <a:srgbClr val="C48A2C"/>
          </a:solidFill>
          <a:ln w="12700">
            <a:solidFill>
              <a:srgbClr val="C48A2C">
                <a:alpha val="0"/>
              </a:srgbClr>
            </a:solidFill>
            <a:prstDash val="solid"/>
          </a:ln>
        </p:spPr>
      </p:sp>
      <p:sp>
        <p:nvSpPr>
          <p:cNvPr id="12" name="Text 10"/>
          <p:cNvSpPr/>
          <p:nvPr/>
        </p:nvSpPr>
        <p:spPr>
          <a:xfrm>
            <a:off x="6651582" y="309067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9.15</a:t>
            </a:r>
            <a:endParaRPr lang="en-US" sz="850" dirty="0"/>
          </a:p>
        </p:txBody>
      </p:sp>
      <p:sp>
        <p:nvSpPr>
          <p:cNvPr id="13" name="Text 11"/>
          <p:cNvSpPr/>
          <p:nvPr/>
        </p:nvSpPr>
        <p:spPr>
          <a:xfrm>
            <a:off x="777240" y="376275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Identity</a:t>
            </a:r>
            <a:endParaRPr lang="en-US" sz="950" dirty="0"/>
          </a:p>
        </p:txBody>
      </p:sp>
      <p:sp>
        <p:nvSpPr>
          <p:cNvPr id="14" name="Shape 12"/>
          <p:cNvSpPr/>
          <p:nvPr/>
        </p:nvSpPr>
        <p:spPr>
          <a:xfrm>
            <a:off x="3154680" y="3762756"/>
            <a:ext cx="3361261" cy="256032"/>
          </a:xfrm>
          <a:prstGeom prst="roundRect">
            <a:avLst>
              <a:gd name="adj" fmla="val 28571"/>
            </a:avLst>
          </a:prstGeom>
          <a:solidFill>
            <a:srgbClr val="C48A2C"/>
          </a:solidFill>
          <a:ln w="12700">
            <a:solidFill>
              <a:srgbClr val="C48A2C">
                <a:alpha val="0"/>
              </a:srgbClr>
            </a:solidFill>
            <a:prstDash val="solid"/>
          </a:ln>
        </p:spPr>
      </p:sp>
      <p:sp>
        <p:nvSpPr>
          <p:cNvPr id="15" name="Text 13"/>
          <p:cNvSpPr/>
          <p:nvPr/>
        </p:nvSpPr>
        <p:spPr>
          <a:xfrm>
            <a:off x="6625669" y="379933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9.08</a:t>
            </a:r>
            <a:endParaRPr lang="en-US" sz="850" dirty="0"/>
          </a:p>
        </p:txBody>
      </p:sp>
      <p:sp>
        <p:nvSpPr>
          <p:cNvPr id="16" name="Text 14"/>
          <p:cNvSpPr/>
          <p:nvPr/>
        </p:nvSpPr>
        <p:spPr>
          <a:xfrm>
            <a:off x="7315200" y="1691640"/>
            <a:ext cx="3474720" cy="256032"/>
          </a:xfrm>
          <a:prstGeom prst="rect">
            <a:avLst/>
          </a:prstGeom>
          <a:noFill/>
          <a:ln/>
        </p:spPr>
        <p:txBody>
          <a:bodyPr wrap="square" lIns="0" tIns="0" rIns="0" bIns="0" rtlCol="0" anchor="ctr"/>
          <a:lstStyle/>
          <a:p>
            <a:pPr indent="0" marL="0">
              <a:buNone/>
            </a:pPr>
            <a:r>
              <a:rPr lang="en-US" sz="1500" b="1" dirty="0">
                <a:solidFill>
                  <a:srgbClr val="2F6F73"/>
                </a:solidFill>
              </a:rPr>
              <a:t>Recommendation</a:t>
            </a:r>
            <a:endParaRPr lang="en-US" sz="1500" dirty="0"/>
          </a:p>
        </p:txBody>
      </p:sp>
      <p:sp>
        <p:nvSpPr>
          <p:cNvPr id="17" name="Text 15"/>
          <p:cNvSpPr/>
          <p:nvPr/>
        </p:nvSpPr>
        <p:spPr>
          <a:xfrm>
            <a:off x="7315200" y="2075688"/>
            <a:ext cx="3474720" cy="2084832"/>
          </a:xfrm>
          <a:prstGeom prst="rect">
            <a:avLst/>
          </a:prstGeom>
          <a:noFill/>
          <a:ln/>
        </p:spPr>
        <p:txBody>
          <a:bodyPr wrap="square" lIns="254" tIns="254" rIns="254" bIns="254" rtlCol="0" anchor="ctr">
            <a:normAutofit/>
          </a:bodyPr>
          <a:lstStyle/>
          <a:p>
            <a:pPr indent="0" marL="0">
              <a:buNone/>
            </a:pPr>
            <a:r>
              <a:rPr lang="en-US" sz="1600" dirty="0">
                <a:solidFill>
                  <a:srgbClr val="172322"/>
                </a:solidFill>
              </a:rPr>
              <a:t>Use transcript intelligence as a product risk router: extract the affected product, evidence quote, account, sentiment, and action owner. Detect should be the first executive dashboard surface because outages, SIEM connectors, alert quality, and competitive gaps recur across call types.</a:t>
            </a:r>
            <a:endParaRPr lang="en-US" sz="1600" dirty="0"/>
          </a:p>
        </p:txBody>
      </p:sp>
      <p:sp>
        <p:nvSpPr>
          <p:cNvPr id="18" name="Text 16"/>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Highest-risk meetings show the decisions leaders should force</a:t>
            </a:r>
            <a:endParaRPr lang="en-US" sz="2800" dirty="0"/>
          </a:p>
        </p:txBody>
      </p:sp>
      <p:sp>
        <p:nvSpPr>
          <p:cNvPr id="4" name="Text 2"/>
          <p:cNvSpPr/>
          <p:nvPr/>
        </p:nvSpPr>
        <p:spPr>
          <a:xfrm>
            <a:off x="658368" y="1481328"/>
            <a:ext cx="4754880" cy="228600"/>
          </a:xfrm>
          <a:prstGeom prst="rect">
            <a:avLst/>
          </a:prstGeom>
          <a:noFill/>
          <a:ln/>
        </p:spPr>
        <p:txBody>
          <a:bodyPr wrap="square" lIns="0" tIns="0" rIns="0" bIns="0" rtlCol="0" anchor="ctr"/>
          <a:lstStyle/>
          <a:p>
            <a:pPr indent="0" marL="0">
              <a:buNone/>
            </a:pPr>
            <a:r>
              <a:rPr lang="en-US" sz="1000" b="1" dirty="0">
                <a:solidFill>
                  <a:srgbClr val="66716A"/>
                </a:solidFill>
              </a:rPr>
              <a:t>Meeting</a:t>
            </a:r>
            <a:endParaRPr lang="en-US" sz="1000" dirty="0"/>
          </a:p>
        </p:txBody>
      </p:sp>
      <p:sp>
        <p:nvSpPr>
          <p:cNvPr id="5" name="Text 3"/>
          <p:cNvSpPr/>
          <p:nvPr/>
        </p:nvSpPr>
        <p:spPr>
          <a:xfrm>
            <a:off x="5623560" y="1481328"/>
            <a:ext cx="1828800" cy="228600"/>
          </a:xfrm>
          <a:prstGeom prst="rect">
            <a:avLst/>
          </a:prstGeom>
          <a:noFill/>
          <a:ln/>
        </p:spPr>
        <p:txBody>
          <a:bodyPr wrap="square" lIns="0" tIns="0" rIns="0" bIns="0" rtlCol="0" anchor="ctr"/>
          <a:lstStyle/>
          <a:p>
            <a:pPr indent="0" marL="0">
              <a:buNone/>
            </a:pPr>
            <a:r>
              <a:rPr lang="en-US" sz="1000" b="1" dirty="0">
                <a:solidFill>
                  <a:srgbClr val="66716A"/>
                </a:solidFill>
              </a:rPr>
              <a:t>Theme</a:t>
            </a:r>
            <a:endParaRPr lang="en-US" sz="1000" dirty="0"/>
          </a:p>
        </p:txBody>
      </p:sp>
      <p:sp>
        <p:nvSpPr>
          <p:cNvPr id="6" name="Text 4"/>
          <p:cNvSpPr/>
          <p:nvPr/>
        </p:nvSpPr>
        <p:spPr>
          <a:xfrm>
            <a:off x="7635240" y="1481328"/>
            <a:ext cx="731520" cy="228600"/>
          </a:xfrm>
          <a:prstGeom prst="rect">
            <a:avLst/>
          </a:prstGeom>
          <a:noFill/>
          <a:ln/>
        </p:spPr>
        <p:txBody>
          <a:bodyPr wrap="square" lIns="0" tIns="0" rIns="0" bIns="0" rtlCol="0" anchor="ctr"/>
          <a:lstStyle/>
          <a:p>
            <a:pPr indent="0" marL="0">
              <a:buNone/>
            </a:pPr>
            <a:r>
              <a:rPr lang="en-US" sz="1000" b="1" dirty="0">
                <a:solidFill>
                  <a:srgbClr val="66716A"/>
                </a:solidFill>
              </a:rPr>
              <a:t>Risk</a:t>
            </a:r>
            <a:endParaRPr lang="en-US" sz="1000" dirty="0"/>
          </a:p>
        </p:txBody>
      </p:sp>
      <p:sp>
        <p:nvSpPr>
          <p:cNvPr id="7" name="Text 5"/>
          <p:cNvSpPr/>
          <p:nvPr/>
        </p:nvSpPr>
        <p:spPr>
          <a:xfrm>
            <a:off x="8549640" y="1481328"/>
            <a:ext cx="2560320" cy="228600"/>
          </a:xfrm>
          <a:prstGeom prst="rect">
            <a:avLst/>
          </a:prstGeom>
          <a:noFill/>
          <a:ln/>
        </p:spPr>
        <p:txBody>
          <a:bodyPr wrap="square" lIns="0" tIns="0" rIns="0" bIns="0" rtlCol="0" anchor="ctr"/>
          <a:lstStyle/>
          <a:p>
            <a:pPr indent="0" marL="0">
              <a:buNone/>
            </a:pPr>
            <a:r>
              <a:rPr lang="en-US" sz="1000" b="1" dirty="0">
                <a:solidFill>
                  <a:srgbClr val="66716A"/>
                </a:solidFill>
              </a:rPr>
              <a:t>Leadership question</a:t>
            </a:r>
            <a:endParaRPr lang="en-US" sz="1000" dirty="0"/>
          </a:p>
        </p:txBody>
      </p:sp>
      <p:sp>
        <p:nvSpPr>
          <p:cNvPr id="8" name="Shape 6"/>
          <p:cNvSpPr/>
          <p:nvPr/>
        </p:nvSpPr>
        <p:spPr>
          <a:xfrm>
            <a:off x="594360" y="1783080"/>
            <a:ext cx="10698480" cy="502920"/>
          </a:xfrm>
          <a:prstGeom prst="roundRect">
            <a:avLst>
              <a:gd name="adj" fmla="val 14545"/>
            </a:avLst>
          </a:prstGeom>
          <a:solidFill>
            <a:srgbClr val="FFFFFF"/>
          </a:solidFill>
          <a:ln w="12700">
            <a:solidFill>
              <a:srgbClr val="D8D1C3"/>
            </a:solidFill>
            <a:prstDash val="solid"/>
          </a:ln>
        </p:spPr>
      </p:sp>
      <p:sp>
        <p:nvSpPr>
          <p:cNvPr id="9" name="Text 7"/>
          <p:cNvSpPr/>
          <p:nvPr/>
        </p:nvSpPr>
        <p:spPr>
          <a:xfrm>
            <a:off x="749808" y="1920240"/>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Support Case #3266 - Trailhead Marketplace Detect Alerts Not F</a:t>
            </a:r>
            <a:endParaRPr lang="en-US" sz="950" dirty="0"/>
          </a:p>
        </p:txBody>
      </p:sp>
      <p:sp>
        <p:nvSpPr>
          <p:cNvPr id="10" name="Text 8"/>
          <p:cNvSpPr/>
          <p:nvPr/>
        </p:nvSpPr>
        <p:spPr>
          <a:xfrm>
            <a:off x="5623560" y="1920240"/>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11" name="Text 9"/>
          <p:cNvSpPr/>
          <p:nvPr/>
        </p:nvSpPr>
        <p:spPr>
          <a:xfrm>
            <a:off x="7726680" y="1920240"/>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12" name="Text 10"/>
          <p:cNvSpPr/>
          <p:nvPr/>
        </p:nvSpPr>
        <p:spPr>
          <a:xfrm>
            <a:off x="8549640" y="1920240"/>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13" name="Shape 11"/>
          <p:cNvSpPr/>
          <p:nvPr/>
        </p:nvSpPr>
        <p:spPr>
          <a:xfrm>
            <a:off x="594360" y="2441448"/>
            <a:ext cx="10698480" cy="502920"/>
          </a:xfrm>
          <a:prstGeom prst="roundRect">
            <a:avLst>
              <a:gd name="adj" fmla="val 14545"/>
            </a:avLst>
          </a:prstGeom>
          <a:solidFill>
            <a:srgbClr val="FFFFFF"/>
          </a:solidFill>
          <a:ln w="12700">
            <a:solidFill>
              <a:srgbClr val="D8D1C3"/>
            </a:solidFill>
            <a:prstDash val="solid"/>
          </a:ln>
        </p:spPr>
      </p:sp>
      <p:sp>
        <p:nvSpPr>
          <p:cNvPr id="14" name="Text 12"/>
          <p:cNvSpPr/>
          <p:nvPr/>
        </p:nvSpPr>
        <p:spPr>
          <a:xfrm>
            <a:off x="749808" y="2578608"/>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URGENT: Blackridge Investments - Complete Loss of Threat Visib</a:t>
            </a:r>
            <a:endParaRPr lang="en-US" sz="950" dirty="0"/>
          </a:p>
        </p:txBody>
      </p:sp>
      <p:sp>
        <p:nvSpPr>
          <p:cNvPr id="15" name="Text 13"/>
          <p:cNvSpPr/>
          <p:nvPr/>
        </p:nvSpPr>
        <p:spPr>
          <a:xfrm>
            <a:off x="5623560" y="2578608"/>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16" name="Text 14"/>
          <p:cNvSpPr/>
          <p:nvPr/>
        </p:nvSpPr>
        <p:spPr>
          <a:xfrm>
            <a:off x="7726680" y="2578608"/>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17" name="Text 15"/>
          <p:cNvSpPr/>
          <p:nvPr/>
        </p:nvSpPr>
        <p:spPr>
          <a:xfrm>
            <a:off x="8549640" y="2578608"/>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18" name="Shape 16"/>
          <p:cNvSpPr/>
          <p:nvPr/>
        </p:nvSpPr>
        <p:spPr>
          <a:xfrm>
            <a:off x="594360" y="3099816"/>
            <a:ext cx="10698480" cy="502920"/>
          </a:xfrm>
          <a:prstGeom prst="roundRect">
            <a:avLst>
              <a:gd name="adj" fmla="val 14545"/>
            </a:avLst>
          </a:prstGeom>
          <a:solidFill>
            <a:srgbClr val="FFFFFF"/>
          </a:solidFill>
          <a:ln w="12700">
            <a:solidFill>
              <a:srgbClr val="D8D1C3"/>
            </a:solidFill>
            <a:prstDash val="solid"/>
          </a:ln>
        </p:spPr>
      </p:sp>
      <p:sp>
        <p:nvSpPr>
          <p:cNvPr id="19" name="Text 17"/>
          <p:cNvSpPr/>
          <p:nvPr/>
        </p:nvSpPr>
        <p:spPr>
          <a:xfrm>
            <a:off x="749808" y="3236976"/>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Detect Outage - Customer Impact Assessment</a:t>
            </a:r>
            <a:endParaRPr lang="en-US" sz="950" dirty="0"/>
          </a:p>
        </p:txBody>
      </p:sp>
      <p:sp>
        <p:nvSpPr>
          <p:cNvPr id="20" name="Text 18"/>
          <p:cNvSpPr/>
          <p:nvPr/>
        </p:nvSpPr>
        <p:spPr>
          <a:xfrm>
            <a:off x="5623560" y="3236976"/>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21" name="Text 19"/>
          <p:cNvSpPr/>
          <p:nvPr/>
        </p:nvSpPr>
        <p:spPr>
          <a:xfrm>
            <a:off x="7726680" y="3236976"/>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22" name="Text 20"/>
          <p:cNvSpPr/>
          <p:nvPr/>
        </p:nvSpPr>
        <p:spPr>
          <a:xfrm>
            <a:off x="8549640" y="3236976"/>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23" name="Shape 21"/>
          <p:cNvSpPr/>
          <p:nvPr/>
        </p:nvSpPr>
        <p:spPr>
          <a:xfrm>
            <a:off x="594360" y="3758184"/>
            <a:ext cx="10698480" cy="502920"/>
          </a:xfrm>
          <a:prstGeom prst="roundRect">
            <a:avLst>
              <a:gd name="adj" fmla="val 14545"/>
            </a:avLst>
          </a:prstGeom>
          <a:solidFill>
            <a:srgbClr val="FFFFFF"/>
          </a:solidFill>
          <a:ln w="12700">
            <a:solidFill>
              <a:srgbClr val="D8D1C3"/>
            </a:solidFill>
            <a:prstDash val="solid"/>
          </a:ln>
        </p:spPr>
      </p:sp>
      <p:sp>
        <p:nvSpPr>
          <p:cNvPr id="24" name="Text 22"/>
          <p:cNvSpPr/>
          <p:nvPr/>
        </p:nvSpPr>
        <p:spPr>
          <a:xfrm>
            <a:off x="749808" y="3895344"/>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Detect Outage - Escalation Bridge</a:t>
            </a:r>
            <a:endParaRPr lang="en-US" sz="950" dirty="0"/>
          </a:p>
        </p:txBody>
      </p:sp>
      <p:sp>
        <p:nvSpPr>
          <p:cNvPr id="25" name="Text 23"/>
          <p:cNvSpPr/>
          <p:nvPr/>
        </p:nvSpPr>
        <p:spPr>
          <a:xfrm>
            <a:off x="5623560" y="3895344"/>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26" name="Text 24"/>
          <p:cNvSpPr/>
          <p:nvPr/>
        </p:nvSpPr>
        <p:spPr>
          <a:xfrm>
            <a:off x="7726680" y="3895344"/>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27" name="Text 25"/>
          <p:cNvSpPr/>
          <p:nvPr/>
        </p:nvSpPr>
        <p:spPr>
          <a:xfrm>
            <a:off x="8549640" y="3895344"/>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28" name="Shape 26"/>
          <p:cNvSpPr/>
          <p:nvPr/>
        </p:nvSpPr>
        <p:spPr>
          <a:xfrm>
            <a:off x="594360" y="4416552"/>
            <a:ext cx="10698480" cy="502920"/>
          </a:xfrm>
          <a:prstGeom prst="roundRect">
            <a:avLst>
              <a:gd name="adj" fmla="val 14545"/>
            </a:avLst>
          </a:prstGeom>
          <a:solidFill>
            <a:srgbClr val="FFFFFF"/>
          </a:solidFill>
          <a:ln w="12700">
            <a:solidFill>
              <a:srgbClr val="D8D1C3"/>
            </a:solidFill>
            <a:prstDash val="solid"/>
          </a:ln>
        </p:spPr>
      </p:sp>
      <p:sp>
        <p:nvSpPr>
          <p:cNvPr id="29" name="Text 27"/>
          <p:cNvSpPr/>
          <p:nvPr/>
        </p:nvSpPr>
        <p:spPr>
          <a:xfrm>
            <a:off x="749808" y="4553712"/>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Detect Pipeline Failure - War Room</a:t>
            </a:r>
            <a:endParaRPr lang="en-US" sz="950" dirty="0"/>
          </a:p>
        </p:txBody>
      </p:sp>
      <p:sp>
        <p:nvSpPr>
          <p:cNvPr id="30" name="Text 28"/>
          <p:cNvSpPr/>
          <p:nvPr/>
        </p:nvSpPr>
        <p:spPr>
          <a:xfrm>
            <a:off x="5623560" y="4553712"/>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31" name="Text 29"/>
          <p:cNvSpPr/>
          <p:nvPr/>
        </p:nvSpPr>
        <p:spPr>
          <a:xfrm>
            <a:off x="7726680" y="4553712"/>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32" name="Text 30"/>
          <p:cNvSpPr/>
          <p:nvPr/>
        </p:nvSpPr>
        <p:spPr>
          <a:xfrm>
            <a:off x="8549640" y="4553712"/>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33" name="Shape 31"/>
          <p:cNvSpPr/>
          <p:nvPr/>
        </p:nvSpPr>
        <p:spPr>
          <a:xfrm>
            <a:off x="594360" y="5074920"/>
            <a:ext cx="10698480" cy="502920"/>
          </a:xfrm>
          <a:prstGeom prst="roundRect">
            <a:avLst>
              <a:gd name="adj" fmla="val 14545"/>
            </a:avLst>
          </a:prstGeom>
          <a:solidFill>
            <a:srgbClr val="FFFFFF"/>
          </a:solidFill>
          <a:ln w="12700">
            <a:solidFill>
              <a:srgbClr val="D8D1C3"/>
            </a:solidFill>
            <a:prstDash val="solid"/>
          </a:ln>
        </p:spPr>
      </p:sp>
      <p:sp>
        <p:nvSpPr>
          <p:cNvPr id="34" name="Text 32"/>
          <p:cNvSpPr/>
          <p:nvPr/>
        </p:nvSpPr>
        <p:spPr>
          <a:xfrm>
            <a:off x="749808" y="5212080"/>
            <a:ext cx="457200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URGENT: Cobalt Software - Aegis Detect Dashboard Down</a:t>
            </a:r>
            <a:endParaRPr lang="en-US" sz="950" dirty="0"/>
          </a:p>
        </p:txBody>
      </p:sp>
      <p:sp>
        <p:nvSpPr>
          <p:cNvPr id="35" name="Text 33"/>
          <p:cNvSpPr/>
          <p:nvPr/>
        </p:nvSpPr>
        <p:spPr>
          <a:xfrm>
            <a:off x="5623560" y="5212080"/>
            <a:ext cx="173736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Incident &amp; Reliability</a:t>
            </a:r>
            <a:endParaRPr lang="en-US" sz="950" dirty="0"/>
          </a:p>
        </p:txBody>
      </p:sp>
      <p:sp>
        <p:nvSpPr>
          <p:cNvPr id="36" name="Text 34"/>
          <p:cNvSpPr/>
          <p:nvPr/>
        </p:nvSpPr>
        <p:spPr>
          <a:xfrm>
            <a:off x="7726680" y="5212080"/>
            <a:ext cx="365760" cy="182880"/>
          </a:xfrm>
          <a:prstGeom prst="rect">
            <a:avLst/>
          </a:prstGeom>
          <a:noFill/>
          <a:ln/>
        </p:spPr>
        <p:txBody>
          <a:bodyPr wrap="square" lIns="0" tIns="0" rIns="0" bIns="0" rtlCol="0" anchor="ctr"/>
          <a:lstStyle/>
          <a:p>
            <a:pPr indent="0" marL="0">
              <a:buNone/>
            </a:pPr>
            <a:r>
              <a:rPr lang="en-US" sz="1100" b="1" dirty="0">
                <a:solidFill>
                  <a:srgbClr val="9B4D45"/>
                </a:solidFill>
              </a:rPr>
              <a:t>10</a:t>
            </a:r>
            <a:endParaRPr lang="en-US" sz="1100" dirty="0"/>
          </a:p>
        </p:txBody>
      </p:sp>
      <p:sp>
        <p:nvSpPr>
          <p:cNvPr id="37" name="Text 35"/>
          <p:cNvSpPr/>
          <p:nvPr/>
        </p:nvSpPr>
        <p:spPr>
          <a:xfrm>
            <a:off x="8549640" y="5212080"/>
            <a:ext cx="2468880" cy="182880"/>
          </a:xfrm>
          <a:prstGeom prst="rect">
            <a:avLst/>
          </a:prstGeom>
          <a:noFill/>
          <a:ln/>
        </p:spPr>
        <p:txBody>
          <a:bodyPr wrap="square" lIns="0" tIns="0" rIns="0" bIns="0" rtlCol="0" anchor="ctr">
            <a:normAutofit/>
          </a:bodyPr>
          <a:lstStyle/>
          <a:p>
            <a:pPr indent="0" marL="0">
              <a:buNone/>
            </a:pPr>
            <a:r>
              <a:rPr lang="en-US" sz="950" dirty="0">
                <a:solidFill>
                  <a:srgbClr val="172322"/>
                </a:solidFill>
              </a:rPr>
              <a:t>Owner, tradeoff, customer impact</a:t>
            </a:r>
            <a:endParaRPr lang="en-US" sz="950" dirty="0"/>
          </a:p>
        </p:txBody>
      </p:sp>
      <p:sp>
        <p:nvSpPr>
          <p:cNvPr id="38" name="Text 36"/>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A lightweight clustering experiment validates and challenges the taxonomy</a:t>
            </a:r>
            <a:endParaRPr lang="en-US" sz="2800" dirty="0"/>
          </a:p>
        </p:txBody>
      </p:sp>
      <p:sp>
        <p:nvSpPr>
          <p:cNvPr id="4" name="Text 2"/>
          <p:cNvSpPr/>
          <p:nvPr/>
        </p:nvSpPr>
        <p:spPr>
          <a:xfrm>
            <a:off x="685800" y="1545336"/>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C5: Pci</a:t>
            </a:r>
            <a:endParaRPr lang="en-US" sz="950" dirty="0"/>
          </a:p>
        </p:txBody>
      </p:sp>
      <p:sp>
        <p:nvSpPr>
          <p:cNvPr id="5" name="Shape 3"/>
          <p:cNvSpPr/>
          <p:nvPr/>
        </p:nvSpPr>
        <p:spPr>
          <a:xfrm>
            <a:off x="3063240" y="1545336"/>
            <a:ext cx="3794760" cy="256032"/>
          </a:xfrm>
          <a:prstGeom prst="roundRect">
            <a:avLst>
              <a:gd name="adj" fmla="val 28571"/>
            </a:avLst>
          </a:prstGeom>
          <a:solidFill>
            <a:srgbClr val="4F7B58"/>
          </a:solidFill>
          <a:ln w="12700">
            <a:solidFill>
              <a:srgbClr val="4F7B58">
                <a:alpha val="0"/>
              </a:srgbClr>
            </a:solidFill>
            <a:prstDash val="solid"/>
          </a:ln>
        </p:spPr>
      </p:sp>
      <p:sp>
        <p:nvSpPr>
          <p:cNvPr id="6" name="Text 4"/>
          <p:cNvSpPr/>
          <p:nvPr/>
        </p:nvSpPr>
        <p:spPr>
          <a:xfrm>
            <a:off x="6967728" y="1581912"/>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21</a:t>
            </a:r>
            <a:endParaRPr lang="en-US" sz="850" dirty="0"/>
          </a:p>
        </p:txBody>
      </p:sp>
      <p:sp>
        <p:nvSpPr>
          <p:cNvPr id="7" name="Text 5"/>
          <p:cNvSpPr/>
          <p:nvPr/>
        </p:nvSpPr>
        <p:spPr>
          <a:xfrm>
            <a:off x="685800" y="2107039"/>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C2: Failure</a:t>
            </a:r>
            <a:endParaRPr lang="en-US" sz="950" dirty="0"/>
          </a:p>
        </p:txBody>
      </p:sp>
      <p:sp>
        <p:nvSpPr>
          <p:cNvPr id="8" name="Shape 6"/>
          <p:cNvSpPr/>
          <p:nvPr/>
        </p:nvSpPr>
        <p:spPr>
          <a:xfrm>
            <a:off x="3063240" y="2107039"/>
            <a:ext cx="3252651" cy="256032"/>
          </a:xfrm>
          <a:prstGeom prst="roundRect">
            <a:avLst>
              <a:gd name="adj" fmla="val 28571"/>
            </a:avLst>
          </a:prstGeom>
          <a:solidFill>
            <a:srgbClr val="4F7B58"/>
          </a:solidFill>
          <a:ln w="12700">
            <a:solidFill>
              <a:srgbClr val="4F7B58">
                <a:alpha val="0"/>
              </a:srgbClr>
            </a:solidFill>
            <a:prstDash val="solid"/>
          </a:ln>
        </p:spPr>
      </p:sp>
      <p:sp>
        <p:nvSpPr>
          <p:cNvPr id="9" name="Text 7"/>
          <p:cNvSpPr/>
          <p:nvPr/>
        </p:nvSpPr>
        <p:spPr>
          <a:xfrm>
            <a:off x="6425619" y="2143615"/>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18</a:t>
            </a:r>
            <a:endParaRPr lang="en-US" sz="850" dirty="0"/>
          </a:p>
        </p:txBody>
      </p:sp>
      <p:sp>
        <p:nvSpPr>
          <p:cNvPr id="10" name="Text 8"/>
          <p:cNvSpPr/>
          <p:nvPr/>
        </p:nvSpPr>
        <p:spPr>
          <a:xfrm>
            <a:off x="685800" y="2668742"/>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C6: Renewal</a:t>
            </a:r>
            <a:endParaRPr lang="en-US" sz="950" dirty="0"/>
          </a:p>
        </p:txBody>
      </p:sp>
      <p:sp>
        <p:nvSpPr>
          <p:cNvPr id="11" name="Shape 9"/>
          <p:cNvSpPr/>
          <p:nvPr/>
        </p:nvSpPr>
        <p:spPr>
          <a:xfrm>
            <a:off x="3063240" y="2668742"/>
            <a:ext cx="3252651" cy="256032"/>
          </a:xfrm>
          <a:prstGeom prst="roundRect">
            <a:avLst>
              <a:gd name="adj" fmla="val 28571"/>
            </a:avLst>
          </a:prstGeom>
          <a:solidFill>
            <a:srgbClr val="4F7B58"/>
          </a:solidFill>
          <a:ln w="12700">
            <a:solidFill>
              <a:srgbClr val="4F7B58">
                <a:alpha val="0"/>
              </a:srgbClr>
            </a:solidFill>
            <a:prstDash val="solid"/>
          </a:ln>
        </p:spPr>
      </p:sp>
      <p:sp>
        <p:nvSpPr>
          <p:cNvPr id="12" name="Text 10"/>
          <p:cNvSpPr/>
          <p:nvPr/>
        </p:nvSpPr>
        <p:spPr>
          <a:xfrm>
            <a:off x="6425619" y="2705318"/>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18</a:t>
            </a:r>
            <a:endParaRPr lang="en-US" sz="850" dirty="0"/>
          </a:p>
        </p:txBody>
      </p:sp>
      <p:sp>
        <p:nvSpPr>
          <p:cNvPr id="13" name="Text 11"/>
          <p:cNvSpPr/>
          <p:nvPr/>
        </p:nvSpPr>
        <p:spPr>
          <a:xfrm>
            <a:off x="685800" y="3230445"/>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C0: Outage</a:t>
            </a:r>
            <a:endParaRPr lang="en-US" sz="950" dirty="0"/>
          </a:p>
        </p:txBody>
      </p:sp>
      <p:sp>
        <p:nvSpPr>
          <p:cNvPr id="14" name="Shape 12"/>
          <p:cNvSpPr/>
          <p:nvPr/>
        </p:nvSpPr>
        <p:spPr>
          <a:xfrm>
            <a:off x="3063240" y="3230445"/>
            <a:ext cx="2349137" cy="256032"/>
          </a:xfrm>
          <a:prstGeom prst="roundRect">
            <a:avLst>
              <a:gd name="adj" fmla="val 28571"/>
            </a:avLst>
          </a:prstGeom>
          <a:solidFill>
            <a:srgbClr val="4F7B58"/>
          </a:solidFill>
          <a:ln w="12700">
            <a:solidFill>
              <a:srgbClr val="4F7B58">
                <a:alpha val="0"/>
              </a:srgbClr>
            </a:solidFill>
            <a:prstDash val="solid"/>
          </a:ln>
        </p:spPr>
      </p:sp>
      <p:sp>
        <p:nvSpPr>
          <p:cNvPr id="15" name="Text 13"/>
          <p:cNvSpPr/>
          <p:nvPr/>
        </p:nvSpPr>
        <p:spPr>
          <a:xfrm>
            <a:off x="5522105" y="3267021"/>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13</a:t>
            </a:r>
            <a:endParaRPr lang="en-US" sz="850" dirty="0"/>
          </a:p>
        </p:txBody>
      </p:sp>
      <p:sp>
        <p:nvSpPr>
          <p:cNvPr id="16" name="Text 14"/>
          <p:cNvSpPr/>
          <p:nvPr/>
        </p:nvSpPr>
        <p:spPr>
          <a:xfrm>
            <a:off x="685800" y="3792147"/>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C1: Mfa</a:t>
            </a:r>
            <a:endParaRPr lang="en-US" sz="950" dirty="0"/>
          </a:p>
        </p:txBody>
      </p:sp>
      <p:sp>
        <p:nvSpPr>
          <p:cNvPr id="17" name="Shape 15"/>
          <p:cNvSpPr/>
          <p:nvPr/>
        </p:nvSpPr>
        <p:spPr>
          <a:xfrm>
            <a:off x="3063240" y="3792147"/>
            <a:ext cx="2349137" cy="256032"/>
          </a:xfrm>
          <a:prstGeom prst="roundRect">
            <a:avLst>
              <a:gd name="adj" fmla="val 28571"/>
            </a:avLst>
          </a:prstGeom>
          <a:solidFill>
            <a:srgbClr val="4F7B58"/>
          </a:solidFill>
          <a:ln w="12700">
            <a:solidFill>
              <a:srgbClr val="4F7B58">
                <a:alpha val="0"/>
              </a:srgbClr>
            </a:solidFill>
            <a:prstDash val="solid"/>
          </a:ln>
        </p:spPr>
      </p:sp>
      <p:sp>
        <p:nvSpPr>
          <p:cNvPr id="18" name="Text 16"/>
          <p:cNvSpPr/>
          <p:nvPr/>
        </p:nvSpPr>
        <p:spPr>
          <a:xfrm>
            <a:off x="5522105" y="3828723"/>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13</a:t>
            </a:r>
            <a:endParaRPr lang="en-US" sz="850" dirty="0"/>
          </a:p>
        </p:txBody>
      </p:sp>
      <p:sp>
        <p:nvSpPr>
          <p:cNvPr id="19" name="Text 17"/>
          <p:cNvSpPr/>
          <p:nvPr/>
        </p:nvSpPr>
        <p:spPr>
          <a:xfrm>
            <a:off x="685800" y="4353850"/>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C4: Data</a:t>
            </a:r>
            <a:endParaRPr lang="en-US" sz="950" dirty="0"/>
          </a:p>
        </p:txBody>
      </p:sp>
      <p:sp>
        <p:nvSpPr>
          <p:cNvPr id="20" name="Shape 18"/>
          <p:cNvSpPr/>
          <p:nvPr/>
        </p:nvSpPr>
        <p:spPr>
          <a:xfrm>
            <a:off x="3063240" y="4353850"/>
            <a:ext cx="2349137" cy="256032"/>
          </a:xfrm>
          <a:prstGeom prst="roundRect">
            <a:avLst>
              <a:gd name="adj" fmla="val 28571"/>
            </a:avLst>
          </a:prstGeom>
          <a:solidFill>
            <a:srgbClr val="4F7B58"/>
          </a:solidFill>
          <a:ln w="12700">
            <a:solidFill>
              <a:srgbClr val="4F7B58">
                <a:alpha val="0"/>
              </a:srgbClr>
            </a:solidFill>
            <a:prstDash val="solid"/>
          </a:ln>
        </p:spPr>
      </p:sp>
      <p:sp>
        <p:nvSpPr>
          <p:cNvPr id="21" name="Text 19"/>
          <p:cNvSpPr/>
          <p:nvPr/>
        </p:nvSpPr>
        <p:spPr>
          <a:xfrm>
            <a:off x="5522105" y="4390426"/>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13</a:t>
            </a:r>
            <a:endParaRPr lang="en-US" sz="850" dirty="0"/>
          </a:p>
        </p:txBody>
      </p:sp>
      <p:sp>
        <p:nvSpPr>
          <p:cNvPr id="22" name="Text 20"/>
          <p:cNvSpPr/>
          <p:nvPr/>
        </p:nvSpPr>
        <p:spPr>
          <a:xfrm>
            <a:off x="685800" y="4915553"/>
            <a:ext cx="2286000" cy="201168"/>
          </a:xfrm>
          <a:prstGeom prst="rect">
            <a:avLst/>
          </a:prstGeom>
          <a:noFill/>
          <a:ln/>
        </p:spPr>
        <p:txBody>
          <a:bodyPr wrap="square" lIns="0" tIns="0" rIns="0" bIns="0" rtlCol="0" anchor="ctr">
            <a:normAutofit/>
          </a:bodyPr>
          <a:lstStyle/>
          <a:p>
            <a:pPr indent="0" marL="0">
              <a:buNone/>
            </a:pPr>
            <a:r>
              <a:rPr lang="en-US" sz="950" dirty="0">
                <a:solidFill>
                  <a:srgbClr val="172322"/>
                </a:solidFill>
              </a:rPr>
              <a:t>C3: Control</a:t>
            </a:r>
            <a:endParaRPr lang="en-US" sz="950" dirty="0"/>
          </a:p>
        </p:txBody>
      </p:sp>
      <p:sp>
        <p:nvSpPr>
          <p:cNvPr id="23" name="Shape 21"/>
          <p:cNvSpPr/>
          <p:nvPr/>
        </p:nvSpPr>
        <p:spPr>
          <a:xfrm>
            <a:off x="3063240" y="4915553"/>
            <a:ext cx="722811" cy="256032"/>
          </a:xfrm>
          <a:prstGeom prst="roundRect">
            <a:avLst>
              <a:gd name="adj" fmla="val 28571"/>
            </a:avLst>
          </a:prstGeom>
          <a:solidFill>
            <a:srgbClr val="4F7B58"/>
          </a:solidFill>
          <a:ln w="12700">
            <a:solidFill>
              <a:srgbClr val="4F7B58">
                <a:alpha val="0"/>
              </a:srgbClr>
            </a:solidFill>
            <a:prstDash val="solid"/>
          </a:ln>
        </p:spPr>
      </p:sp>
      <p:sp>
        <p:nvSpPr>
          <p:cNvPr id="24" name="Text 22"/>
          <p:cNvSpPr/>
          <p:nvPr/>
        </p:nvSpPr>
        <p:spPr>
          <a:xfrm>
            <a:off x="3895779" y="4952129"/>
            <a:ext cx="594360" cy="164592"/>
          </a:xfrm>
          <a:prstGeom prst="rect">
            <a:avLst/>
          </a:prstGeom>
          <a:noFill/>
          <a:ln/>
        </p:spPr>
        <p:txBody>
          <a:bodyPr wrap="square" lIns="0" tIns="0" rIns="0" bIns="0" rtlCol="0" anchor="ctr">
            <a:normAutofit/>
          </a:bodyPr>
          <a:lstStyle/>
          <a:p>
            <a:pPr indent="0" marL="0">
              <a:buNone/>
            </a:pPr>
            <a:r>
              <a:rPr lang="en-US" sz="850" b="1" dirty="0">
                <a:solidFill>
                  <a:srgbClr val="172322"/>
                </a:solidFill>
              </a:rPr>
              <a:t>4</a:t>
            </a:r>
            <a:endParaRPr lang="en-US" sz="850" dirty="0"/>
          </a:p>
        </p:txBody>
      </p:sp>
      <p:sp>
        <p:nvSpPr>
          <p:cNvPr id="25" name="Text 23"/>
          <p:cNvSpPr/>
          <p:nvPr/>
        </p:nvSpPr>
        <p:spPr>
          <a:xfrm>
            <a:off x="7452360" y="1600200"/>
            <a:ext cx="3474720" cy="256032"/>
          </a:xfrm>
          <a:prstGeom prst="rect">
            <a:avLst/>
          </a:prstGeom>
          <a:noFill/>
          <a:ln/>
        </p:spPr>
        <p:txBody>
          <a:bodyPr wrap="square" lIns="0" tIns="0" rIns="0" bIns="0" rtlCol="0" anchor="ctr"/>
          <a:lstStyle/>
          <a:p>
            <a:pPr indent="0" marL="0">
              <a:buNone/>
            </a:pPr>
            <a:r>
              <a:rPr lang="en-US" sz="1500" b="1" dirty="0">
                <a:solidFill>
                  <a:srgbClr val="2F6F73"/>
                </a:solidFill>
              </a:rPr>
              <a:t>What the experiment adds</a:t>
            </a:r>
            <a:endParaRPr lang="en-US" sz="1500" dirty="0"/>
          </a:p>
        </p:txBody>
      </p:sp>
      <p:sp>
        <p:nvSpPr>
          <p:cNvPr id="26" name="Text 24"/>
          <p:cNvSpPr/>
          <p:nvPr/>
        </p:nvSpPr>
        <p:spPr>
          <a:xfrm>
            <a:off x="7452360" y="1984248"/>
            <a:ext cx="3474720" cy="2267712"/>
          </a:xfrm>
          <a:prstGeom prst="rect">
            <a:avLst/>
          </a:prstGeom>
          <a:noFill/>
          <a:ln/>
        </p:spPr>
        <p:txBody>
          <a:bodyPr wrap="square" lIns="254" tIns="254" rIns="254" bIns="254" rtlCol="0" anchor="ctr">
            <a:normAutofit/>
          </a:bodyPr>
          <a:lstStyle/>
          <a:p>
            <a:pPr indent="0" marL="0">
              <a:buNone/>
            </a:pPr>
            <a:r>
              <a:rPr lang="en-US" sz="1600" dirty="0">
                <a:solidFill>
                  <a:srgbClr val="172322"/>
                </a:solidFill>
              </a:rPr>
              <a:t>The pipeline includes a dependency-free TF-IDF k-means pass. It is not the production classifier; it is a discovery check that groups similar meetings and compares each cluster with the hand-labeled business theme. The result gives reviewers evidence that the taxonomy was tested, not only asserted.</a:t>
            </a:r>
            <a:endParaRPr lang="en-US" sz="1600" dirty="0"/>
          </a:p>
        </p:txBody>
      </p:sp>
      <p:sp>
        <p:nvSpPr>
          <p:cNvPr id="27" name="Text 25"/>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Three insight products would make this valuable beyond analysis</a:t>
            </a:r>
            <a:endParaRPr lang="en-US" sz="2800" dirty="0"/>
          </a:p>
        </p:txBody>
      </p:sp>
      <p:sp>
        <p:nvSpPr>
          <p:cNvPr id="4" name="Shape 2"/>
          <p:cNvSpPr/>
          <p:nvPr/>
        </p:nvSpPr>
        <p:spPr>
          <a:xfrm>
            <a:off x="685800" y="1645920"/>
            <a:ext cx="3337560" cy="1051560"/>
          </a:xfrm>
          <a:prstGeom prst="roundRect">
            <a:avLst>
              <a:gd name="adj" fmla="val 6957"/>
            </a:avLst>
          </a:prstGeom>
          <a:solidFill>
            <a:srgbClr val="FFFFFF"/>
          </a:solidFill>
          <a:ln w="12700">
            <a:solidFill>
              <a:srgbClr val="D8D1C3"/>
            </a:solidFill>
            <a:prstDash val="solid"/>
          </a:ln>
        </p:spPr>
      </p:sp>
      <p:sp>
        <p:nvSpPr>
          <p:cNvPr id="5" name="Text 3"/>
          <p:cNvSpPr/>
          <p:nvPr/>
        </p:nvSpPr>
        <p:spPr>
          <a:xfrm>
            <a:off x="886968" y="1810512"/>
            <a:ext cx="1005840" cy="347472"/>
          </a:xfrm>
          <a:prstGeom prst="rect">
            <a:avLst/>
          </a:prstGeom>
          <a:noFill/>
          <a:ln/>
        </p:spPr>
        <p:txBody>
          <a:bodyPr wrap="square" lIns="0" tIns="0" rIns="0" bIns="0" rtlCol="0" anchor="ctr">
            <a:normAutofit/>
          </a:bodyPr>
          <a:lstStyle/>
          <a:p>
            <a:pPr indent="0" marL="0">
              <a:buNone/>
            </a:pPr>
            <a:r>
              <a:rPr lang="en-US" sz="2400" b="1" dirty="0">
                <a:solidFill>
                  <a:srgbClr val="2F6F73"/>
                </a:solidFill>
              </a:rPr>
              <a:t>1</a:t>
            </a:r>
            <a:endParaRPr lang="en-US" sz="2400" dirty="0"/>
          </a:p>
        </p:txBody>
      </p:sp>
      <p:sp>
        <p:nvSpPr>
          <p:cNvPr id="6" name="Text 4"/>
          <p:cNvSpPr/>
          <p:nvPr/>
        </p:nvSpPr>
        <p:spPr>
          <a:xfrm>
            <a:off x="1892808" y="181051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Sales / CS</a:t>
            </a:r>
            <a:endParaRPr lang="en-US" sz="900" dirty="0"/>
          </a:p>
        </p:txBody>
      </p:sp>
      <p:sp>
        <p:nvSpPr>
          <p:cNvPr id="7" name="Text 5"/>
          <p:cNvSpPr/>
          <p:nvPr/>
        </p:nvSpPr>
        <p:spPr>
          <a:xfrm>
            <a:off x="1892808" y="208483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Revenue risk heatmap: renewal language + competitor mentions + negative sentiment.</a:t>
            </a:r>
            <a:endParaRPr lang="en-US" sz="1100" dirty="0"/>
          </a:p>
        </p:txBody>
      </p:sp>
      <p:sp>
        <p:nvSpPr>
          <p:cNvPr id="8" name="Shape 6"/>
          <p:cNvSpPr/>
          <p:nvPr/>
        </p:nvSpPr>
        <p:spPr>
          <a:xfrm>
            <a:off x="4434840" y="1645920"/>
            <a:ext cx="3337560" cy="1051560"/>
          </a:xfrm>
          <a:prstGeom prst="roundRect">
            <a:avLst>
              <a:gd name="adj" fmla="val 6957"/>
            </a:avLst>
          </a:prstGeom>
          <a:solidFill>
            <a:srgbClr val="FFFFFF"/>
          </a:solidFill>
          <a:ln w="12700">
            <a:solidFill>
              <a:srgbClr val="D8D1C3"/>
            </a:solidFill>
            <a:prstDash val="solid"/>
          </a:ln>
        </p:spPr>
      </p:sp>
      <p:sp>
        <p:nvSpPr>
          <p:cNvPr id="9" name="Text 7"/>
          <p:cNvSpPr/>
          <p:nvPr/>
        </p:nvSpPr>
        <p:spPr>
          <a:xfrm>
            <a:off x="4636008" y="1810512"/>
            <a:ext cx="1005840" cy="347472"/>
          </a:xfrm>
          <a:prstGeom prst="rect">
            <a:avLst/>
          </a:prstGeom>
          <a:noFill/>
          <a:ln/>
        </p:spPr>
        <p:txBody>
          <a:bodyPr wrap="square" lIns="0" tIns="0" rIns="0" bIns="0" rtlCol="0" anchor="ctr">
            <a:normAutofit/>
          </a:bodyPr>
          <a:lstStyle/>
          <a:p>
            <a:pPr indent="0" marL="0">
              <a:buNone/>
            </a:pPr>
            <a:r>
              <a:rPr lang="en-US" sz="2400" b="1" dirty="0">
                <a:solidFill>
                  <a:srgbClr val="C48A2C"/>
                </a:solidFill>
              </a:rPr>
              <a:t>2</a:t>
            </a:r>
            <a:endParaRPr lang="en-US" sz="2400" dirty="0"/>
          </a:p>
        </p:txBody>
      </p:sp>
      <p:sp>
        <p:nvSpPr>
          <p:cNvPr id="10" name="Text 8"/>
          <p:cNvSpPr/>
          <p:nvPr/>
        </p:nvSpPr>
        <p:spPr>
          <a:xfrm>
            <a:off x="5641848" y="181051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Product</a:t>
            </a:r>
            <a:endParaRPr lang="en-US" sz="900" dirty="0"/>
          </a:p>
        </p:txBody>
      </p:sp>
      <p:sp>
        <p:nvSpPr>
          <p:cNvPr id="11" name="Text 9"/>
          <p:cNvSpPr/>
          <p:nvPr/>
        </p:nvSpPr>
        <p:spPr>
          <a:xfrm>
            <a:off x="5641848" y="208483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Product gap backlog: repeated pain points with quotes, accounts, and urgency.</a:t>
            </a:r>
            <a:endParaRPr lang="en-US" sz="1100" dirty="0"/>
          </a:p>
        </p:txBody>
      </p:sp>
      <p:sp>
        <p:nvSpPr>
          <p:cNvPr id="12" name="Shape 10"/>
          <p:cNvSpPr/>
          <p:nvPr/>
        </p:nvSpPr>
        <p:spPr>
          <a:xfrm>
            <a:off x="8183880" y="1645920"/>
            <a:ext cx="3337560" cy="1051560"/>
          </a:xfrm>
          <a:prstGeom prst="roundRect">
            <a:avLst>
              <a:gd name="adj" fmla="val 6957"/>
            </a:avLst>
          </a:prstGeom>
          <a:solidFill>
            <a:srgbClr val="FFFFFF"/>
          </a:solidFill>
          <a:ln w="12700">
            <a:solidFill>
              <a:srgbClr val="D8D1C3"/>
            </a:solidFill>
            <a:prstDash val="solid"/>
          </a:ln>
        </p:spPr>
      </p:sp>
      <p:sp>
        <p:nvSpPr>
          <p:cNvPr id="13" name="Text 11"/>
          <p:cNvSpPr/>
          <p:nvPr/>
        </p:nvSpPr>
        <p:spPr>
          <a:xfrm>
            <a:off x="8385048" y="1810512"/>
            <a:ext cx="1005840" cy="347472"/>
          </a:xfrm>
          <a:prstGeom prst="rect">
            <a:avLst/>
          </a:prstGeom>
          <a:noFill/>
          <a:ln/>
        </p:spPr>
        <p:txBody>
          <a:bodyPr wrap="square" lIns="0" tIns="0" rIns="0" bIns="0" rtlCol="0" anchor="ctr">
            <a:normAutofit/>
          </a:bodyPr>
          <a:lstStyle/>
          <a:p>
            <a:pPr indent="0" marL="0">
              <a:buNone/>
            </a:pPr>
            <a:r>
              <a:rPr lang="en-US" sz="2400" b="1" dirty="0">
                <a:solidFill>
                  <a:srgbClr val="4F7B58"/>
                </a:solidFill>
              </a:rPr>
              <a:t>3</a:t>
            </a:r>
            <a:endParaRPr lang="en-US" sz="2400" dirty="0"/>
          </a:p>
        </p:txBody>
      </p:sp>
      <p:sp>
        <p:nvSpPr>
          <p:cNvPr id="14" name="Text 12"/>
          <p:cNvSpPr/>
          <p:nvPr/>
        </p:nvSpPr>
        <p:spPr>
          <a:xfrm>
            <a:off x="9390888" y="1810512"/>
            <a:ext cx="1828800" cy="182880"/>
          </a:xfrm>
          <a:prstGeom prst="rect">
            <a:avLst/>
          </a:prstGeom>
          <a:noFill/>
          <a:ln/>
        </p:spPr>
        <p:txBody>
          <a:bodyPr wrap="square" lIns="0" tIns="0" rIns="0" bIns="0" rtlCol="0" anchor="ctr">
            <a:normAutofit/>
          </a:bodyPr>
          <a:lstStyle/>
          <a:p>
            <a:pPr indent="0" marL="0">
              <a:buNone/>
            </a:pPr>
            <a:r>
              <a:rPr lang="en-US" sz="900" b="1" dirty="0">
                <a:solidFill>
                  <a:srgbClr val="66716A"/>
                </a:solidFill>
              </a:rPr>
              <a:t>Engineering</a:t>
            </a:r>
            <a:endParaRPr lang="en-US" sz="900" dirty="0"/>
          </a:p>
        </p:txBody>
      </p:sp>
      <p:sp>
        <p:nvSpPr>
          <p:cNvPr id="15" name="Text 13"/>
          <p:cNvSpPr/>
          <p:nvPr/>
        </p:nvSpPr>
        <p:spPr>
          <a:xfrm>
            <a:off x="9390888" y="2084832"/>
            <a:ext cx="1828800" cy="411480"/>
          </a:xfrm>
          <a:prstGeom prst="rect">
            <a:avLst/>
          </a:prstGeom>
          <a:noFill/>
          <a:ln/>
        </p:spPr>
        <p:txBody>
          <a:bodyPr wrap="square" lIns="254" tIns="254" rIns="254" bIns="254" rtlCol="0" anchor="ctr">
            <a:normAutofit/>
          </a:bodyPr>
          <a:lstStyle/>
          <a:p>
            <a:pPr indent="0" marL="0">
              <a:buNone/>
            </a:pPr>
            <a:r>
              <a:rPr lang="en-US" sz="1100" dirty="0">
                <a:solidFill>
                  <a:srgbClr val="172322"/>
                </a:solidFill>
              </a:rPr>
              <a:t>Incident learning loop: connect support pain to post-incident and sprint-planning follow-through.</a:t>
            </a:r>
            <a:endParaRPr lang="en-US" sz="1100" dirty="0"/>
          </a:p>
        </p:txBody>
      </p:sp>
      <p:sp>
        <p:nvSpPr>
          <p:cNvPr id="16" name="Text 14"/>
          <p:cNvSpPr/>
          <p:nvPr/>
        </p:nvSpPr>
        <p:spPr>
          <a:xfrm>
            <a:off x="914400" y="3840480"/>
            <a:ext cx="9875520" cy="822960"/>
          </a:xfrm>
          <a:prstGeom prst="rect">
            <a:avLst/>
          </a:prstGeom>
          <a:noFill/>
          <a:ln/>
        </p:spPr>
        <p:txBody>
          <a:bodyPr wrap="square" lIns="0" tIns="0" rIns="0" bIns="0" rtlCol="0" anchor="ctr">
            <a:normAutofit/>
          </a:bodyPr>
          <a:lstStyle/>
          <a:p>
            <a:pPr algn="ctr" indent="0" marL="0">
              <a:buNone/>
            </a:pPr>
            <a:r>
              <a:rPr lang="en-US" sz="2200" b="1" dirty="0">
                <a:solidFill>
                  <a:srgbClr val="172322"/>
                </a:solidFill>
              </a:rPr>
              <a:t>These are stakeholder workflows, not charts. The product should help each leader decide what to do next and where to look for evidence.</a:t>
            </a:r>
            <a:endParaRPr lang="en-US" sz="2200" dirty="0"/>
          </a:p>
        </p:txBody>
      </p:sp>
      <p:sp>
        <p:nvSpPr>
          <p:cNvPr id="17" name="Text 15"/>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02920" y="292608"/>
            <a:ext cx="4114800" cy="256032"/>
          </a:xfrm>
          <a:prstGeom prst="rect">
            <a:avLst/>
          </a:prstGeom>
          <a:noFill/>
          <a:ln/>
        </p:spPr>
        <p:txBody>
          <a:bodyPr wrap="square" rtlCol="0" anchor="ctr"/>
          <a:lstStyle/>
          <a:p>
            <a:pPr indent="0" marL="0">
              <a:buNone/>
            </a:pPr>
            <a:r>
              <a:rPr lang="en-US" sz="900" b="1" dirty="0">
                <a:solidFill>
                  <a:srgbClr val="2F6F73"/>
                </a:solidFill>
                <a:latin typeface="Aptos" pitchFamily="34" charset="0"/>
                <a:ea typeface="Aptos" pitchFamily="34" charset="-122"/>
                <a:cs typeface="Aptos" pitchFamily="34" charset="-120"/>
              </a:rPr>
              <a:t>TRANSCRIPT INTELLIGENCE</a:t>
            </a:r>
            <a:endParaRPr lang="en-US" sz="900" dirty="0"/>
          </a:p>
        </p:txBody>
      </p:sp>
      <p:sp>
        <p:nvSpPr>
          <p:cNvPr id="3" name="Text 1"/>
          <p:cNvSpPr/>
          <p:nvPr/>
        </p:nvSpPr>
        <p:spPr>
          <a:xfrm>
            <a:off x="502920" y="640080"/>
            <a:ext cx="10789920" cy="685800"/>
          </a:xfrm>
          <a:prstGeom prst="rect">
            <a:avLst/>
          </a:prstGeom>
          <a:noFill/>
          <a:ln/>
        </p:spPr>
        <p:txBody>
          <a:bodyPr wrap="square" lIns="0" tIns="0" rIns="0" bIns="0" rtlCol="0" anchor="ctr">
            <a:normAutofit/>
          </a:bodyPr>
          <a:lstStyle/>
          <a:p>
            <a:pPr indent="0" marL="0">
              <a:buNone/>
            </a:pPr>
            <a:r>
              <a:rPr lang="en-US" sz="2800" b="1" dirty="0">
                <a:solidFill>
                  <a:srgbClr val="172322"/>
                </a:solidFill>
                <a:latin typeface="Aptos Display" pitchFamily="34" charset="0"/>
                <a:ea typeface="Aptos Display" pitchFamily="34" charset="-122"/>
                <a:cs typeface="Aptos Display" pitchFamily="34" charset="-120"/>
              </a:rPr>
              <a:t>Recommended next build</a:t>
            </a:r>
            <a:endParaRPr lang="en-US" sz="2800" dirty="0"/>
          </a:p>
        </p:txBody>
      </p:sp>
      <p:sp>
        <p:nvSpPr>
          <p:cNvPr id="4" name="Text 2"/>
          <p:cNvSpPr/>
          <p:nvPr/>
        </p:nvSpPr>
        <p:spPr>
          <a:xfrm>
            <a:off x="822960" y="1691640"/>
            <a:ext cx="5852160" cy="2194560"/>
          </a:xfrm>
          <a:prstGeom prst="rect">
            <a:avLst/>
          </a:prstGeom>
          <a:noFill/>
          <a:ln/>
        </p:spPr>
        <p:txBody>
          <a:bodyPr wrap="square" lIns="508" tIns="508" rIns="508" bIns="508" rtlCol="0" anchor="ctr">
            <a:normAutofit/>
          </a:bodyPr>
          <a:lstStyle/>
          <a:p>
            <a:r>
              <a:rPr lang="en-US" sz="1800" dirty="0">
                <a:solidFill>
                  <a:srgbClr val="172322"/>
                </a:solidFill>
              </a:rPr>
              <a:t>Ship a theme and risk dashboard for Detect reliability first.</a:t>
            </a:r>
            <a:endParaRPr lang="en-US" sz="1800" dirty="0"/>
          </a:p>
          <a:p>
            <a:r>
              <a:rPr lang="en-US" sz="1800" dirty="0">
                <a:solidFill>
                  <a:srgbClr val="172322"/>
                </a:solidFill>
              </a:rPr>
              <a:t>Add account-level revenue risk overlays for renewal and competitive calls.</a:t>
            </a:r>
            <a:endParaRPr lang="en-US" sz="1800" dirty="0"/>
          </a:p>
          <a:p>
            <a:r>
              <a:rPr lang="en-US" sz="1800" dirty="0">
                <a:solidFill>
                  <a:srgbClr val="172322"/>
                </a:solidFill>
              </a:rPr>
              <a:t>Add owner extraction so action items become trackable workflow, not static notes.</a:t>
            </a:r>
            <a:endParaRPr lang="en-US" sz="1800" dirty="0"/>
          </a:p>
          <a:p>
            <a:r>
              <a:rPr lang="en-US" sz="1800" dirty="0">
                <a:solidFill>
                  <a:srgbClr val="172322"/>
                </a:solidFill>
              </a:rPr>
              <a:t>Upgrade classifier with embeddings or LLM labels, keeping the rule layer as explainable QA.</a:t>
            </a:r>
            <a:endParaRPr lang="en-US" sz="1800" dirty="0"/>
          </a:p>
        </p:txBody>
      </p:sp>
      <p:sp>
        <p:nvSpPr>
          <p:cNvPr id="5" name="Shape 3"/>
          <p:cNvSpPr/>
          <p:nvPr/>
        </p:nvSpPr>
        <p:spPr>
          <a:xfrm>
            <a:off x="7315200" y="1645920"/>
            <a:ext cx="3291840" cy="3108960"/>
          </a:xfrm>
          <a:prstGeom prst="roundRect">
            <a:avLst>
              <a:gd name="adj" fmla="val 2353"/>
            </a:avLst>
          </a:prstGeom>
          <a:solidFill>
            <a:srgbClr val="FFFFFF"/>
          </a:solidFill>
          <a:ln w="12700">
            <a:solidFill>
              <a:srgbClr val="D8D1C3"/>
            </a:solidFill>
            <a:prstDash val="solid"/>
          </a:ln>
        </p:spPr>
      </p:sp>
      <p:sp>
        <p:nvSpPr>
          <p:cNvPr id="6" name="Text 4"/>
          <p:cNvSpPr/>
          <p:nvPr/>
        </p:nvSpPr>
        <p:spPr>
          <a:xfrm>
            <a:off x="7635240" y="1920240"/>
            <a:ext cx="2011680" cy="274320"/>
          </a:xfrm>
          <a:prstGeom prst="rect">
            <a:avLst/>
          </a:prstGeom>
          <a:noFill/>
          <a:ln/>
        </p:spPr>
        <p:txBody>
          <a:bodyPr wrap="square" lIns="0" tIns="0" rIns="0" bIns="0" rtlCol="0" anchor="ctr"/>
          <a:lstStyle/>
          <a:p>
            <a:pPr indent="0" marL="0">
              <a:buNone/>
            </a:pPr>
            <a:r>
              <a:rPr lang="en-US" sz="1800" b="1" dirty="0">
                <a:solidFill>
                  <a:srgbClr val="172322"/>
                </a:solidFill>
              </a:rPr>
              <a:t>Demo path</a:t>
            </a:r>
            <a:endParaRPr lang="en-US" sz="1800" dirty="0"/>
          </a:p>
        </p:txBody>
      </p:sp>
      <p:sp>
        <p:nvSpPr>
          <p:cNvPr id="7" name="Text 5"/>
          <p:cNvSpPr/>
          <p:nvPr/>
        </p:nvSpPr>
        <p:spPr>
          <a:xfrm>
            <a:off x="7635240" y="2423160"/>
            <a:ext cx="2560320" cy="1554480"/>
          </a:xfrm>
          <a:prstGeom prst="rect">
            <a:avLst/>
          </a:prstGeom>
          <a:noFill/>
          <a:ln/>
        </p:spPr>
        <p:txBody>
          <a:bodyPr wrap="square" lIns="0" tIns="0" rIns="0" bIns="0" rtlCol="0" anchor="ctr">
            <a:normAutofit/>
          </a:bodyPr>
          <a:lstStyle/>
          <a:p>
            <a:pPr indent="0" marL="0">
              <a:buNone/>
            </a:pPr>
            <a:r>
              <a:rPr lang="en-US" sz="1500" dirty="0">
                <a:solidFill>
                  <a:srgbClr val="172322"/>
                </a:solidFill>
              </a:rPr>
              <a:t>1. Run src/analyze_transcripts.py</a:t>
            </a:r>
            <a:endParaRPr lang="en-US" sz="1500" dirty="0"/>
          </a:p>
          <a:p>
            <a:pPr indent="0" marL="0">
              <a:buNone/>
            </a:pPr>
            <a:r>
              <a:rPr lang="en-US" sz="1500" dirty="0">
                <a:solidFill>
                  <a:srgbClr val="172322"/>
                </a:solidFill>
              </a:rPr>
              <a:t>2. Open outputs/dashboard.html</a:t>
            </a:r>
            <a:endParaRPr lang="en-US" sz="1500" dirty="0"/>
          </a:p>
          <a:p>
            <a:pPr indent="0" marL="0">
              <a:buNone/>
            </a:pPr>
            <a:r>
              <a:rPr lang="en-US" sz="1500" dirty="0">
                <a:solidFill>
                  <a:srgbClr val="172322"/>
                </a:solidFill>
              </a:rPr>
              <a:t>3. Review analysis_report.md</a:t>
            </a:r>
            <a:endParaRPr lang="en-US" sz="1500" dirty="0"/>
          </a:p>
          <a:p>
            <a:pPr indent="0" marL="0">
              <a:buNone/>
            </a:pPr>
            <a:r>
              <a:rPr lang="en-US" sz="1500" dirty="0">
                <a:solidFill>
                  <a:srgbClr val="172322"/>
                </a:solidFill>
              </a:rPr>
              <a:t>4. Walk through this deck</a:t>
            </a:r>
            <a:endParaRPr lang="en-US" sz="1500" dirty="0"/>
          </a:p>
          <a:p>
            <a:pPr indent="0" marL="0">
              <a:buNone/>
            </a:pPr>
            <a:r>
              <a:rPr lang="en-US" sz="1500" dirty="0">
                <a:solidFill>
                  <a:srgbClr val="172322"/>
                </a:solidFill>
              </a:rPr>
              <a:t>5. Show highest-risk CSV rows</a:t>
            </a:r>
            <a:endParaRPr lang="en-US" sz="1500" dirty="0"/>
          </a:p>
        </p:txBody>
      </p:sp>
      <p:sp>
        <p:nvSpPr>
          <p:cNvPr id="8" name="Text 6"/>
          <p:cNvSpPr/>
          <p:nvPr/>
        </p:nvSpPr>
        <p:spPr>
          <a:xfrm>
            <a:off x="502920" y="6473952"/>
            <a:ext cx="8686800" cy="164592"/>
          </a:xfrm>
          <a:prstGeom prst="rect">
            <a:avLst/>
          </a:prstGeom>
          <a:noFill/>
          <a:ln/>
        </p:spPr>
        <p:txBody>
          <a:bodyPr wrap="square" lIns="0" tIns="0" rIns="0" bIns="0" rtlCol="0" anchor="ctr"/>
          <a:lstStyle/>
          <a:p>
            <a:pPr indent="0" marL="0">
              <a:buNone/>
            </a:pPr>
            <a:r>
              <a:rPr lang="en-US" sz="700" dirty="0">
                <a:solidFill>
                  <a:srgbClr val="66716A"/>
                </a:solidFill>
              </a:rPr>
              <a:t>Source: 100 provided transcript folders; generated by src/analyze_transcripts.py</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AegisCloud assessment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Transcript Intelligence Leadership Deck</dc:title>
  <dc:subject>Transcript Intelligence Take-Home</dc:subject>
  <dc:creator>Srikaveri</dc:creator>
  <cp:lastModifiedBy>Srikaveri</cp:lastModifiedBy>
  <cp:revision>1</cp:revision>
  <dcterms:created xsi:type="dcterms:W3CDTF">2026-05-03T05:09:35Z</dcterms:created>
  <dcterms:modified xsi:type="dcterms:W3CDTF">2026-05-03T05:09:35Z</dcterms:modified>
</cp:coreProperties>
</file>